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media/image19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1430000" cy="9396413"/>
  <p:notesSz cx="11430000" cy="94424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66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7" d="100"/>
          <a:sy n="57" d="100"/>
        </p:scale>
        <p:origin x="1786" y="53"/>
      </p:cViewPr>
      <p:guideLst>
        <p:guide orient="horz" pos="2866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E:\pgp\INTERSHIP%20PROJECT\PROJECT%201(all%20data)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E:\pgp\INTERSHIP%20PROJECT\PROJECT%201(all%20data)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E:\pgp\INTERSHIP%20PROJECT\PROJECT%201(all%20data)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E:\pgp\INTERSHIP%20PROJECT\PROJECT%201(all%20data)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E:\pgp\INTERSHIP%20PROJECT\Dataset%20B(final)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[PROJECT 1(all data).xlsx]Sheet1!PivotTable3</c:name>
    <c:fmtId val="2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Timing</a:t>
            </a:r>
            <a:r>
              <a:rPr lang="en-US" baseline="0" dirty="0"/>
              <a:t> Pattern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Sheet1!$C$19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multiLvlStrRef>
              <c:f>Sheet1!$B$20:$B$31</c:f>
              <c:multiLvlStrCache>
                <c:ptCount val="6"/>
                <c:lvl>
                  <c:pt idx="0">
                    <c:v>Afternoon</c:v>
                  </c:pt>
                  <c:pt idx="1">
                    <c:v>Evening</c:v>
                  </c:pt>
                  <c:pt idx="2">
                    <c:v>Morning</c:v>
                  </c:pt>
                  <c:pt idx="3">
                    <c:v>Afternoon</c:v>
                  </c:pt>
                  <c:pt idx="4">
                    <c:v>Evening</c:v>
                  </c:pt>
                  <c:pt idx="5">
                    <c:v>Morning</c:v>
                  </c:pt>
                </c:lvl>
                <c:lvl>
                  <c:pt idx="0">
                    <c:v>01-01-2011</c:v>
                  </c:pt>
                  <c:pt idx="3">
                    <c:v>02-01-2011</c:v>
                  </c:pt>
                </c:lvl>
                <c:lvl>
                  <c:pt idx="0">
                    <c:v>01-Jan</c:v>
                  </c:pt>
                  <c:pt idx="3">
                    <c:v>02-Jan</c:v>
                  </c:pt>
                </c:lvl>
                <c:lvl>
                  <c:pt idx="0">
                    <c:v>Jan</c:v>
                  </c:pt>
                </c:lvl>
              </c:multiLvlStrCache>
            </c:multiLvlStrRef>
          </c:cat>
          <c:val>
            <c:numRef>
              <c:f>Sheet1!$C$20:$C$31</c:f>
              <c:numCache>
                <c:formatCode>0</c:formatCode>
                <c:ptCount val="6"/>
                <c:pt idx="0">
                  <c:v>60.8</c:v>
                </c:pt>
                <c:pt idx="1">
                  <c:v>36</c:v>
                </c:pt>
                <c:pt idx="2">
                  <c:v>25.416666666666668</c:v>
                </c:pt>
                <c:pt idx="3">
                  <c:v>34.75</c:v>
                </c:pt>
                <c:pt idx="4">
                  <c:v>43.8</c:v>
                </c:pt>
                <c:pt idx="5">
                  <c:v>27.5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B4-4434-8D1C-2E08224780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40574303"/>
        <c:axId val="1140577183"/>
      </c:barChart>
      <c:catAx>
        <c:axId val="1140574303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40577183"/>
        <c:crosses val="autoZero"/>
        <c:auto val="1"/>
        <c:lblAlgn val="ctr"/>
        <c:lblOffset val="100"/>
        <c:noMultiLvlLbl val="0"/>
      </c:catAx>
      <c:valAx>
        <c:axId val="11405771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405743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'final data'!$M$1</c:f>
              <c:strCache>
                <c:ptCount val="1"/>
                <c:pt idx="0">
                  <c:v>registered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'final data'!$H$2:$H$1002</c:f>
              <c:strCache>
                <c:ptCount val="1000"/>
                <c:pt idx="0">
                  <c:v>Clear Sky</c:v>
                </c:pt>
                <c:pt idx="1">
                  <c:v>Clear Sky</c:v>
                </c:pt>
                <c:pt idx="2">
                  <c:v>Clear Sky</c:v>
                </c:pt>
                <c:pt idx="3">
                  <c:v>Clear Sky</c:v>
                </c:pt>
                <c:pt idx="4">
                  <c:v>Clear Sky</c:v>
                </c:pt>
                <c:pt idx="5">
                  <c:v>Mist</c:v>
                </c:pt>
                <c:pt idx="6">
                  <c:v>Clear Sky</c:v>
                </c:pt>
                <c:pt idx="7">
                  <c:v>Clear Sky</c:v>
                </c:pt>
                <c:pt idx="8">
                  <c:v>Clear Sky</c:v>
                </c:pt>
                <c:pt idx="9">
                  <c:v>Clear Sky</c:v>
                </c:pt>
                <c:pt idx="10">
                  <c:v>Clear Sky</c:v>
                </c:pt>
                <c:pt idx="11">
                  <c:v>Clear Sky</c:v>
                </c:pt>
                <c:pt idx="12">
                  <c:v>Clear Sky</c:v>
                </c:pt>
                <c:pt idx="13">
                  <c:v>Mist</c:v>
                </c:pt>
                <c:pt idx="14">
                  <c:v>Mist</c:v>
                </c:pt>
                <c:pt idx="15">
                  <c:v>Mist</c:v>
                </c:pt>
                <c:pt idx="16">
                  <c:v>Mist</c:v>
                </c:pt>
                <c:pt idx="17">
                  <c:v>Mist</c:v>
                </c:pt>
                <c:pt idx="18">
                  <c:v>Dark Cloud</c:v>
                </c:pt>
                <c:pt idx="19">
                  <c:v>Dark Cloud</c:v>
                </c:pt>
                <c:pt idx="20">
                  <c:v>Mist</c:v>
                </c:pt>
                <c:pt idx="21">
                  <c:v>Mist</c:v>
                </c:pt>
                <c:pt idx="22">
                  <c:v>Mist</c:v>
                </c:pt>
                <c:pt idx="23">
                  <c:v>Mist</c:v>
                </c:pt>
                <c:pt idx="24">
                  <c:v>Mist</c:v>
                </c:pt>
                <c:pt idx="25">
                  <c:v>Mist</c:v>
                </c:pt>
                <c:pt idx="26">
                  <c:v>Mist</c:v>
                </c:pt>
                <c:pt idx="27">
                  <c:v>Mist</c:v>
                </c:pt>
                <c:pt idx="28">
                  <c:v>Mist</c:v>
                </c:pt>
                <c:pt idx="29">
                  <c:v>Dark Cloud</c:v>
                </c:pt>
                <c:pt idx="30">
                  <c:v>Mist</c:v>
                </c:pt>
                <c:pt idx="31">
                  <c:v>Dark Cloud</c:v>
                </c:pt>
                <c:pt idx="32">
                  <c:v>Mist</c:v>
                </c:pt>
                <c:pt idx="33">
                  <c:v>Mist</c:v>
                </c:pt>
                <c:pt idx="34">
                  <c:v>Mist</c:v>
                </c:pt>
                <c:pt idx="35">
                  <c:v>Mist</c:v>
                </c:pt>
                <c:pt idx="36">
                  <c:v>Mist</c:v>
                </c:pt>
                <c:pt idx="37">
                  <c:v>Dark Cloud</c:v>
                </c:pt>
                <c:pt idx="38">
                  <c:v>Dark Cloud</c:v>
                </c:pt>
                <c:pt idx="39">
                  <c:v>Dark Cloud</c:v>
                </c:pt>
                <c:pt idx="40">
                  <c:v>Clear Sky</c:v>
                </c:pt>
                <c:pt idx="41">
                  <c:v>Mist</c:v>
                </c:pt>
                <c:pt idx="42">
                  <c:v>Clear Sky</c:v>
                </c:pt>
                <c:pt idx="43">
                  <c:v>Clear Sky</c:v>
                </c:pt>
                <c:pt idx="44">
                  <c:v>Clear Sky</c:v>
                </c:pt>
                <c:pt idx="45">
                  <c:v>Clear Sky</c:v>
                </c:pt>
                <c:pt idx="46">
                  <c:v>Clear Sky</c:v>
                </c:pt>
                <c:pt idx="47">
                  <c:v>Clear Sky</c:v>
                </c:pt>
                <c:pt idx="48">
                  <c:v>Clear Sky</c:v>
                </c:pt>
                <c:pt idx="49">
                  <c:v>Clear Sky</c:v>
                </c:pt>
                <c:pt idx="50">
                  <c:v>Clear Sky</c:v>
                </c:pt>
                <c:pt idx="51">
                  <c:v>Clear Sky</c:v>
                </c:pt>
                <c:pt idx="52">
                  <c:v>Clear Sky</c:v>
                </c:pt>
                <c:pt idx="53">
                  <c:v>Clear Sky</c:v>
                </c:pt>
                <c:pt idx="54">
                  <c:v>Clear Sky</c:v>
                </c:pt>
                <c:pt idx="55">
                  <c:v>Clear Sky</c:v>
                </c:pt>
                <c:pt idx="56">
                  <c:v>Clear Sky</c:v>
                </c:pt>
                <c:pt idx="57">
                  <c:v>Clear Sky</c:v>
                </c:pt>
                <c:pt idx="58">
                  <c:v>Clear Sky</c:v>
                </c:pt>
                <c:pt idx="59">
                  <c:v>Clear Sky</c:v>
                </c:pt>
                <c:pt idx="60">
                  <c:v>Clear Sky</c:v>
                </c:pt>
                <c:pt idx="61">
                  <c:v>Clear Sky</c:v>
                </c:pt>
                <c:pt idx="62">
                  <c:v>Clear Sky</c:v>
                </c:pt>
                <c:pt idx="63">
                  <c:v>Clear Sky</c:v>
                </c:pt>
                <c:pt idx="64">
                  <c:v>Clear Sky</c:v>
                </c:pt>
                <c:pt idx="65">
                  <c:v>Clear Sky</c:v>
                </c:pt>
                <c:pt idx="66">
                  <c:v>Clear Sky</c:v>
                </c:pt>
                <c:pt idx="67">
                  <c:v>Clear Sky</c:v>
                </c:pt>
                <c:pt idx="68">
                  <c:v>Clear Sky</c:v>
                </c:pt>
                <c:pt idx="69">
                  <c:v>Clear Sky</c:v>
                </c:pt>
                <c:pt idx="70">
                  <c:v>Clear Sky</c:v>
                </c:pt>
                <c:pt idx="71">
                  <c:v>Clear Sky</c:v>
                </c:pt>
                <c:pt idx="72">
                  <c:v>Clear Sky</c:v>
                </c:pt>
                <c:pt idx="73">
                  <c:v>Clear Sky</c:v>
                </c:pt>
                <c:pt idx="74">
                  <c:v>Clear Sky</c:v>
                </c:pt>
                <c:pt idx="75">
                  <c:v>Clear Sky</c:v>
                </c:pt>
                <c:pt idx="76">
                  <c:v>Clear Sky</c:v>
                </c:pt>
                <c:pt idx="77">
                  <c:v>Clear Sky</c:v>
                </c:pt>
                <c:pt idx="78">
                  <c:v>Mist</c:v>
                </c:pt>
                <c:pt idx="79">
                  <c:v>Clear Sky</c:v>
                </c:pt>
                <c:pt idx="80">
                  <c:v>Clear Sky</c:v>
                </c:pt>
                <c:pt idx="81">
                  <c:v>Clear Sky</c:v>
                </c:pt>
                <c:pt idx="82">
                  <c:v>Clear Sky</c:v>
                </c:pt>
                <c:pt idx="83">
                  <c:v>Clear Sky</c:v>
                </c:pt>
                <c:pt idx="84">
                  <c:v>Clear Sky</c:v>
                </c:pt>
                <c:pt idx="85">
                  <c:v>Clear Sky</c:v>
                </c:pt>
                <c:pt idx="86">
                  <c:v>Clear Sky</c:v>
                </c:pt>
                <c:pt idx="87">
                  <c:v>Clear Sky</c:v>
                </c:pt>
                <c:pt idx="88">
                  <c:v>Clear Sky</c:v>
                </c:pt>
                <c:pt idx="89">
                  <c:v>Clear Sky</c:v>
                </c:pt>
                <c:pt idx="90">
                  <c:v>Clear Sky</c:v>
                </c:pt>
                <c:pt idx="91">
                  <c:v>Clear Sky</c:v>
                </c:pt>
                <c:pt idx="92">
                  <c:v>Clear Sky</c:v>
                </c:pt>
                <c:pt idx="93">
                  <c:v>Clear Sky</c:v>
                </c:pt>
                <c:pt idx="94">
                  <c:v>Clear Sky</c:v>
                </c:pt>
                <c:pt idx="95">
                  <c:v>Clear Sky</c:v>
                </c:pt>
                <c:pt idx="96">
                  <c:v>Clear Sky</c:v>
                </c:pt>
                <c:pt idx="97">
                  <c:v>Clear Sky</c:v>
                </c:pt>
                <c:pt idx="98">
                  <c:v>Clear Sky</c:v>
                </c:pt>
                <c:pt idx="99">
                  <c:v>Clear Sky</c:v>
                </c:pt>
                <c:pt idx="100">
                  <c:v>Clear Sky</c:v>
                </c:pt>
                <c:pt idx="101">
                  <c:v>Clear Sky</c:v>
                </c:pt>
                <c:pt idx="102">
                  <c:v>Clear Sky</c:v>
                </c:pt>
                <c:pt idx="103">
                  <c:v>Clear Sky</c:v>
                </c:pt>
                <c:pt idx="104">
                  <c:v>Clear Sky</c:v>
                </c:pt>
                <c:pt idx="105">
                  <c:v>Clear Sky</c:v>
                </c:pt>
                <c:pt idx="106">
                  <c:v>Clear Sky</c:v>
                </c:pt>
                <c:pt idx="107">
                  <c:v>Clear Sky</c:v>
                </c:pt>
                <c:pt idx="108">
                  <c:v>Clear Sky</c:v>
                </c:pt>
                <c:pt idx="109">
                  <c:v>Clear Sky</c:v>
                </c:pt>
                <c:pt idx="110">
                  <c:v>Clear Sky</c:v>
                </c:pt>
                <c:pt idx="111">
                  <c:v>Clear Sky</c:v>
                </c:pt>
                <c:pt idx="112">
                  <c:v>Clear Sky</c:v>
                </c:pt>
                <c:pt idx="113">
                  <c:v>Clear Sky</c:v>
                </c:pt>
                <c:pt idx="114">
                  <c:v>Clear Sky</c:v>
                </c:pt>
                <c:pt idx="115">
                  <c:v>Clear Sky</c:v>
                </c:pt>
                <c:pt idx="116">
                  <c:v>Clear Sky</c:v>
                </c:pt>
                <c:pt idx="117">
                  <c:v>Clear Sky</c:v>
                </c:pt>
                <c:pt idx="118">
                  <c:v>Mist</c:v>
                </c:pt>
                <c:pt idx="119">
                  <c:v>Mist</c:v>
                </c:pt>
                <c:pt idx="120">
                  <c:v>Mist</c:v>
                </c:pt>
                <c:pt idx="121">
                  <c:v>Mist</c:v>
                </c:pt>
                <c:pt idx="122">
                  <c:v>Clear Sky</c:v>
                </c:pt>
                <c:pt idx="123">
                  <c:v>Mist</c:v>
                </c:pt>
                <c:pt idx="124">
                  <c:v>Clear Sky</c:v>
                </c:pt>
                <c:pt idx="125">
                  <c:v>Clear Sky</c:v>
                </c:pt>
                <c:pt idx="126">
                  <c:v>Clear Sky</c:v>
                </c:pt>
                <c:pt idx="127">
                  <c:v>Clear Sky</c:v>
                </c:pt>
                <c:pt idx="128">
                  <c:v>Clear Sky</c:v>
                </c:pt>
                <c:pt idx="129">
                  <c:v>Clear Sky</c:v>
                </c:pt>
                <c:pt idx="130">
                  <c:v>Clear Sky</c:v>
                </c:pt>
                <c:pt idx="131">
                  <c:v>Clear Sky</c:v>
                </c:pt>
                <c:pt idx="132">
                  <c:v>Clear Sky</c:v>
                </c:pt>
                <c:pt idx="133">
                  <c:v>Clear Sky</c:v>
                </c:pt>
                <c:pt idx="134">
                  <c:v>Clear Sky</c:v>
                </c:pt>
                <c:pt idx="135">
                  <c:v>Mist</c:v>
                </c:pt>
                <c:pt idx="136">
                  <c:v>Mist</c:v>
                </c:pt>
                <c:pt idx="137">
                  <c:v>Mist</c:v>
                </c:pt>
                <c:pt idx="138">
                  <c:v>Mist</c:v>
                </c:pt>
                <c:pt idx="139">
                  <c:v>Mist</c:v>
                </c:pt>
                <c:pt idx="140">
                  <c:v>Mist</c:v>
                </c:pt>
                <c:pt idx="141">
                  <c:v>Mist</c:v>
                </c:pt>
                <c:pt idx="142">
                  <c:v>Dark Cloud</c:v>
                </c:pt>
                <c:pt idx="143">
                  <c:v>Mist</c:v>
                </c:pt>
                <c:pt idx="144">
                  <c:v>Clear Sky</c:v>
                </c:pt>
                <c:pt idx="145">
                  <c:v>Clear Sky</c:v>
                </c:pt>
                <c:pt idx="146">
                  <c:v>Clear Sky</c:v>
                </c:pt>
                <c:pt idx="147">
                  <c:v>Clear Sky</c:v>
                </c:pt>
                <c:pt idx="148">
                  <c:v>Mist</c:v>
                </c:pt>
                <c:pt idx="149">
                  <c:v>Mist</c:v>
                </c:pt>
                <c:pt idx="150">
                  <c:v>Mist</c:v>
                </c:pt>
                <c:pt idx="151">
                  <c:v>Mist</c:v>
                </c:pt>
                <c:pt idx="152">
                  <c:v>Mist</c:v>
                </c:pt>
                <c:pt idx="153">
                  <c:v>Mist</c:v>
                </c:pt>
                <c:pt idx="154">
                  <c:v>Mist</c:v>
                </c:pt>
                <c:pt idx="155">
                  <c:v>Clear Sky</c:v>
                </c:pt>
                <c:pt idx="156">
                  <c:v>Clear Sky</c:v>
                </c:pt>
                <c:pt idx="157">
                  <c:v>Clear Sky</c:v>
                </c:pt>
                <c:pt idx="158">
                  <c:v>Clear Sky</c:v>
                </c:pt>
                <c:pt idx="159">
                  <c:v>Mist</c:v>
                </c:pt>
                <c:pt idx="160">
                  <c:v>Mist</c:v>
                </c:pt>
                <c:pt idx="161">
                  <c:v>Mist</c:v>
                </c:pt>
                <c:pt idx="162">
                  <c:v>Mist</c:v>
                </c:pt>
                <c:pt idx="163">
                  <c:v>Mist</c:v>
                </c:pt>
                <c:pt idx="164">
                  <c:v>Dark Cloud</c:v>
                </c:pt>
                <c:pt idx="165">
                  <c:v>Dark Cloud</c:v>
                </c:pt>
                <c:pt idx="166">
                  <c:v>Mist</c:v>
                </c:pt>
                <c:pt idx="167">
                  <c:v>Mist</c:v>
                </c:pt>
                <c:pt idx="168">
                  <c:v>Mist</c:v>
                </c:pt>
                <c:pt idx="169">
                  <c:v>Dark Cloud</c:v>
                </c:pt>
                <c:pt idx="170">
                  <c:v>Dark Cloud</c:v>
                </c:pt>
                <c:pt idx="171">
                  <c:v>Mist</c:v>
                </c:pt>
                <c:pt idx="172">
                  <c:v>Mist</c:v>
                </c:pt>
                <c:pt idx="173">
                  <c:v>Mist</c:v>
                </c:pt>
                <c:pt idx="174">
                  <c:v>Clear Sky</c:v>
                </c:pt>
                <c:pt idx="175">
                  <c:v>Clear Sky</c:v>
                </c:pt>
                <c:pt idx="176">
                  <c:v>Clear Sky</c:v>
                </c:pt>
                <c:pt idx="177">
                  <c:v>Clear Sky</c:v>
                </c:pt>
                <c:pt idx="178">
                  <c:v>Clear Sky</c:v>
                </c:pt>
                <c:pt idx="179">
                  <c:v>Clear Sky</c:v>
                </c:pt>
                <c:pt idx="180">
                  <c:v>Clear Sky</c:v>
                </c:pt>
                <c:pt idx="181">
                  <c:v>Clear Sky</c:v>
                </c:pt>
                <c:pt idx="182">
                  <c:v>Clear Sky</c:v>
                </c:pt>
                <c:pt idx="183">
                  <c:v>Clear Sky</c:v>
                </c:pt>
                <c:pt idx="184">
                  <c:v>Clear Sky</c:v>
                </c:pt>
                <c:pt idx="185">
                  <c:v>Clear Sky</c:v>
                </c:pt>
                <c:pt idx="186">
                  <c:v>Clear Sky</c:v>
                </c:pt>
                <c:pt idx="187">
                  <c:v>Clear Sky</c:v>
                </c:pt>
                <c:pt idx="188">
                  <c:v>Clear Sky</c:v>
                </c:pt>
                <c:pt idx="189">
                  <c:v>Clear Sky</c:v>
                </c:pt>
                <c:pt idx="190">
                  <c:v>Clear Sky</c:v>
                </c:pt>
                <c:pt idx="191">
                  <c:v>Clear Sky</c:v>
                </c:pt>
                <c:pt idx="192">
                  <c:v>Clear Sky</c:v>
                </c:pt>
                <c:pt idx="193">
                  <c:v>Clear Sky</c:v>
                </c:pt>
                <c:pt idx="194">
                  <c:v>Clear Sky</c:v>
                </c:pt>
                <c:pt idx="195">
                  <c:v>Clear Sky</c:v>
                </c:pt>
                <c:pt idx="196">
                  <c:v>Clear Sky</c:v>
                </c:pt>
                <c:pt idx="197">
                  <c:v>Clear Sky</c:v>
                </c:pt>
                <c:pt idx="198">
                  <c:v>Clear Sky</c:v>
                </c:pt>
                <c:pt idx="199">
                  <c:v>Clear Sky</c:v>
                </c:pt>
                <c:pt idx="200">
                  <c:v>Clear Sky</c:v>
                </c:pt>
                <c:pt idx="201">
                  <c:v>Clear Sky</c:v>
                </c:pt>
                <c:pt idx="202">
                  <c:v>Clear Sky</c:v>
                </c:pt>
                <c:pt idx="203">
                  <c:v>Clear Sky</c:v>
                </c:pt>
                <c:pt idx="204">
                  <c:v>Clear Sky</c:v>
                </c:pt>
                <c:pt idx="205">
                  <c:v>Clear Sky</c:v>
                </c:pt>
                <c:pt idx="206">
                  <c:v>Clear Sky</c:v>
                </c:pt>
                <c:pt idx="207">
                  <c:v>Clear Sky</c:v>
                </c:pt>
                <c:pt idx="208">
                  <c:v>Clear Sky</c:v>
                </c:pt>
                <c:pt idx="209">
                  <c:v>Clear Sky</c:v>
                </c:pt>
                <c:pt idx="210">
                  <c:v>Clear Sky</c:v>
                </c:pt>
                <c:pt idx="211">
                  <c:v>Clear Sky</c:v>
                </c:pt>
                <c:pt idx="212">
                  <c:v>Clear Sky</c:v>
                </c:pt>
                <c:pt idx="213">
                  <c:v>Clear Sky</c:v>
                </c:pt>
                <c:pt idx="214">
                  <c:v>Clear Sky</c:v>
                </c:pt>
                <c:pt idx="215">
                  <c:v>Clear Sky</c:v>
                </c:pt>
                <c:pt idx="216">
                  <c:v>Clear Sky</c:v>
                </c:pt>
                <c:pt idx="217">
                  <c:v>Mist</c:v>
                </c:pt>
                <c:pt idx="218">
                  <c:v>Mist</c:v>
                </c:pt>
                <c:pt idx="219">
                  <c:v>Mist</c:v>
                </c:pt>
                <c:pt idx="220">
                  <c:v>Mist</c:v>
                </c:pt>
                <c:pt idx="221">
                  <c:v>Mist</c:v>
                </c:pt>
                <c:pt idx="222">
                  <c:v>Mist</c:v>
                </c:pt>
                <c:pt idx="223">
                  <c:v>Mist</c:v>
                </c:pt>
                <c:pt idx="224">
                  <c:v>Mist</c:v>
                </c:pt>
                <c:pt idx="225">
                  <c:v>Clear Sky</c:v>
                </c:pt>
                <c:pt idx="226">
                  <c:v>Clear Sky</c:v>
                </c:pt>
                <c:pt idx="227">
                  <c:v>Clear Sky</c:v>
                </c:pt>
                <c:pt idx="228">
                  <c:v>Clear Sky</c:v>
                </c:pt>
                <c:pt idx="229">
                  <c:v>Clear Sky</c:v>
                </c:pt>
                <c:pt idx="230">
                  <c:v>Clear Sky</c:v>
                </c:pt>
                <c:pt idx="231">
                  <c:v>Clear Sky</c:v>
                </c:pt>
                <c:pt idx="232">
                  <c:v>Clear Sky</c:v>
                </c:pt>
                <c:pt idx="233">
                  <c:v>Clear Sky</c:v>
                </c:pt>
                <c:pt idx="234">
                  <c:v>Clear Sky</c:v>
                </c:pt>
                <c:pt idx="235">
                  <c:v>Mist</c:v>
                </c:pt>
                <c:pt idx="236">
                  <c:v>Mist</c:v>
                </c:pt>
                <c:pt idx="237">
                  <c:v>Mist</c:v>
                </c:pt>
                <c:pt idx="238">
                  <c:v>Mist</c:v>
                </c:pt>
                <c:pt idx="239">
                  <c:v>Mist</c:v>
                </c:pt>
                <c:pt idx="240">
                  <c:v>Mist</c:v>
                </c:pt>
                <c:pt idx="241">
                  <c:v>Mist</c:v>
                </c:pt>
                <c:pt idx="242">
                  <c:v>Mist</c:v>
                </c:pt>
                <c:pt idx="243">
                  <c:v>Mist</c:v>
                </c:pt>
                <c:pt idx="244">
                  <c:v>Mist</c:v>
                </c:pt>
                <c:pt idx="245">
                  <c:v>Mist</c:v>
                </c:pt>
                <c:pt idx="246">
                  <c:v>Mist</c:v>
                </c:pt>
                <c:pt idx="247">
                  <c:v>Mist</c:v>
                </c:pt>
                <c:pt idx="248">
                  <c:v>Mist</c:v>
                </c:pt>
                <c:pt idx="249">
                  <c:v>Dark Cloud</c:v>
                </c:pt>
                <c:pt idx="250">
                  <c:v>Dark Cloud</c:v>
                </c:pt>
                <c:pt idx="251">
                  <c:v>Dark Cloud</c:v>
                </c:pt>
                <c:pt idx="252">
                  <c:v>Dark Cloud</c:v>
                </c:pt>
                <c:pt idx="253">
                  <c:v>Dark Cloud</c:v>
                </c:pt>
                <c:pt idx="254">
                  <c:v>Dark Cloud</c:v>
                </c:pt>
                <c:pt idx="255">
                  <c:v>Mist</c:v>
                </c:pt>
                <c:pt idx="256">
                  <c:v>Mist</c:v>
                </c:pt>
                <c:pt idx="257">
                  <c:v>Clear Sky</c:v>
                </c:pt>
                <c:pt idx="258">
                  <c:v>Clear Sky</c:v>
                </c:pt>
                <c:pt idx="259">
                  <c:v>Clear Sky</c:v>
                </c:pt>
                <c:pt idx="260">
                  <c:v>Clear Sky</c:v>
                </c:pt>
                <c:pt idx="261">
                  <c:v>Clear Sky</c:v>
                </c:pt>
                <c:pt idx="262">
                  <c:v>Clear Sky</c:v>
                </c:pt>
                <c:pt idx="263">
                  <c:v>Clear Sky</c:v>
                </c:pt>
                <c:pt idx="264">
                  <c:v>Clear Sky</c:v>
                </c:pt>
                <c:pt idx="265">
                  <c:v>Clear Sky</c:v>
                </c:pt>
                <c:pt idx="266">
                  <c:v>Clear Sky</c:v>
                </c:pt>
                <c:pt idx="267">
                  <c:v>Clear Sky</c:v>
                </c:pt>
                <c:pt idx="268">
                  <c:v>Clear Sky</c:v>
                </c:pt>
                <c:pt idx="269">
                  <c:v>Clear Sky</c:v>
                </c:pt>
                <c:pt idx="270">
                  <c:v>Clear Sky</c:v>
                </c:pt>
                <c:pt idx="271">
                  <c:v>Clear Sky</c:v>
                </c:pt>
                <c:pt idx="272">
                  <c:v>Clear Sky</c:v>
                </c:pt>
                <c:pt idx="273">
                  <c:v>Clear Sky</c:v>
                </c:pt>
                <c:pt idx="274">
                  <c:v>Clear Sky</c:v>
                </c:pt>
                <c:pt idx="275">
                  <c:v>Clear Sky</c:v>
                </c:pt>
                <c:pt idx="276">
                  <c:v>Clear Sky</c:v>
                </c:pt>
                <c:pt idx="277">
                  <c:v>Clear Sky</c:v>
                </c:pt>
                <c:pt idx="278">
                  <c:v>Clear Sky</c:v>
                </c:pt>
                <c:pt idx="279">
                  <c:v>Clear Sky</c:v>
                </c:pt>
                <c:pt idx="280">
                  <c:v>Clear Sky</c:v>
                </c:pt>
                <c:pt idx="281">
                  <c:v>Clear Sky</c:v>
                </c:pt>
                <c:pt idx="282">
                  <c:v>Clear Sky</c:v>
                </c:pt>
                <c:pt idx="283">
                  <c:v>Clear Sky</c:v>
                </c:pt>
                <c:pt idx="284">
                  <c:v>Clear Sky</c:v>
                </c:pt>
                <c:pt idx="285">
                  <c:v>Clear Sky</c:v>
                </c:pt>
                <c:pt idx="286">
                  <c:v>Clear Sky</c:v>
                </c:pt>
                <c:pt idx="287">
                  <c:v>Mist</c:v>
                </c:pt>
                <c:pt idx="288">
                  <c:v>Mist</c:v>
                </c:pt>
                <c:pt idx="289">
                  <c:v>Clear Sky</c:v>
                </c:pt>
                <c:pt idx="290">
                  <c:v>Clear Sky</c:v>
                </c:pt>
                <c:pt idx="291">
                  <c:v>Clear Sky</c:v>
                </c:pt>
                <c:pt idx="292">
                  <c:v>Clear Sky</c:v>
                </c:pt>
                <c:pt idx="293">
                  <c:v>Clear Sky</c:v>
                </c:pt>
                <c:pt idx="294">
                  <c:v>Clear Sky</c:v>
                </c:pt>
                <c:pt idx="295">
                  <c:v>Clear Sky</c:v>
                </c:pt>
                <c:pt idx="296">
                  <c:v>Clear Sky</c:v>
                </c:pt>
                <c:pt idx="297">
                  <c:v>Clear Sky</c:v>
                </c:pt>
                <c:pt idx="298">
                  <c:v>Clear Sky</c:v>
                </c:pt>
                <c:pt idx="299">
                  <c:v>Clear Sky</c:v>
                </c:pt>
                <c:pt idx="300">
                  <c:v>Clear Sky</c:v>
                </c:pt>
                <c:pt idx="301">
                  <c:v>Clear Sky</c:v>
                </c:pt>
                <c:pt idx="302">
                  <c:v>Clear Sky</c:v>
                </c:pt>
                <c:pt idx="303">
                  <c:v>Clear Sky</c:v>
                </c:pt>
                <c:pt idx="304">
                  <c:v>Clear Sky</c:v>
                </c:pt>
                <c:pt idx="305">
                  <c:v>Clear Sky</c:v>
                </c:pt>
                <c:pt idx="306">
                  <c:v>Clear Sky</c:v>
                </c:pt>
                <c:pt idx="307">
                  <c:v>Clear Sky</c:v>
                </c:pt>
                <c:pt idx="308">
                  <c:v>Clear Sky</c:v>
                </c:pt>
                <c:pt idx="309">
                  <c:v>Clear Sky</c:v>
                </c:pt>
                <c:pt idx="310">
                  <c:v>Clear Sky</c:v>
                </c:pt>
                <c:pt idx="311">
                  <c:v>Clear Sky</c:v>
                </c:pt>
                <c:pt idx="312">
                  <c:v>Clear Sky</c:v>
                </c:pt>
                <c:pt idx="313">
                  <c:v>Clear Sky</c:v>
                </c:pt>
                <c:pt idx="314">
                  <c:v>Clear Sky</c:v>
                </c:pt>
                <c:pt idx="315">
                  <c:v>Clear Sky</c:v>
                </c:pt>
                <c:pt idx="316">
                  <c:v>Clear Sky</c:v>
                </c:pt>
                <c:pt idx="317">
                  <c:v>Clear Sky</c:v>
                </c:pt>
                <c:pt idx="318">
                  <c:v>Clear Sky</c:v>
                </c:pt>
                <c:pt idx="319">
                  <c:v>Clear Sky</c:v>
                </c:pt>
                <c:pt idx="320">
                  <c:v>Clear Sky</c:v>
                </c:pt>
                <c:pt idx="321">
                  <c:v>Clear Sky</c:v>
                </c:pt>
                <c:pt idx="322">
                  <c:v>Mist</c:v>
                </c:pt>
                <c:pt idx="323">
                  <c:v>Mist</c:v>
                </c:pt>
                <c:pt idx="324">
                  <c:v>Clear Sky</c:v>
                </c:pt>
                <c:pt idx="325">
                  <c:v>Mist</c:v>
                </c:pt>
                <c:pt idx="326">
                  <c:v>Mist</c:v>
                </c:pt>
                <c:pt idx="327">
                  <c:v>Mist</c:v>
                </c:pt>
                <c:pt idx="328">
                  <c:v>Mist</c:v>
                </c:pt>
                <c:pt idx="329">
                  <c:v>Clear Sky</c:v>
                </c:pt>
                <c:pt idx="330">
                  <c:v>Clear Sky</c:v>
                </c:pt>
                <c:pt idx="331">
                  <c:v>Clear Sky</c:v>
                </c:pt>
                <c:pt idx="332">
                  <c:v>Clear Sky</c:v>
                </c:pt>
                <c:pt idx="333">
                  <c:v>Clear Sky</c:v>
                </c:pt>
                <c:pt idx="334">
                  <c:v>Clear Sky</c:v>
                </c:pt>
                <c:pt idx="335">
                  <c:v>Clear Sky</c:v>
                </c:pt>
                <c:pt idx="336">
                  <c:v>Clear Sky</c:v>
                </c:pt>
                <c:pt idx="337">
                  <c:v>Clear Sky</c:v>
                </c:pt>
                <c:pt idx="338">
                  <c:v>Clear Sky</c:v>
                </c:pt>
                <c:pt idx="339">
                  <c:v>Mist</c:v>
                </c:pt>
                <c:pt idx="340">
                  <c:v>Mist</c:v>
                </c:pt>
                <c:pt idx="341">
                  <c:v>Mist</c:v>
                </c:pt>
                <c:pt idx="342">
                  <c:v>Mist</c:v>
                </c:pt>
                <c:pt idx="343">
                  <c:v>Mist</c:v>
                </c:pt>
                <c:pt idx="344">
                  <c:v>Mist</c:v>
                </c:pt>
                <c:pt idx="345">
                  <c:v>Mist</c:v>
                </c:pt>
                <c:pt idx="346">
                  <c:v>Mist</c:v>
                </c:pt>
                <c:pt idx="347">
                  <c:v>Clear Sky</c:v>
                </c:pt>
                <c:pt idx="348">
                  <c:v>Clear Sky</c:v>
                </c:pt>
                <c:pt idx="349">
                  <c:v>Clear Sky</c:v>
                </c:pt>
                <c:pt idx="350">
                  <c:v>Clear Sky</c:v>
                </c:pt>
                <c:pt idx="351">
                  <c:v>Clear Sky</c:v>
                </c:pt>
                <c:pt idx="352">
                  <c:v>Clear Sky</c:v>
                </c:pt>
                <c:pt idx="353">
                  <c:v>Mist</c:v>
                </c:pt>
                <c:pt idx="354">
                  <c:v>Mist</c:v>
                </c:pt>
                <c:pt idx="355">
                  <c:v>Mist</c:v>
                </c:pt>
                <c:pt idx="356">
                  <c:v>Clear Sky</c:v>
                </c:pt>
                <c:pt idx="357">
                  <c:v>Clear Sky</c:v>
                </c:pt>
                <c:pt idx="358">
                  <c:v>Clear Sky</c:v>
                </c:pt>
                <c:pt idx="359">
                  <c:v>Clear Sky</c:v>
                </c:pt>
                <c:pt idx="360">
                  <c:v>Clear Sky</c:v>
                </c:pt>
                <c:pt idx="361">
                  <c:v>Clear Sky</c:v>
                </c:pt>
                <c:pt idx="362">
                  <c:v>Clear Sky</c:v>
                </c:pt>
                <c:pt idx="363">
                  <c:v>Clear Sky</c:v>
                </c:pt>
                <c:pt idx="364">
                  <c:v>Clear Sky</c:v>
                </c:pt>
                <c:pt idx="365">
                  <c:v>Clear Sky</c:v>
                </c:pt>
                <c:pt idx="366">
                  <c:v>Clear Sky</c:v>
                </c:pt>
                <c:pt idx="367">
                  <c:v>Clear Sky</c:v>
                </c:pt>
                <c:pt idx="368">
                  <c:v>Clear Sky</c:v>
                </c:pt>
                <c:pt idx="369">
                  <c:v>Clear Sky</c:v>
                </c:pt>
                <c:pt idx="370">
                  <c:v>Mist</c:v>
                </c:pt>
                <c:pt idx="371">
                  <c:v>Mist</c:v>
                </c:pt>
                <c:pt idx="372">
                  <c:v>Mist</c:v>
                </c:pt>
                <c:pt idx="373">
                  <c:v>Mist</c:v>
                </c:pt>
                <c:pt idx="374">
                  <c:v>Mist</c:v>
                </c:pt>
                <c:pt idx="375">
                  <c:v>Mist</c:v>
                </c:pt>
                <c:pt idx="376">
                  <c:v>Mist</c:v>
                </c:pt>
                <c:pt idx="377">
                  <c:v>Mist</c:v>
                </c:pt>
                <c:pt idx="378">
                  <c:v>Mist</c:v>
                </c:pt>
                <c:pt idx="379">
                  <c:v>Mist</c:v>
                </c:pt>
                <c:pt idx="380">
                  <c:v>Mist</c:v>
                </c:pt>
                <c:pt idx="381">
                  <c:v>Mist</c:v>
                </c:pt>
                <c:pt idx="382">
                  <c:v>Mist</c:v>
                </c:pt>
                <c:pt idx="383">
                  <c:v>Mist</c:v>
                </c:pt>
                <c:pt idx="384">
                  <c:v>Mist</c:v>
                </c:pt>
                <c:pt idx="385">
                  <c:v>Mist</c:v>
                </c:pt>
                <c:pt idx="386">
                  <c:v>Mist</c:v>
                </c:pt>
                <c:pt idx="387">
                  <c:v>Mist</c:v>
                </c:pt>
                <c:pt idx="388">
                  <c:v>Mist</c:v>
                </c:pt>
                <c:pt idx="389">
                  <c:v>Clear Sky</c:v>
                </c:pt>
                <c:pt idx="390">
                  <c:v>Mist</c:v>
                </c:pt>
                <c:pt idx="391">
                  <c:v>Dark Cloud</c:v>
                </c:pt>
                <c:pt idx="392">
                  <c:v>Dark Cloud</c:v>
                </c:pt>
                <c:pt idx="393">
                  <c:v>Dark Cloud</c:v>
                </c:pt>
                <c:pt idx="394">
                  <c:v>Dark Cloud</c:v>
                </c:pt>
                <c:pt idx="395">
                  <c:v>Dark Cloud</c:v>
                </c:pt>
                <c:pt idx="396">
                  <c:v>Mist</c:v>
                </c:pt>
                <c:pt idx="397">
                  <c:v>Mist</c:v>
                </c:pt>
                <c:pt idx="398">
                  <c:v>Mist</c:v>
                </c:pt>
                <c:pt idx="399">
                  <c:v>Mist</c:v>
                </c:pt>
                <c:pt idx="400">
                  <c:v>Mist</c:v>
                </c:pt>
                <c:pt idx="401">
                  <c:v>Mist</c:v>
                </c:pt>
                <c:pt idx="402">
                  <c:v>Mist</c:v>
                </c:pt>
                <c:pt idx="403">
                  <c:v>Mist</c:v>
                </c:pt>
                <c:pt idx="404">
                  <c:v>Mist</c:v>
                </c:pt>
                <c:pt idx="405">
                  <c:v>Mist</c:v>
                </c:pt>
                <c:pt idx="406">
                  <c:v>Mist</c:v>
                </c:pt>
                <c:pt idx="407">
                  <c:v>Mist</c:v>
                </c:pt>
                <c:pt idx="408">
                  <c:v>Mist</c:v>
                </c:pt>
                <c:pt idx="409">
                  <c:v>Dark Cloud</c:v>
                </c:pt>
                <c:pt idx="410">
                  <c:v>Dark Cloud</c:v>
                </c:pt>
                <c:pt idx="411">
                  <c:v>Dark Cloud</c:v>
                </c:pt>
                <c:pt idx="412">
                  <c:v>Mist</c:v>
                </c:pt>
                <c:pt idx="413">
                  <c:v>Mist</c:v>
                </c:pt>
                <c:pt idx="414">
                  <c:v>Mist</c:v>
                </c:pt>
                <c:pt idx="415">
                  <c:v>Mist</c:v>
                </c:pt>
                <c:pt idx="416">
                  <c:v>Mist</c:v>
                </c:pt>
                <c:pt idx="417">
                  <c:v>Mist</c:v>
                </c:pt>
                <c:pt idx="418">
                  <c:v>Mist</c:v>
                </c:pt>
                <c:pt idx="419">
                  <c:v>Mist</c:v>
                </c:pt>
                <c:pt idx="420">
                  <c:v>Clear Sky</c:v>
                </c:pt>
                <c:pt idx="421">
                  <c:v>Clear Sky</c:v>
                </c:pt>
                <c:pt idx="422">
                  <c:v>Clear Sky</c:v>
                </c:pt>
                <c:pt idx="423">
                  <c:v>Clear Sky</c:v>
                </c:pt>
                <c:pt idx="424">
                  <c:v>Clear Sky</c:v>
                </c:pt>
                <c:pt idx="425">
                  <c:v>Clear Sky</c:v>
                </c:pt>
                <c:pt idx="426">
                  <c:v>Clear Sky</c:v>
                </c:pt>
                <c:pt idx="427">
                  <c:v>Clear Sky</c:v>
                </c:pt>
                <c:pt idx="428">
                  <c:v>Clear Sky</c:v>
                </c:pt>
                <c:pt idx="429">
                  <c:v>Clear Sky</c:v>
                </c:pt>
                <c:pt idx="430">
                  <c:v>Clear Sky</c:v>
                </c:pt>
                <c:pt idx="431">
                  <c:v>Clear Sky</c:v>
                </c:pt>
                <c:pt idx="432">
                  <c:v>Clear Sky</c:v>
                </c:pt>
                <c:pt idx="433">
                  <c:v>Clear Sky</c:v>
                </c:pt>
                <c:pt idx="434">
                  <c:v>Clear Sky</c:v>
                </c:pt>
                <c:pt idx="435">
                  <c:v>Clear Sky</c:v>
                </c:pt>
                <c:pt idx="436">
                  <c:v>Clear Sky</c:v>
                </c:pt>
                <c:pt idx="437">
                  <c:v>Clear Sky</c:v>
                </c:pt>
                <c:pt idx="438">
                  <c:v>Clear Sky</c:v>
                </c:pt>
                <c:pt idx="439">
                  <c:v>Clear Sky</c:v>
                </c:pt>
                <c:pt idx="440">
                  <c:v>Mist</c:v>
                </c:pt>
                <c:pt idx="441">
                  <c:v>Clear Sky</c:v>
                </c:pt>
                <c:pt idx="442">
                  <c:v>Mist</c:v>
                </c:pt>
                <c:pt idx="443">
                  <c:v>Mist</c:v>
                </c:pt>
                <c:pt idx="444">
                  <c:v>Mist</c:v>
                </c:pt>
                <c:pt idx="445">
                  <c:v>Mist</c:v>
                </c:pt>
                <c:pt idx="446">
                  <c:v>Mist</c:v>
                </c:pt>
                <c:pt idx="447">
                  <c:v>Mist</c:v>
                </c:pt>
                <c:pt idx="448">
                  <c:v>Mist</c:v>
                </c:pt>
                <c:pt idx="449">
                  <c:v>Mist</c:v>
                </c:pt>
                <c:pt idx="450">
                  <c:v>Clear Sky</c:v>
                </c:pt>
                <c:pt idx="451">
                  <c:v>Mist</c:v>
                </c:pt>
                <c:pt idx="452">
                  <c:v>Mist</c:v>
                </c:pt>
                <c:pt idx="453">
                  <c:v>Mist</c:v>
                </c:pt>
                <c:pt idx="454">
                  <c:v>Mist</c:v>
                </c:pt>
                <c:pt idx="455">
                  <c:v>Mist</c:v>
                </c:pt>
                <c:pt idx="456">
                  <c:v>Mist</c:v>
                </c:pt>
                <c:pt idx="457">
                  <c:v>Dark Cloud</c:v>
                </c:pt>
                <c:pt idx="458">
                  <c:v>Dark Cloud</c:v>
                </c:pt>
                <c:pt idx="459">
                  <c:v>Mist</c:v>
                </c:pt>
                <c:pt idx="460">
                  <c:v>Clear Sky</c:v>
                </c:pt>
                <c:pt idx="461">
                  <c:v>Clear Sky</c:v>
                </c:pt>
                <c:pt idx="462">
                  <c:v>Clear Sky</c:v>
                </c:pt>
                <c:pt idx="463">
                  <c:v>Clear Sky</c:v>
                </c:pt>
                <c:pt idx="464">
                  <c:v>Clear Sky</c:v>
                </c:pt>
                <c:pt idx="465">
                  <c:v>Clear Sky</c:v>
                </c:pt>
                <c:pt idx="466">
                  <c:v>Clear Sky</c:v>
                </c:pt>
                <c:pt idx="467">
                  <c:v>Clear Sky</c:v>
                </c:pt>
                <c:pt idx="468">
                  <c:v>Clear Sky</c:v>
                </c:pt>
                <c:pt idx="469">
                  <c:v>Clear Sky</c:v>
                </c:pt>
                <c:pt idx="470">
                  <c:v>Clear Sky</c:v>
                </c:pt>
                <c:pt idx="471">
                  <c:v>Clear Sky</c:v>
                </c:pt>
                <c:pt idx="472">
                  <c:v>Clear Sky</c:v>
                </c:pt>
                <c:pt idx="473">
                  <c:v>Clear Sky</c:v>
                </c:pt>
                <c:pt idx="474">
                  <c:v>Clear Sky</c:v>
                </c:pt>
                <c:pt idx="475">
                  <c:v>Clear Sky</c:v>
                </c:pt>
                <c:pt idx="476">
                  <c:v>Clear Sky</c:v>
                </c:pt>
                <c:pt idx="477">
                  <c:v>Clear Sky</c:v>
                </c:pt>
                <c:pt idx="478">
                  <c:v>Clear Sky</c:v>
                </c:pt>
                <c:pt idx="479">
                  <c:v>Clear Sky</c:v>
                </c:pt>
                <c:pt idx="480">
                  <c:v>Mist</c:v>
                </c:pt>
                <c:pt idx="481">
                  <c:v>Mist</c:v>
                </c:pt>
                <c:pt idx="482">
                  <c:v>Mist</c:v>
                </c:pt>
                <c:pt idx="483">
                  <c:v>Mist</c:v>
                </c:pt>
                <c:pt idx="484">
                  <c:v>Mist</c:v>
                </c:pt>
                <c:pt idx="485">
                  <c:v>Clear Sky</c:v>
                </c:pt>
                <c:pt idx="486">
                  <c:v>Clear Sky</c:v>
                </c:pt>
                <c:pt idx="487">
                  <c:v>Clear Sky</c:v>
                </c:pt>
                <c:pt idx="488">
                  <c:v>Mist</c:v>
                </c:pt>
                <c:pt idx="489">
                  <c:v>Mist</c:v>
                </c:pt>
                <c:pt idx="490">
                  <c:v>Mist</c:v>
                </c:pt>
                <c:pt idx="491">
                  <c:v>Clear Sky</c:v>
                </c:pt>
                <c:pt idx="492">
                  <c:v>Clear Sky</c:v>
                </c:pt>
                <c:pt idx="493">
                  <c:v>Clear Sky</c:v>
                </c:pt>
                <c:pt idx="494">
                  <c:v>Clear Sky</c:v>
                </c:pt>
                <c:pt idx="495">
                  <c:v>Clear Sky</c:v>
                </c:pt>
                <c:pt idx="496">
                  <c:v>Clear Sky</c:v>
                </c:pt>
                <c:pt idx="497">
                  <c:v>Clear Sky</c:v>
                </c:pt>
                <c:pt idx="498">
                  <c:v>Clear Sky</c:v>
                </c:pt>
                <c:pt idx="499">
                  <c:v>Clear Sky</c:v>
                </c:pt>
                <c:pt idx="500">
                  <c:v>Clear Sky</c:v>
                </c:pt>
                <c:pt idx="501">
                  <c:v>Clear Sky</c:v>
                </c:pt>
                <c:pt idx="502">
                  <c:v>Clear Sky</c:v>
                </c:pt>
                <c:pt idx="503">
                  <c:v>Clear Sky</c:v>
                </c:pt>
                <c:pt idx="504">
                  <c:v>Clear Sky</c:v>
                </c:pt>
                <c:pt idx="505">
                  <c:v>Clear Sky</c:v>
                </c:pt>
                <c:pt idx="506">
                  <c:v>Mist</c:v>
                </c:pt>
                <c:pt idx="507">
                  <c:v>Mist</c:v>
                </c:pt>
                <c:pt idx="508">
                  <c:v>Clear Sky</c:v>
                </c:pt>
                <c:pt idx="509">
                  <c:v>Clear Sky</c:v>
                </c:pt>
                <c:pt idx="510">
                  <c:v>Clear Sky</c:v>
                </c:pt>
                <c:pt idx="511">
                  <c:v>Clear Sky</c:v>
                </c:pt>
                <c:pt idx="512">
                  <c:v>Clear Sky</c:v>
                </c:pt>
                <c:pt idx="513">
                  <c:v>Clear Sky</c:v>
                </c:pt>
                <c:pt idx="514">
                  <c:v>Clear Sky</c:v>
                </c:pt>
                <c:pt idx="515">
                  <c:v>Clear Sky</c:v>
                </c:pt>
                <c:pt idx="516">
                  <c:v>Clear Sky</c:v>
                </c:pt>
                <c:pt idx="517">
                  <c:v>Clear Sky</c:v>
                </c:pt>
                <c:pt idx="518">
                  <c:v>Clear Sky</c:v>
                </c:pt>
                <c:pt idx="519">
                  <c:v>Clear Sky</c:v>
                </c:pt>
                <c:pt idx="520">
                  <c:v>Clear Sky</c:v>
                </c:pt>
                <c:pt idx="521">
                  <c:v>Clear Sky</c:v>
                </c:pt>
                <c:pt idx="522">
                  <c:v>Clear Sky</c:v>
                </c:pt>
                <c:pt idx="523">
                  <c:v>Clear Sky</c:v>
                </c:pt>
                <c:pt idx="524">
                  <c:v>Clear Sky</c:v>
                </c:pt>
                <c:pt idx="525">
                  <c:v>Clear Sky</c:v>
                </c:pt>
                <c:pt idx="526">
                  <c:v>Clear Sky</c:v>
                </c:pt>
                <c:pt idx="527">
                  <c:v>Clear Sky</c:v>
                </c:pt>
                <c:pt idx="528">
                  <c:v>Clear Sky</c:v>
                </c:pt>
                <c:pt idx="529">
                  <c:v>Clear Sky</c:v>
                </c:pt>
                <c:pt idx="530">
                  <c:v>Clear Sky</c:v>
                </c:pt>
                <c:pt idx="531">
                  <c:v>Clear Sky</c:v>
                </c:pt>
                <c:pt idx="532">
                  <c:v>Clear Sky</c:v>
                </c:pt>
                <c:pt idx="533">
                  <c:v>Clear Sky</c:v>
                </c:pt>
                <c:pt idx="534">
                  <c:v>Clear Sky</c:v>
                </c:pt>
                <c:pt idx="535">
                  <c:v>Clear Sky</c:v>
                </c:pt>
                <c:pt idx="536">
                  <c:v>Mist</c:v>
                </c:pt>
                <c:pt idx="537">
                  <c:v>Mist</c:v>
                </c:pt>
                <c:pt idx="538">
                  <c:v>Mist</c:v>
                </c:pt>
                <c:pt idx="539">
                  <c:v>Clear Sky</c:v>
                </c:pt>
                <c:pt idx="540">
                  <c:v>Clear Sky</c:v>
                </c:pt>
                <c:pt idx="541">
                  <c:v>Clear Sky</c:v>
                </c:pt>
                <c:pt idx="542">
                  <c:v>Clear Sky</c:v>
                </c:pt>
                <c:pt idx="543">
                  <c:v>Clear Sky</c:v>
                </c:pt>
                <c:pt idx="544">
                  <c:v>Clear Sky</c:v>
                </c:pt>
                <c:pt idx="545">
                  <c:v>Clear Sky</c:v>
                </c:pt>
                <c:pt idx="546">
                  <c:v>Mist</c:v>
                </c:pt>
                <c:pt idx="547">
                  <c:v>Mist</c:v>
                </c:pt>
                <c:pt idx="548">
                  <c:v>Mist</c:v>
                </c:pt>
                <c:pt idx="549">
                  <c:v>Mist</c:v>
                </c:pt>
                <c:pt idx="550">
                  <c:v>Clear Sky</c:v>
                </c:pt>
                <c:pt idx="551">
                  <c:v>Clear Sky</c:v>
                </c:pt>
                <c:pt idx="552">
                  <c:v>Clear Sky</c:v>
                </c:pt>
                <c:pt idx="553">
                  <c:v>Clear Sky</c:v>
                </c:pt>
                <c:pt idx="554">
                  <c:v>Clear Sky</c:v>
                </c:pt>
                <c:pt idx="555">
                  <c:v>Mist</c:v>
                </c:pt>
                <c:pt idx="556">
                  <c:v>Mist</c:v>
                </c:pt>
                <c:pt idx="557">
                  <c:v>Mist</c:v>
                </c:pt>
                <c:pt idx="558">
                  <c:v>Mist</c:v>
                </c:pt>
                <c:pt idx="559">
                  <c:v>Mist</c:v>
                </c:pt>
                <c:pt idx="560">
                  <c:v>Mist</c:v>
                </c:pt>
                <c:pt idx="561">
                  <c:v>Mist</c:v>
                </c:pt>
                <c:pt idx="562">
                  <c:v>Mist</c:v>
                </c:pt>
                <c:pt idx="563">
                  <c:v>Mist</c:v>
                </c:pt>
                <c:pt idx="564">
                  <c:v>Clear Sky</c:v>
                </c:pt>
                <c:pt idx="565">
                  <c:v>Mist</c:v>
                </c:pt>
                <c:pt idx="566">
                  <c:v>Mist</c:v>
                </c:pt>
                <c:pt idx="567">
                  <c:v>Clear Sky</c:v>
                </c:pt>
                <c:pt idx="568">
                  <c:v>Clear Sky</c:v>
                </c:pt>
                <c:pt idx="569">
                  <c:v>Clear Sky</c:v>
                </c:pt>
                <c:pt idx="570">
                  <c:v>Mist</c:v>
                </c:pt>
                <c:pt idx="571">
                  <c:v>Mist</c:v>
                </c:pt>
                <c:pt idx="572">
                  <c:v>Mist</c:v>
                </c:pt>
                <c:pt idx="573">
                  <c:v>Dark Cloud</c:v>
                </c:pt>
                <c:pt idx="574">
                  <c:v>Dark Cloud</c:v>
                </c:pt>
                <c:pt idx="575">
                  <c:v>Dark Cloud</c:v>
                </c:pt>
                <c:pt idx="576">
                  <c:v>Dark Cloud</c:v>
                </c:pt>
                <c:pt idx="577">
                  <c:v>Dark Cloud</c:v>
                </c:pt>
                <c:pt idx="578">
                  <c:v>Dark Cloud</c:v>
                </c:pt>
                <c:pt idx="579">
                  <c:v>Dark Cloud</c:v>
                </c:pt>
                <c:pt idx="580">
                  <c:v>Dark Cloud</c:v>
                </c:pt>
                <c:pt idx="581">
                  <c:v>Dark Cloud</c:v>
                </c:pt>
                <c:pt idx="582">
                  <c:v>Dark Cloud</c:v>
                </c:pt>
                <c:pt idx="583">
                  <c:v>Dark Cloud</c:v>
                </c:pt>
                <c:pt idx="584">
                  <c:v>Dark Cloud</c:v>
                </c:pt>
                <c:pt idx="585">
                  <c:v>Heavy Rainfall</c:v>
                </c:pt>
                <c:pt idx="586">
                  <c:v>Dark Cloud</c:v>
                </c:pt>
                <c:pt idx="587">
                  <c:v>Clear Sky</c:v>
                </c:pt>
                <c:pt idx="588">
                  <c:v>Clear Sky</c:v>
                </c:pt>
                <c:pt idx="589">
                  <c:v>Clear Sky</c:v>
                </c:pt>
                <c:pt idx="590">
                  <c:v>Clear Sky</c:v>
                </c:pt>
                <c:pt idx="591">
                  <c:v>Clear Sky</c:v>
                </c:pt>
                <c:pt idx="592">
                  <c:v>Clear Sky</c:v>
                </c:pt>
                <c:pt idx="593">
                  <c:v>Clear Sky</c:v>
                </c:pt>
                <c:pt idx="594">
                  <c:v>Clear Sky</c:v>
                </c:pt>
                <c:pt idx="595">
                  <c:v>Mist</c:v>
                </c:pt>
                <c:pt idx="596">
                  <c:v>Mist</c:v>
                </c:pt>
                <c:pt idx="597">
                  <c:v>Mist</c:v>
                </c:pt>
                <c:pt idx="598">
                  <c:v>Mist</c:v>
                </c:pt>
                <c:pt idx="599">
                  <c:v>Mist</c:v>
                </c:pt>
                <c:pt idx="600">
                  <c:v>Mist</c:v>
                </c:pt>
                <c:pt idx="601">
                  <c:v>Mist</c:v>
                </c:pt>
                <c:pt idx="602">
                  <c:v>Mist</c:v>
                </c:pt>
                <c:pt idx="603">
                  <c:v>Dark Cloud</c:v>
                </c:pt>
                <c:pt idx="604">
                  <c:v>Dark Cloud</c:v>
                </c:pt>
                <c:pt idx="605">
                  <c:v>Dark Cloud</c:v>
                </c:pt>
                <c:pt idx="606">
                  <c:v>Dark Cloud</c:v>
                </c:pt>
                <c:pt idx="607">
                  <c:v>Dark Cloud</c:v>
                </c:pt>
                <c:pt idx="608">
                  <c:v>Dark Cloud</c:v>
                </c:pt>
                <c:pt idx="609">
                  <c:v>Mist</c:v>
                </c:pt>
                <c:pt idx="610">
                  <c:v>Clear Sky</c:v>
                </c:pt>
                <c:pt idx="611">
                  <c:v>Clear Sky</c:v>
                </c:pt>
                <c:pt idx="612">
                  <c:v>Clear Sky</c:v>
                </c:pt>
                <c:pt idx="613">
                  <c:v>Mist</c:v>
                </c:pt>
                <c:pt idx="614">
                  <c:v>Mist</c:v>
                </c:pt>
                <c:pt idx="615">
                  <c:v>Mist</c:v>
                </c:pt>
                <c:pt idx="616">
                  <c:v>Clear Sky</c:v>
                </c:pt>
                <c:pt idx="617">
                  <c:v>Clear Sky</c:v>
                </c:pt>
                <c:pt idx="618">
                  <c:v>Clear Sky</c:v>
                </c:pt>
                <c:pt idx="619">
                  <c:v>Clear Sky</c:v>
                </c:pt>
                <c:pt idx="620">
                  <c:v>Clear Sky</c:v>
                </c:pt>
                <c:pt idx="621">
                  <c:v>Clear Sky</c:v>
                </c:pt>
                <c:pt idx="622">
                  <c:v>Clear Sky</c:v>
                </c:pt>
                <c:pt idx="623">
                  <c:v>Clear Sky</c:v>
                </c:pt>
                <c:pt idx="624">
                  <c:v>Clear Sky</c:v>
                </c:pt>
                <c:pt idx="625">
                  <c:v>Clear Sky</c:v>
                </c:pt>
                <c:pt idx="626">
                  <c:v>Clear Sky</c:v>
                </c:pt>
                <c:pt idx="627">
                  <c:v>Mist</c:v>
                </c:pt>
                <c:pt idx="628">
                  <c:v>Mist</c:v>
                </c:pt>
                <c:pt idx="629">
                  <c:v>Mist</c:v>
                </c:pt>
                <c:pt idx="630">
                  <c:v>Mist</c:v>
                </c:pt>
                <c:pt idx="631">
                  <c:v>Mist</c:v>
                </c:pt>
                <c:pt idx="632">
                  <c:v>Clear Sky</c:v>
                </c:pt>
                <c:pt idx="633">
                  <c:v>Clear Sky</c:v>
                </c:pt>
                <c:pt idx="634">
                  <c:v>Clear Sky</c:v>
                </c:pt>
                <c:pt idx="635">
                  <c:v>Clear Sky</c:v>
                </c:pt>
                <c:pt idx="636">
                  <c:v>Mist</c:v>
                </c:pt>
                <c:pt idx="637">
                  <c:v>Clear Sky</c:v>
                </c:pt>
                <c:pt idx="638">
                  <c:v>Clear Sky</c:v>
                </c:pt>
                <c:pt idx="639">
                  <c:v>Clear Sky</c:v>
                </c:pt>
                <c:pt idx="640">
                  <c:v>Clear Sky</c:v>
                </c:pt>
                <c:pt idx="641">
                  <c:v>Clear Sky</c:v>
                </c:pt>
                <c:pt idx="642">
                  <c:v>Clear Sky</c:v>
                </c:pt>
                <c:pt idx="643">
                  <c:v>Clear Sky</c:v>
                </c:pt>
                <c:pt idx="644">
                  <c:v>Clear Sky</c:v>
                </c:pt>
                <c:pt idx="645">
                  <c:v>Clear Sky</c:v>
                </c:pt>
                <c:pt idx="646">
                  <c:v>Clear Sky</c:v>
                </c:pt>
                <c:pt idx="647">
                  <c:v>Clear Sky</c:v>
                </c:pt>
                <c:pt idx="648">
                  <c:v>Mist</c:v>
                </c:pt>
                <c:pt idx="649">
                  <c:v>Mist</c:v>
                </c:pt>
                <c:pt idx="650">
                  <c:v>Mist</c:v>
                </c:pt>
                <c:pt idx="651">
                  <c:v>Clear Sky</c:v>
                </c:pt>
                <c:pt idx="652">
                  <c:v>Clear Sky</c:v>
                </c:pt>
                <c:pt idx="653">
                  <c:v>Clear Sky</c:v>
                </c:pt>
                <c:pt idx="654">
                  <c:v>Clear Sky</c:v>
                </c:pt>
                <c:pt idx="655">
                  <c:v>Clear Sky</c:v>
                </c:pt>
                <c:pt idx="656">
                  <c:v>Clear Sky</c:v>
                </c:pt>
                <c:pt idx="657">
                  <c:v>Clear Sky</c:v>
                </c:pt>
                <c:pt idx="658">
                  <c:v>Clear Sky</c:v>
                </c:pt>
                <c:pt idx="659">
                  <c:v>Clear Sky</c:v>
                </c:pt>
                <c:pt idx="660">
                  <c:v>Mist</c:v>
                </c:pt>
                <c:pt idx="661">
                  <c:v>Mist</c:v>
                </c:pt>
                <c:pt idx="662">
                  <c:v>Mist</c:v>
                </c:pt>
                <c:pt idx="663">
                  <c:v>Mist</c:v>
                </c:pt>
                <c:pt idx="664">
                  <c:v>Mist</c:v>
                </c:pt>
                <c:pt idx="665">
                  <c:v>Clear Sky</c:v>
                </c:pt>
                <c:pt idx="666">
                  <c:v>Clear Sky</c:v>
                </c:pt>
                <c:pt idx="667">
                  <c:v>Clear Sky</c:v>
                </c:pt>
                <c:pt idx="668">
                  <c:v>Clear Sky</c:v>
                </c:pt>
                <c:pt idx="669">
                  <c:v>Clear Sky</c:v>
                </c:pt>
                <c:pt idx="670">
                  <c:v>Clear Sky</c:v>
                </c:pt>
                <c:pt idx="671">
                  <c:v>Mist</c:v>
                </c:pt>
                <c:pt idx="672">
                  <c:v>Mist</c:v>
                </c:pt>
                <c:pt idx="673">
                  <c:v>Mist</c:v>
                </c:pt>
                <c:pt idx="674">
                  <c:v>Mist</c:v>
                </c:pt>
                <c:pt idx="675">
                  <c:v>Mist</c:v>
                </c:pt>
                <c:pt idx="676">
                  <c:v>Mist</c:v>
                </c:pt>
                <c:pt idx="677">
                  <c:v>Mist</c:v>
                </c:pt>
                <c:pt idx="678">
                  <c:v>Mist</c:v>
                </c:pt>
                <c:pt idx="679">
                  <c:v>Mist</c:v>
                </c:pt>
                <c:pt idx="680">
                  <c:v>Mist</c:v>
                </c:pt>
                <c:pt idx="681">
                  <c:v>Mist</c:v>
                </c:pt>
                <c:pt idx="682">
                  <c:v>Mist</c:v>
                </c:pt>
                <c:pt idx="683">
                  <c:v>Clear Sky</c:v>
                </c:pt>
                <c:pt idx="684">
                  <c:v>Dark Cloud</c:v>
                </c:pt>
                <c:pt idx="685">
                  <c:v>Dark Cloud</c:v>
                </c:pt>
                <c:pt idx="686">
                  <c:v>Mist</c:v>
                </c:pt>
                <c:pt idx="687">
                  <c:v>Mist</c:v>
                </c:pt>
                <c:pt idx="688">
                  <c:v>Mist</c:v>
                </c:pt>
                <c:pt idx="689">
                  <c:v>Mist</c:v>
                </c:pt>
                <c:pt idx="690">
                  <c:v>Mist</c:v>
                </c:pt>
                <c:pt idx="691">
                  <c:v>Mist</c:v>
                </c:pt>
                <c:pt idx="692">
                  <c:v>Dark Cloud</c:v>
                </c:pt>
                <c:pt idx="693">
                  <c:v>Dark Cloud</c:v>
                </c:pt>
                <c:pt idx="694">
                  <c:v>Dark Cloud</c:v>
                </c:pt>
                <c:pt idx="695">
                  <c:v>Dark Cloud</c:v>
                </c:pt>
                <c:pt idx="696">
                  <c:v>Mist</c:v>
                </c:pt>
                <c:pt idx="697">
                  <c:v>Mist</c:v>
                </c:pt>
                <c:pt idx="698">
                  <c:v>Mist</c:v>
                </c:pt>
                <c:pt idx="699">
                  <c:v>Mist</c:v>
                </c:pt>
                <c:pt idx="700">
                  <c:v>Mist</c:v>
                </c:pt>
                <c:pt idx="701">
                  <c:v>Mist</c:v>
                </c:pt>
                <c:pt idx="702">
                  <c:v>Mist</c:v>
                </c:pt>
                <c:pt idx="703">
                  <c:v>Mist</c:v>
                </c:pt>
                <c:pt idx="704">
                  <c:v>Mist</c:v>
                </c:pt>
                <c:pt idx="705">
                  <c:v>Mist</c:v>
                </c:pt>
                <c:pt idx="706">
                  <c:v>Mist</c:v>
                </c:pt>
                <c:pt idx="707">
                  <c:v>Mist</c:v>
                </c:pt>
                <c:pt idx="708">
                  <c:v>Mist</c:v>
                </c:pt>
                <c:pt idx="709">
                  <c:v>Mist</c:v>
                </c:pt>
                <c:pt idx="710">
                  <c:v>Dark Cloud</c:v>
                </c:pt>
                <c:pt idx="711">
                  <c:v>Dark Cloud</c:v>
                </c:pt>
                <c:pt idx="712">
                  <c:v>Dark Cloud</c:v>
                </c:pt>
                <c:pt idx="713">
                  <c:v>Dark Cloud</c:v>
                </c:pt>
                <c:pt idx="714">
                  <c:v>Dark Cloud</c:v>
                </c:pt>
                <c:pt idx="715">
                  <c:v>Dark Cloud</c:v>
                </c:pt>
                <c:pt idx="716">
                  <c:v>Dark Cloud</c:v>
                </c:pt>
                <c:pt idx="717">
                  <c:v>Dark Cloud</c:v>
                </c:pt>
                <c:pt idx="718">
                  <c:v>Dark Cloud</c:v>
                </c:pt>
                <c:pt idx="719">
                  <c:v>Dark Cloud</c:v>
                </c:pt>
                <c:pt idx="720">
                  <c:v>Mist</c:v>
                </c:pt>
                <c:pt idx="721">
                  <c:v>Mist</c:v>
                </c:pt>
                <c:pt idx="722">
                  <c:v>Mist</c:v>
                </c:pt>
                <c:pt idx="723">
                  <c:v>Mist</c:v>
                </c:pt>
                <c:pt idx="724">
                  <c:v>Clear Sky</c:v>
                </c:pt>
                <c:pt idx="725">
                  <c:v>Clear Sky</c:v>
                </c:pt>
                <c:pt idx="726">
                  <c:v>Clear Sky</c:v>
                </c:pt>
                <c:pt idx="727">
                  <c:v>Clear Sky</c:v>
                </c:pt>
                <c:pt idx="728">
                  <c:v>Clear Sky</c:v>
                </c:pt>
                <c:pt idx="729">
                  <c:v>Clear Sky</c:v>
                </c:pt>
                <c:pt idx="730">
                  <c:v>Clear Sky</c:v>
                </c:pt>
                <c:pt idx="731">
                  <c:v>Clear Sky</c:v>
                </c:pt>
                <c:pt idx="732">
                  <c:v>Clear Sky</c:v>
                </c:pt>
                <c:pt idx="733">
                  <c:v>Clear Sky</c:v>
                </c:pt>
                <c:pt idx="734">
                  <c:v>Clear Sky</c:v>
                </c:pt>
                <c:pt idx="735">
                  <c:v>Clear Sky</c:v>
                </c:pt>
                <c:pt idx="736">
                  <c:v>Clear Sky</c:v>
                </c:pt>
                <c:pt idx="737">
                  <c:v>Clear Sky</c:v>
                </c:pt>
                <c:pt idx="738">
                  <c:v>Clear Sky</c:v>
                </c:pt>
                <c:pt idx="739">
                  <c:v>Clear Sky</c:v>
                </c:pt>
                <c:pt idx="740">
                  <c:v>Clear Sky</c:v>
                </c:pt>
                <c:pt idx="741">
                  <c:v>Clear Sky</c:v>
                </c:pt>
                <c:pt idx="742">
                  <c:v>Clear Sky</c:v>
                </c:pt>
                <c:pt idx="743">
                  <c:v>Clear Sky</c:v>
                </c:pt>
                <c:pt idx="744">
                  <c:v>Clear Sky</c:v>
                </c:pt>
                <c:pt idx="745">
                  <c:v>Clear Sky</c:v>
                </c:pt>
                <c:pt idx="746">
                  <c:v>Clear Sky</c:v>
                </c:pt>
                <c:pt idx="747">
                  <c:v>Clear Sky</c:v>
                </c:pt>
                <c:pt idx="748">
                  <c:v>Clear Sky</c:v>
                </c:pt>
                <c:pt idx="749">
                  <c:v>Clear Sky</c:v>
                </c:pt>
                <c:pt idx="750">
                  <c:v>Clear Sky</c:v>
                </c:pt>
                <c:pt idx="751">
                  <c:v>Clear Sky</c:v>
                </c:pt>
                <c:pt idx="752">
                  <c:v>Clear Sky</c:v>
                </c:pt>
                <c:pt idx="753">
                  <c:v>Clear Sky</c:v>
                </c:pt>
                <c:pt idx="754">
                  <c:v>Clear Sky</c:v>
                </c:pt>
                <c:pt idx="755">
                  <c:v>Clear Sky</c:v>
                </c:pt>
                <c:pt idx="756">
                  <c:v>Clear Sky</c:v>
                </c:pt>
                <c:pt idx="757">
                  <c:v>Clear Sky</c:v>
                </c:pt>
                <c:pt idx="758">
                  <c:v>Mist</c:v>
                </c:pt>
                <c:pt idx="759">
                  <c:v>Mist</c:v>
                </c:pt>
                <c:pt idx="760">
                  <c:v>Mist</c:v>
                </c:pt>
                <c:pt idx="761">
                  <c:v>Mist</c:v>
                </c:pt>
                <c:pt idx="762">
                  <c:v>Mist</c:v>
                </c:pt>
                <c:pt idx="763">
                  <c:v>Mist</c:v>
                </c:pt>
                <c:pt idx="764">
                  <c:v>Clear Sky</c:v>
                </c:pt>
                <c:pt idx="765">
                  <c:v>Clear Sky</c:v>
                </c:pt>
                <c:pt idx="766">
                  <c:v>Mist</c:v>
                </c:pt>
                <c:pt idx="767">
                  <c:v>Mist</c:v>
                </c:pt>
                <c:pt idx="768">
                  <c:v>Clear Sky</c:v>
                </c:pt>
                <c:pt idx="769">
                  <c:v>Mist</c:v>
                </c:pt>
                <c:pt idx="770">
                  <c:v>Mist</c:v>
                </c:pt>
                <c:pt idx="771">
                  <c:v>Mist</c:v>
                </c:pt>
                <c:pt idx="772">
                  <c:v>Mist</c:v>
                </c:pt>
                <c:pt idx="773">
                  <c:v>Mist</c:v>
                </c:pt>
                <c:pt idx="774">
                  <c:v>Mist</c:v>
                </c:pt>
                <c:pt idx="775">
                  <c:v>Mist</c:v>
                </c:pt>
                <c:pt idx="776">
                  <c:v>Mist</c:v>
                </c:pt>
                <c:pt idx="777">
                  <c:v>Mist</c:v>
                </c:pt>
                <c:pt idx="778">
                  <c:v>Mist</c:v>
                </c:pt>
                <c:pt idx="779">
                  <c:v>Mist</c:v>
                </c:pt>
                <c:pt idx="780">
                  <c:v>Mist</c:v>
                </c:pt>
                <c:pt idx="781">
                  <c:v>Mist</c:v>
                </c:pt>
                <c:pt idx="782">
                  <c:v>Mist</c:v>
                </c:pt>
                <c:pt idx="783">
                  <c:v>Mist</c:v>
                </c:pt>
                <c:pt idx="784">
                  <c:v>Mist</c:v>
                </c:pt>
                <c:pt idx="785">
                  <c:v>Dark Cloud</c:v>
                </c:pt>
                <c:pt idx="786">
                  <c:v>Dark Cloud</c:v>
                </c:pt>
                <c:pt idx="787">
                  <c:v>Dark Cloud</c:v>
                </c:pt>
                <c:pt idx="788">
                  <c:v>Dark Cloud</c:v>
                </c:pt>
                <c:pt idx="789">
                  <c:v>Dark Cloud</c:v>
                </c:pt>
                <c:pt idx="790">
                  <c:v>Dark Cloud</c:v>
                </c:pt>
                <c:pt idx="791">
                  <c:v>Dark Cloud</c:v>
                </c:pt>
                <c:pt idx="792">
                  <c:v>Dark Cloud</c:v>
                </c:pt>
                <c:pt idx="793">
                  <c:v>Dark Cloud</c:v>
                </c:pt>
                <c:pt idx="794">
                  <c:v>Dark Cloud</c:v>
                </c:pt>
                <c:pt idx="795">
                  <c:v>Dark Cloud</c:v>
                </c:pt>
                <c:pt idx="796">
                  <c:v>Dark Cloud</c:v>
                </c:pt>
                <c:pt idx="797">
                  <c:v>Dark Cloud</c:v>
                </c:pt>
                <c:pt idx="798">
                  <c:v>Mist</c:v>
                </c:pt>
                <c:pt idx="799">
                  <c:v>Mist</c:v>
                </c:pt>
                <c:pt idx="800">
                  <c:v>Mist</c:v>
                </c:pt>
                <c:pt idx="801">
                  <c:v>Clear Sky</c:v>
                </c:pt>
                <c:pt idx="802">
                  <c:v>Clear Sky</c:v>
                </c:pt>
                <c:pt idx="803">
                  <c:v>Clear Sky</c:v>
                </c:pt>
                <c:pt idx="804">
                  <c:v>Clear Sky</c:v>
                </c:pt>
                <c:pt idx="805">
                  <c:v>Clear Sky</c:v>
                </c:pt>
                <c:pt idx="806">
                  <c:v>Clear Sky</c:v>
                </c:pt>
                <c:pt idx="807">
                  <c:v>Clear Sky</c:v>
                </c:pt>
                <c:pt idx="808">
                  <c:v>Clear Sky</c:v>
                </c:pt>
                <c:pt idx="809">
                  <c:v>Clear Sky</c:v>
                </c:pt>
                <c:pt idx="810">
                  <c:v>Clear Sky</c:v>
                </c:pt>
                <c:pt idx="811">
                  <c:v>Clear Sky</c:v>
                </c:pt>
                <c:pt idx="812">
                  <c:v>Clear Sky</c:v>
                </c:pt>
                <c:pt idx="813">
                  <c:v>Clear Sky</c:v>
                </c:pt>
                <c:pt idx="814">
                  <c:v>Clear Sky</c:v>
                </c:pt>
                <c:pt idx="815">
                  <c:v>Clear Sky</c:v>
                </c:pt>
                <c:pt idx="816">
                  <c:v>Clear Sky</c:v>
                </c:pt>
                <c:pt idx="817">
                  <c:v>Clear Sky</c:v>
                </c:pt>
                <c:pt idx="818">
                  <c:v>Clear Sky</c:v>
                </c:pt>
                <c:pt idx="819">
                  <c:v>Clear Sky</c:v>
                </c:pt>
                <c:pt idx="820">
                  <c:v>Clear Sky</c:v>
                </c:pt>
                <c:pt idx="821">
                  <c:v>Clear Sky</c:v>
                </c:pt>
                <c:pt idx="822">
                  <c:v>Clear Sky</c:v>
                </c:pt>
                <c:pt idx="823">
                  <c:v>Clear Sky</c:v>
                </c:pt>
                <c:pt idx="824">
                  <c:v>Clear Sky</c:v>
                </c:pt>
                <c:pt idx="825">
                  <c:v>Clear Sky</c:v>
                </c:pt>
                <c:pt idx="826">
                  <c:v>Clear Sky</c:v>
                </c:pt>
                <c:pt idx="827">
                  <c:v>Clear Sky</c:v>
                </c:pt>
                <c:pt idx="828">
                  <c:v>Clear Sky</c:v>
                </c:pt>
                <c:pt idx="829">
                  <c:v>Clear Sky</c:v>
                </c:pt>
                <c:pt idx="830">
                  <c:v>Clear Sky</c:v>
                </c:pt>
                <c:pt idx="831">
                  <c:v>Clear Sky</c:v>
                </c:pt>
                <c:pt idx="832">
                  <c:v>Clear Sky</c:v>
                </c:pt>
                <c:pt idx="833">
                  <c:v>Clear Sky</c:v>
                </c:pt>
                <c:pt idx="834">
                  <c:v>Clear Sky</c:v>
                </c:pt>
                <c:pt idx="835">
                  <c:v>Clear Sky</c:v>
                </c:pt>
                <c:pt idx="836">
                  <c:v>Clear Sky</c:v>
                </c:pt>
                <c:pt idx="837">
                  <c:v>Mist</c:v>
                </c:pt>
                <c:pt idx="838">
                  <c:v>Clear Sky</c:v>
                </c:pt>
                <c:pt idx="839">
                  <c:v>Clear Sky</c:v>
                </c:pt>
                <c:pt idx="840">
                  <c:v>Clear Sky</c:v>
                </c:pt>
                <c:pt idx="841">
                  <c:v>Mist</c:v>
                </c:pt>
                <c:pt idx="842">
                  <c:v>Mist</c:v>
                </c:pt>
                <c:pt idx="843">
                  <c:v>Mist</c:v>
                </c:pt>
                <c:pt idx="844">
                  <c:v>Mist</c:v>
                </c:pt>
                <c:pt idx="845">
                  <c:v>Mist</c:v>
                </c:pt>
                <c:pt idx="846">
                  <c:v>Mist</c:v>
                </c:pt>
                <c:pt idx="847">
                  <c:v>Mist</c:v>
                </c:pt>
                <c:pt idx="848">
                  <c:v>Mist</c:v>
                </c:pt>
                <c:pt idx="849">
                  <c:v>Mist</c:v>
                </c:pt>
                <c:pt idx="850">
                  <c:v>Clear Sky</c:v>
                </c:pt>
                <c:pt idx="851">
                  <c:v>Clear Sky</c:v>
                </c:pt>
                <c:pt idx="852">
                  <c:v>Mist</c:v>
                </c:pt>
                <c:pt idx="853">
                  <c:v>Mist</c:v>
                </c:pt>
                <c:pt idx="854">
                  <c:v>Mist</c:v>
                </c:pt>
                <c:pt idx="855">
                  <c:v>Mist</c:v>
                </c:pt>
                <c:pt idx="856">
                  <c:v>Dark Cloud</c:v>
                </c:pt>
                <c:pt idx="857">
                  <c:v>Clear Sky</c:v>
                </c:pt>
                <c:pt idx="858">
                  <c:v>Clear Sky</c:v>
                </c:pt>
                <c:pt idx="859">
                  <c:v>Clear Sky</c:v>
                </c:pt>
                <c:pt idx="860">
                  <c:v>Clear Sky</c:v>
                </c:pt>
                <c:pt idx="861">
                  <c:v>Clear Sky</c:v>
                </c:pt>
                <c:pt idx="862">
                  <c:v>Clear Sky</c:v>
                </c:pt>
                <c:pt idx="863">
                  <c:v>Clear Sky</c:v>
                </c:pt>
                <c:pt idx="864">
                  <c:v>Clear Sky</c:v>
                </c:pt>
                <c:pt idx="865">
                  <c:v>Clear Sky</c:v>
                </c:pt>
                <c:pt idx="866">
                  <c:v>Mist</c:v>
                </c:pt>
                <c:pt idx="867">
                  <c:v>Clear Sky</c:v>
                </c:pt>
                <c:pt idx="868">
                  <c:v>Clear Sky</c:v>
                </c:pt>
                <c:pt idx="869">
                  <c:v>Clear Sky</c:v>
                </c:pt>
                <c:pt idx="870">
                  <c:v>Clear Sky</c:v>
                </c:pt>
                <c:pt idx="871">
                  <c:v>Clear Sky</c:v>
                </c:pt>
                <c:pt idx="872">
                  <c:v>Clear Sky</c:v>
                </c:pt>
                <c:pt idx="873">
                  <c:v>Clear Sky</c:v>
                </c:pt>
                <c:pt idx="874">
                  <c:v>Clear Sky</c:v>
                </c:pt>
                <c:pt idx="875">
                  <c:v>Clear Sky</c:v>
                </c:pt>
                <c:pt idx="876">
                  <c:v>Clear Sky</c:v>
                </c:pt>
                <c:pt idx="877">
                  <c:v>Clear Sky</c:v>
                </c:pt>
                <c:pt idx="878">
                  <c:v>Clear Sky</c:v>
                </c:pt>
                <c:pt idx="879">
                  <c:v>Clear Sky</c:v>
                </c:pt>
                <c:pt idx="880">
                  <c:v>Clear Sky</c:v>
                </c:pt>
                <c:pt idx="881">
                  <c:v>Clear Sky</c:v>
                </c:pt>
                <c:pt idx="882">
                  <c:v>Clear Sky</c:v>
                </c:pt>
                <c:pt idx="883">
                  <c:v>Clear Sky</c:v>
                </c:pt>
                <c:pt idx="884">
                  <c:v>Clear Sky</c:v>
                </c:pt>
                <c:pt idx="885">
                  <c:v>Clear Sky</c:v>
                </c:pt>
                <c:pt idx="886">
                  <c:v>Clear Sky</c:v>
                </c:pt>
                <c:pt idx="887">
                  <c:v>Mist</c:v>
                </c:pt>
                <c:pt idx="888">
                  <c:v>Mist</c:v>
                </c:pt>
                <c:pt idx="889">
                  <c:v>Clear Sky</c:v>
                </c:pt>
                <c:pt idx="890">
                  <c:v>Clear Sky</c:v>
                </c:pt>
                <c:pt idx="891">
                  <c:v>Mist</c:v>
                </c:pt>
                <c:pt idx="892">
                  <c:v>Mist</c:v>
                </c:pt>
                <c:pt idx="893">
                  <c:v>Mist</c:v>
                </c:pt>
                <c:pt idx="894">
                  <c:v>Mist</c:v>
                </c:pt>
                <c:pt idx="895">
                  <c:v>Dark Cloud</c:v>
                </c:pt>
                <c:pt idx="896">
                  <c:v>Dark Cloud</c:v>
                </c:pt>
                <c:pt idx="897">
                  <c:v>Mist</c:v>
                </c:pt>
                <c:pt idx="898">
                  <c:v>Dark Cloud</c:v>
                </c:pt>
                <c:pt idx="899">
                  <c:v>Dark Cloud</c:v>
                </c:pt>
                <c:pt idx="900">
                  <c:v>Dark Cloud</c:v>
                </c:pt>
                <c:pt idx="901">
                  <c:v>Dark Cloud</c:v>
                </c:pt>
                <c:pt idx="902">
                  <c:v>Dark Cloud</c:v>
                </c:pt>
                <c:pt idx="903">
                  <c:v>Mist</c:v>
                </c:pt>
                <c:pt idx="904">
                  <c:v>Mist</c:v>
                </c:pt>
                <c:pt idx="905">
                  <c:v>Mist</c:v>
                </c:pt>
                <c:pt idx="906">
                  <c:v>Clear Sky</c:v>
                </c:pt>
                <c:pt idx="907">
                  <c:v>Clear Sky</c:v>
                </c:pt>
                <c:pt idx="908">
                  <c:v>Clear Sky</c:v>
                </c:pt>
                <c:pt idx="909">
                  <c:v>Clear Sky</c:v>
                </c:pt>
                <c:pt idx="910">
                  <c:v>Clear Sky</c:v>
                </c:pt>
                <c:pt idx="911">
                  <c:v>Clear Sky</c:v>
                </c:pt>
                <c:pt idx="912">
                  <c:v>Clear Sky</c:v>
                </c:pt>
                <c:pt idx="913">
                  <c:v>Clear Sky</c:v>
                </c:pt>
                <c:pt idx="914">
                  <c:v>Clear Sky</c:v>
                </c:pt>
                <c:pt idx="915">
                  <c:v>Clear Sky</c:v>
                </c:pt>
                <c:pt idx="916">
                  <c:v>Clear Sky</c:v>
                </c:pt>
                <c:pt idx="917">
                  <c:v>Clear Sky</c:v>
                </c:pt>
                <c:pt idx="918">
                  <c:v>Clear Sky</c:v>
                </c:pt>
                <c:pt idx="919">
                  <c:v>Clear Sky</c:v>
                </c:pt>
                <c:pt idx="920">
                  <c:v>Clear Sky</c:v>
                </c:pt>
                <c:pt idx="921">
                  <c:v>Clear Sky</c:v>
                </c:pt>
                <c:pt idx="922">
                  <c:v>Clear Sky</c:v>
                </c:pt>
                <c:pt idx="923">
                  <c:v>Clear Sky</c:v>
                </c:pt>
                <c:pt idx="924">
                  <c:v>Clear Sky</c:v>
                </c:pt>
                <c:pt idx="925">
                  <c:v>Clear Sky</c:v>
                </c:pt>
                <c:pt idx="926">
                  <c:v>Clear Sky</c:v>
                </c:pt>
                <c:pt idx="927">
                  <c:v>Clear Sky</c:v>
                </c:pt>
                <c:pt idx="928">
                  <c:v>Clear Sky</c:v>
                </c:pt>
                <c:pt idx="929">
                  <c:v>Clear Sky</c:v>
                </c:pt>
                <c:pt idx="930">
                  <c:v>Clear Sky</c:v>
                </c:pt>
                <c:pt idx="931">
                  <c:v>Clear Sky</c:v>
                </c:pt>
                <c:pt idx="932">
                  <c:v>Clear Sky</c:v>
                </c:pt>
                <c:pt idx="933">
                  <c:v>Clear Sky</c:v>
                </c:pt>
                <c:pt idx="934">
                  <c:v>Clear Sky</c:v>
                </c:pt>
                <c:pt idx="935">
                  <c:v>Clear Sky</c:v>
                </c:pt>
                <c:pt idx="936">
                  <c:v>Clear Sky</c:v>
                </c:pt>
                <c:pt idx="937">
                  <c:v>Clear Sky</c:v>
                </c:pt>
                <c:pt idx="938">
                  <c:v>Clear Sky</c:v>
                </c:pt>
                <c:pt idx="939">
                  <c:v>Clear Sky</c:v>
                </c:pt>
                <c:pt idx="940">
                  <c:v>Clear Sky</c:v>
                </c:pt>
                <c:pt idx="941">
                  <c:v>Clear Sky</c:v>
                </c:pt>
                <c:pt idx="942">
                  <c:v>Clear Sky</c:v>
                </c:pt>
                <c:pt idx="943">
                  <c:v>Clear Sky</c:v>
                </c:pt>
                <c:pt idx="944">
                  <c:v>Clear Sky</c:v>
                </c:pt>
                <c:pt idx="945">
                  <c:v>Clear Sky</c:v>
                </c:pt>
                <c:pt idx="946">
                  <c:v>Clear Sky</c:v>
                </c:pt>
                <c:pt idx="947">
                  <c:v>Clear Sky</c:v>
                </c:pt>
                <c:pt idx="948">
                  <c:v>Clear Sky</c:v>
                </c:pt>
                <c:pt idx="949">
                  <c:v>Clear Sky</c:v>
                </c:pt>
                <c:pt idx="950">
                  <c:v>Clear Sky</c:v>
                </c:pt>
                <c:pt idx="951">
                  <c:v>Clear Sky</c:v>
                </c:pt>
                <c:pt idx="952">
                  <c:v>Clear Sky</c:v>
                </c:pt>
                <c:pt idx="953">
                  <c:v>Clear Sky</c:v>
                </c:pt>
                <c:pt idx="954">
                  <c:v>Clear Sky</c:v>
                </c:pt>
                <c:pt idx="955">
                  <c:v>Clear Sky</c:v>
                </c:pt>
                <c:pt idx="956">
                  <c:v>Clear Sky</c:v>
                </c:pt>
                <c:pt idx="957">
                  <c:v>Clear Sky</c:v>
                </c:pt>
                <c:pt idx="958">
                  <c:v>Clear Sky</c:v>
                </c:pt>
                <c:pt idx="959">
                  <c:v>Clear Sky</c:v>
                </c:pt>
                <c:pt idx="960">
                  <c:v>Clear Sky</c:v>
                </c:pt>
                <c:pt idx="961">
                  <c:v>Clear Sky</c:v>
                </c:pt>
                <c:pt idx="962">
                  <c:v>Clear Sky</c:v>
                </c:pt>
                <c:pt idx="963">
                  <c:v>Clear Sky</c:v>
                </c:pt>
                <c:pt idx="964">
                  <c:v>Clear Sky</c:v>
                </c:pt>
                <c:pt idx="965">
                  <c:v>Clear Sky</c:v>
                </c:pt>
                <c:pt idx="966">
                  <c:v>Clear Sky</c:v>
                </c:pt>
                <c:pt idx="967">
                  <c:v>Clear Sky</c:v>
                </c:pt>
                <c:pt idx="968">
                  <c:v>Clear Sky</c:v>
                </c:pt>
                <c:pt idx="969">
                  <c:v>Clear Sky</c:v>
                </c:pt>
                <c:pt idx="970">
                  <c:v>Clear Sky</c:v>
                </c:pt>
                <c:pt idx="971">
                  <c:v>Mist</c:v>
                </c:pt>
                <c:pt idx="972">
                  <c:v>Mist</c:v>
                </c:pt>
                <c:pt idx="973">
                  <c:v>Mist</c:v>
                </c:pt>
                <c:pt idx="974">
                  <c:v>Mist</c:v>
                </c:pt>
                <c:pt idx="975">
                  <c:v>Mist</c:v>
                </c:pt>
                <c:pt idx="976">
                  <c:v>Mist</c:v>
                </c:pt>
                <c:pt idx="977">
                  <c:v>Mist</c:v>
                </c:pt>
                <c:pt idx="978">
                  <c:v>Clear Sky</c:v>
                </c:pt>
                <c:pt idx="979">
                  <c:v>Clear Sky</c:v>
                </c:pt>
                <c:pt idx="980">
                  <c:v>Clear Sky</c:v>
                </c:pt>
                <c:pt idx="981">
                  <c:v>Clear Sky</c:v>
                </c:pt>
                <c:pt idx="982">
                  <c:v>Mist</c:v>
                </c:pt>
                <c:pt idx="983">
                  <c:v>Mist</c:v>
                </c:pt>
                <c:pt idx="984">
                  <c:v>Mist</c:v>
                </c:pt>
                <c:pt idx="985">
                  <c:v>Clear Sky</c:v>
                </c:pt>
                <c:pt idx="986">
                  <c:v>Clear Sky</c:v>
                </c:pt>
                <c:pt idx="987">
                  <c:v>Clear Sky</c:v>
                </c:pt>
                <c:pt idx="988">
                  <c:v>Clear Sky</c:v>
                </c:pt>
                <c:pt idx="989">
                  <c:v>Clear Sky</c:v>
                </c:pt>
                <c:pt idx="990">
                  <c:v>Clear Sky</c:v>
                </c:pt>
                <c:pt idx="991">
                  <c:v>Clear Sky</c:v>
                </c:pt>
                <c:pt idx="992">
                  <c:v>Clear Sky</c:v>
                </c:pt>
                <c:pt idx="993">
                  <c:v>Clear Sky</c:v>
                </c:pt>
                <c:pt idx="994">
                  <c:v>Clear Sky</c:v>
                </c:pt>
                <c:pt idx="995">
                  <c:v>Clear Sky</c:v>
                </c:pt>
                <c:pt idx="996">
                  <c:v>Clear Sky</c:v>
                </c:pt>
                <c:pt idx="997">
                  <c:v>Clear Sky</c:v>
                </c:pt>
                <c:pt idx="998">
                  <c:v>Clear Sky</c:v>
                </c:pt>
                <c:pt idx="999">
                  <c:v>Clear Sky</c:v>
                </c:pt>
              </c:strCache>
            </c:strRef>
          </c:cat>
          <c:val>
            <c:numRef>
              <c:f>'final data'!$M$2:$M$1002</c:f>
              <c:numCache>
                <c:formatCode>General</c:formatCode>
                <c:ptCount val="1000"/>
                <c:pt idx="0">
                  <c:v>13</c:v>
                </c:pt>
                <c:pt idx="1">
                  <c:v>32</c:v>
                </c:pt>
                <c:pt idx="2">
                  <c:v>27</c:v>
                </c:pt>
                <c:pt idx="3">
                  <c:v>10</c:v>
                </c:pt>
                <c:pt idx="4">
                  <c:v>1</c:v>
                </c:pt>
                <c:pt idx="5">
                  <c:v>1</c:v>
                </c:pt>
                <c:pt idx="6">
                  <c:v>0</c:v>
                </c:pt>
                <c:pt idx="7">
                  <c:v>2</c:v>
                </c:pt>
                <c:pt idx="8">
                  <c:v>7</c:v>
                </c:pt>
                <c:pt idx="9">
                  <c:v>6</c:v>
                </c:pt>
                <c:pt idx="10">
                  <c:v>24</c:v>
                </c:pt>
                <c:pt idx="11">
                  <c:v>30</c:v>
                </c:pt>
                <c:pt idx="12">
                  <c:v>55</c:v>
                </c:pt>
                <c:pt idx="13">
                  <c:v>47</c:v>
                </c:pt>
                <c:pt idx="14">
                  <c:v>71</c:v>
                </c:pt>
                <c:pt idx="15">
                  <c:v>70</c:v>
                </c:pt>
                <c:pt idx="16">
                  <c:v>52</c:v>
                </c:pt>
                <c:pt idx="17">
                  <c:v>52</c:v>
                </c:pt>
                <c:pt idx="18">
                  <c:v>26</c:v>
                </c:pt>
                <c:pt idx="19">
                  <c:v>31</c:v>
                </c:pt>
                <c:pt idx="20">
                  <c:v>25</c:v>
                </c:pt>
                <c:pt idx="21">
                  <c:v>31</c:v>
                </c:pt>
                <c:pt idx="22">
                  <c:v>17</c:v>
                </c:pt>
                <c:pt idx="23">
                  <c:v>24</c:v>
                </c:pt>
                <c:pt idx="24">
                  <c:v>13</c:v>
                </c:pt>
                <c:pt idx="25">
                  <c:v>16</c:v>
                </c:pt>
                <c:pt idx="26">
                  <c:v>8</c:v>
                </c:pt>
                <c:pt idx="27">
                  <c:v>4</c:v>
                </c:pt>
                <c:pt idx="28">
                  <c:v>1</c:v>
                </c:pt>
                <c:pt idx="29">
                  <c:v>2</c:v>
                </c:pt>
                <c:pt idx="30">
                  <c:v>1</c:v>
                </c:pt>
                <c:pt idx="31">
                  <c:v>8</c:v>
                </c:pt>
                <c:pt idx="32">
                  <c:v>19</c:v>
                </c:pt>
                <c:pt idx="33">
                  <c:v>46</c:v>
                </c:pt>
                <c:pt idx="34">
                  <c:v>54</c:v>
                </c:pt>
                <c:pt idx="35">
                  <c:v>73</c:v>
                </c:pt>
                <c:pt idx="36">
                  <c:v>64</c:v>
                </c:pt>
                <c:pt idx="37">
                  <c:v>55</c:v>
                </c:pt>
                <c:pt idx="38">
                  <c:v>55</c:v>
                </c:pt>
                <c:pt idx="39">
                  <c:v>67</c:v>
                </c:pt>
                <c:pt idx="40">
                  <c:v>58</c:v>
                </c:pt>
                <c:pt idx="41">
                  <c:v>43</c:v>
                </c:pt>
                <c:pt idx="42">
                  <c:v>29</c:v>
                </c:pt>
                <c:pt idx="43">
                  <c:v>17</c:v>
                </c:pt>
                <c:pt idx="44">
                  <c:v>20</c:v>
                </c:pt>
                <c:pt idx="45">
                  <c:v>9</c:v>
                </c:pt>
                <c:pt idx="46">
                  <c:v>8</c:v>
                </c:pt>
                <c:pt idx="47">
                  <c:v>5</c:v>
                </c:pt>
                <c:pt idx="48">
                  <c:v>2</c:v>
                </c:pt>
                <c:pt idx="49">
                  <c:v>1</c:v>
                </c:pt>
                <c:pt idx="50">
                  <c:v>3</c:v>
                </c:pt>
                <c:pt idx="51">
                  <c:v>30</c:v>
                </c:pt>
                <c:pt idx="52">
                  <c:v>63</c:v>
                </c:pt>
                <c:pt idx="53">
                  <c:v>153</c:v>
                </c:pt>
                <c:pt idx="54">
                  <c:v>81</c:v>
                </c:pt>
                <c:pt idx="55">
                  <c:v>33</c:v>
                </c:pt>
                <c:pt idx="56">
                  <c:v>41</c:v>
                </c:pt>
                <c:pt idx="57">
                  <c:v>48</c:v>
                </c:pt>
                <c:pt idx="58">
                  <c:v>53</c:v>
                </c:pt>
                <c:pt idx="59">
                  <c:v>66</c:v>
                </c:pt>
                <c:pt idx="60">
                  <c:v>58</c:v>
                </c:pt>
                <c:pt idx="61">
                  <c:v>67</c:v>
                </c:pt>
                <c:pt idx="62">
                  <c:v>146</c:v>
                </c:pt>
                <c:pt idx="63">
                  <c:v>148</c:v>
                </c:pt>
                <c:pt idx="64">
                  <c:v>102</c:v>
                </c:pt>
                <c:pt idx="65">
                  <c:v>49</c:v>
                </c:pt>
                <c:pt idx="66">
                  <c:v>49</c:v>
                </c:pt>
                <c:pt idx="67">
                  <c:v>20</c:v>
                </c:pt>
                <c:pt idx="68">
                  <c:v>11</c:v>
                </c:pt>
                <c:pt idx="69">
                  <c:v>5</c:v>
                </c:pt>
                <c:pt idx="70">
                  <c:v>2</c:v>
                </c:pt>
                <c:pt idx="71">
                  <c:v>1</c:v>
                </c:pt>
                <c:pt idx="72">
                  <c:v>2</c:v>
                </c:pt>
                <c:pt idx="73">
                  <c:v>4</c:v>
                </c:pt>
                <c:pt idx="74">
                  <c:v>36</c:v>
                </c:pt>
                <c:pt idx="75">
                  <c:v>92</c:v>
                </c:pt>
                <c:pt idx="76">
                  <c:v>177</c:v>
                </c:pt>
                <c:pt idx="77">
                  <c:v>98</c:v>
                </c:pt>
                <c:pt idx="78">
                  <c:v>37</c:v>
                </c:pt>
                <c:pt idx="79">
                  <c:v>50</c:v>
                </c:pt>
                <c:pt idx="80">
                  <c:v>66</c:v>
                </c:pt>
                <c:pt idx="81">
                  <c:v>79</c:v>
                </c:pt>
                <c:pt idx="82">
                  <c:v>54</c:v>
                </c:pt>
                <c:pt idx="83">
                  <c:v>48</c:v>
                </c:pt>
                <c:pt idx="84">
                  <c:v>68</c:v>
                </c:pt>
                <c:pt idx="85">
                  <c:v>202</c:v>
                </c:pt>
                <c:pt idx="86">
                  <c:v>179</c:v>
                </c:pt>
                <c:pt idx="87">
                  <c:v>110</c:v>
                </c:pt>
                <c:pt idx="88">
                  <c:v>53</c:v>
                </c:pt>
                <c:pt idx="89">
                  <c:v>48</c:v>
                </c:pt>
                <c:pt idx="90">
                  <c:v>34</c:v>
                </c:pt>
                <c:pt idx="91">
                  <c:v>9</c:v>
                </c:pt>
                <c:pt idx="92">
                  <c:v>6</c:v>
                </c:pt>
                <c:pt idx="93">
                  <c:v>6</c:v>
                </c:pt>
                <c:pt idx="94">
                  <c:v>2</c:v>
                </c:pt>
                <c:pt idx="95">
                  <c:v>2</c:v>
                </c:pt>
                <c:pt idx="96">
                  <c:v>3</c:v>
                </c:pt>
                <c:pt idx="97">
                  <c:v>33</c:v>
                </c:pt>
                <c:pt idx="98">
                  <c:v>87</c:v>
                </c:pt>
                <c:pt idx="99">
                  <c:v>192</c:v>
                </c:pt>
                <c:pt idx="100">
                  <c:v>109</c:v>
                </c:pt>
                <c:pt idx="101">
                  <c:v>53</c:v>
                </c:pt>
                <c:pt idx="102">
                  <c:v>34</c:v>
                </c:pt>
                <c:pt idx="103">
                  <c:v>74</c:v>
                </c:pt>
                <c:pt idx="104">
                  <c:v>65</c:v>
                </c:pt>
                <c:pt idx="105">
                  <c:v>52</c:v>
                </c:pt>
                <c:pt idx="106">
                  <c:v>55</c:v>
                </c:pt>
                <c:pt idx="107">
                  <c:v>85</c:v>
                </c:pt>
                <c:pt idx="108">
                  <c:v>186</c:v>
                </c:pt>
                <c:pt idx="109">
                  <c:v>166</c:v>
                </c:pt>
                <c:pt idx="110">
                  <c:v>127</c:v>
                </c:pt>
                <c:pt idx="111">
                  <c:v>82</c:v>
                </c:pt>
                <c:pt idx="112">
                  <c:v>40</c:v>
                </c:pt>
                <c:pt idx="113">
                  <c:v>41</c:v>
                </c:pt>
                <c:pt idx="114">
                  <c:v>18</c:v>
                </c:pt>
                <c:pt idx="115">
                  <c:v>11</c:v>
                </c:pt>
                <c:pt idx="116">
                  <c:v>4</c:v>
                </c:pt>
                <c:pt idx="117">
                  <c:v>2</c:v>
                </c:pt>
                <c:pt idx="118">
                  <c:v>1</c:v>
                </c:pt>
                <c:pt idx="119">
                  <c:v>4</c:v>
                </c:pt>
                <c:pt idx="120">
                  <c:v>36</c:v>
                </c:pt>
                <c:pt idx="121">
                  <c:v>95</c:v>
                </c:pt>
                <c:pt idx="122">
                  <c:v>216</c:v>
                </c:pt>
                <c:pt idx="123">
                  <c:v>116</c:v>
                </c:pt>
                <c:pt idx="124">
                  <c:v>42</c:v>
                </c:pt>
                <c:pt idx="125">
                  <c:v>57</c:v>
                </c:pt>
                <c:pt idx="126">
                  <c:v>78</c:v>
                </c:pt>
                <c:pt idx="127">
                  <c:v>55</c:v>
                </c:pt>
                <c:pt idx="128">
                  <c:v>59</c:v>
                </c:pt>
                <c:pt idx="129">
                  <c:v>54</c:v>
                </c:pt>
                <c:pt idx="130">
                  <c:v>74</c:v>
                </c:pt>
                <c:pt idx="131">
                  <c:v>163</c:v>
                </c:pt>
                <c:pt idx="132">
                  <c:v>158</c:v>
                </c:pt>
                <c:pt idx="133">
                  <c:v>109</c:v>
                </c:pt>
                <c:pt idx="134">
                  <c:v>66</c:v>
                </c:pt>
                <c:pt idx="135">
                  <c:v>48</c:v>
                </c:pt>
                <c:pt idx="136">
                  <c:v>51</c:v>
                </c:pt>
                <c:pt idx="137">
                  <c:v>19</c:v>
                </c:pt>
                <c:pt idx="138">
                  <c:v>13</c:v>
                </c:pt>
                <c:pt idx="139">
                  <c:v>5</c:v>
                </c:pt>
                <c:pt idx="140">
                  <c:v>1</c:v>
                </c:pt>
                <c:pt idx="141">
                  <c:v>1</c:v>
                </c:pt>
                <c:pt idx="142">
                  <c:v>5</c:v>
                </c:pt>
                <c:pt idx="143">
                  <c:v>26</c:v>
                </c:pt>
                <c:pt idx="144">
                  <c:v>76</c:v>
                </c:pt>
                <c:pt idx="145">
                  <c:v>190</c:v>
                </c:pt>
                <c:pt idx="146">
                  <c:v>125</c:v>
                </c:pt>
                <c:pt idx="147">
                  <c:v>47</c:v>
                </c:pt>
                <c:pt idx="148">
                  <c:v>48</c:v>
                </c:pt>
                <c:pt idx="149">
                  <c:v>50</c:v>
                </c:pt>
                <c:pt idx="150">
                  <c:v>64</c:v>
                </c:pt>
                <c:pt idx="151">
                  <c:v>43</c:v>
                </c:pt>
                <c:pt idx="152">
                  <c:v>63</c:v>
                </c:pt>
                <c:pt idx="153">
                  <c:v>82</c:v>
                </c:pt>
                <c:pt idx="154">
                  <c:v>178</c:v>
                </c:pt>
                <c:pt idx="155">
                  <c:v>116</c:v>
                </c:pt>
                <c:pt idx="156">
                  <c:v>92</c:v>
                </c:pt>
                <c:pt idx="157">
                  <c:v>50</c:v>
                </c:pt>
                <c:pt idx="158">
                  <c:v>39</c:v>
                </c:pt>
                <c:pt idx="159">
                  <c:v>34</c:v>
                </c:pt>
                <c:pt idx="160">
                  <c:v>14</c:v>
                </c:pt>
                <c:pt idx="161">
                  <c:v>24</c:v>
                </c:pt>
                <c:pt idx="162">
                  <c:v>15</c:v>
                </c:pt>
                <c:pt idx="163">
                  <c:v>13</c:v>
                </c:pt>
                <c:pt idx="164">
                  <c:v>7</c:v>
                </c:pt>
                <c:pt idx="165">
                  <c:v>1</c:v>
                </c:pt>
                <c:pt idx="166">
                  <c:v>5</c:v>
                </c:pt>
                <c:pt idx="167">
                  <c:v>2</c:v>
                </c:pt>
                <c:pt idx="168">
                  <c:v>8</c:v>
                </c:pt>
                <c:pt idx="169">
                  <c:v>15</c:v>
                </c:pt>
                <c:pt idx="170">
                  <c:v>20</c:v>
                </c:pt>
                <c:pt idx="171">
                  <c:v>56</c:v>
                </c:pt>
                <c:pt idx="172">
                  <c:v>60</c:v>
                </c:pt>
                <c:pt idx="173">
                  <c:v>90</c:v>
                </c:pt>
                <c:pt idx="174">
                  <c:v>95</c:v>
                </c:pt>
                <c:pt idx="175">
                  <c:v>83</c:v>
                </c:pt>
                <c:pt idx="176">
                  <c:v>69</c:v>
                </c:pt>
                <c:pt idx="177">
                  <c:v>68</c:v>
                </c:pt>
                <c:pt idx="178">
                  <c:v>64</c:v>
                </c:pt>
                <c:pt idx="179">
                  <c:v>52</c:v>
                </c:pt>
                <c:pt idx="180">
                  <c:v>26</c:v>
                </c:pt>
                <c:pt idx="181">
                  <c:v>28</c:v>
                </c:pt>
                <c:pt idx="182">
                  <c:v>35</c:v>
                </c:pt>
                <c:pt idx="183">
                  <c:v>33</c:v>
                </c:pt>
                <c:pt idx="184">
                  <c:v>22</c:v>
                </c:pt>
                <c:pt idx="185">
                  <c:v>24</c:v>
                </c:pt>
                <c:pt idx="186">
                  <c:v>12</c:v>
                </c:pt>
                <c:pt idx="187">
                  <c:v>11</c:v>
                </c:pt>
                <c:pt idx="188">
                  <c:v>4</c:v>
                </c:pt>
                <c:pt idx="189">
                  <c:v>1</c:v>
                </c:pt>
                <c:pt idx="190">
                  <c:v>1</c:v>
                </c:pt>
                <c:pt idx="191">
                  <c:v>1</c:v>
                </c:pt>
                <c:pt idx="192">
                  <c:v>5</c:v>
                </c:pt>
                <c:pt idx="193">
                  <c:v>10</c:v>
                </c:pt>
                <c:pt idx="194">
                  <c:v>19</c:v>
                </c:pt>
                <c:pt idx="195">
                  <c:v>49</c:v>
                </c:pt>
                <c:pt idx="196">
                  <c:v>47</c:v>
                </c:pt>
                <c:pt idx="197">
                  <c:v>79</c:v>
                </c:pt>
                <c:pt idx="198">
                  <c:v>69</c:v>
                </c:pt>
                <c:pt idx="199">
                  <c:v>64</c:v>
                </c:pt>
                <c:pt idx="200">
                  <c:v>77</c:v>
                </c:pt>
                <c:pt idx="201">
                  <c:v>79</c:v>
                </c:pt>
                <c:pt idx="202">
                  <c:v>59</c:v>
                </c:pt>
                <c:pt idx="203">
                  <c:v>44</c:v>
                </c:pt>
                <c:pt idx="204">
                  <c:v>40</c:v>
                </c:pt>
                <c:pt idx="205">
                  <c:v>38</c:v>
                </c:pt>
                <c:pt idx="206">
                  <c:v>19</c:v>
                </c:pt>
                <c:pt idx="207">
                  <c:v>10</c:v>
                </c:pt>
                <c:pt idx="208">
                  <c:v>6</c:v>
                </c:pt>
                <c:pt idx="209">
                  <c:v>3</c:v>
                </c:pt>
                <c:pt idx="210">
                  <c:v>0</c:v>
                </c:pt>
                <c:pt idx="211">
                  <c:v>3</c:v>
                </c:pt>
                <c:pt idx="212">
                  <c:v>1</c:v>
                </c:pt>
                <c:pt idx="213">
                  <c:v>2</c:v>
                </c:pt>
                <c:pt idx="214">
                  <c:v>3</c:v>
                </c:pt>
                <c:pt idx="215">
                  <c:v>31</c:v>
                </c:pt>
                <c:pt idx="216">
                  <c:v>75</c:v>
                </c:pt>
                <c:pt idx="217">
                  <c:v>184</c:v>
                </c:pt>
                <c:pt idx="218">
                  <c:v>92</c:v>
                </c:pt>
                <c:pt idx="219">
                  <c:v>31</c:v>
                </c:pt>
                <c:pt idx="220">
                  <c:v>28</c:v>
                </c:pt>
                <c:pt idx="221">
                  <c:v>47</c:v>
                </c:pt>
                <c:pt idx="222">
                  <c:v>50</c:v>
                </c:pt>
                <c:pt idx="223">
                  <c:v>47</c:v>
                </c:pt>
                <c:pt idx="224">
                  <c:v>43</c:v>
                </c:pt>
                <c:pt idx="225">
                  <c:v>70</c:v>
                </c:pt>
                <c:pt idx="226">
                  <c:v>174</c:v>
                </c:pt>
                <c:pt idx="227">
                  <c:v>154</c:v>
                </c:pt>
                <c:pt idx="228">
                  <c:v>92</c:v>
                </c:pt>
                <c:pt idx="229">
                  <c:v>73</c:v>
                </c:pt>
                <c:pt idx="230">
                  <c:v>37</c:v>
                </c:pt>
                <c:pt idx="231">
                  <c:v>22</c:v>
                </c:pt>
                <c:pt idx="232">
                  <c:v>18</c:v>
                </c:pt>
                <c:pt idx="233">
                  <c:v>10</c:v>
                </c:pt>
                <c:pt idx="234">
                  <c:v>3</c:v>
                </c:pt>
                <c:pt idx="235">
                  <c:v>3</c:v>
                </c:pt>
                <c:pt idx="236">
                  <c:v>6</c:v>
                </c:pt>
                <c:pt idx="237">
                  <c:v>27</c:v>
                </c:pt>
                <c:pt idx="238">
                  <c:v>97</c:v>
                </c:pt>
                <c:pt idx="239">
                  <c:v>214</c:v>
                </c:pt>
                <c:pt idx="240">
                  <c:v>127</c:v>
                </c:pt>
                <c:pt idx="241">
                  <c:v>51</c:v>
                </c:pt>
                <c:pt idx="242">
                  <c:v>31</c:v>
                </c:pt>
                <c:pt idx="243">
                  <c:v>55</c:v>
                </c:pt>
                <c:pt idx="244">
                  <c:v>46</c:v>
                </c:pt>
                <c:pt idx="245">
                  <c:v>60</c:v>
                </c:pt>
                <c:pt idx="246">
                  <c:v>45</c:v>
                </c:pt>
                <c:pt idx="247">
                  <c:v>72</c:v>
                </c:pt>
                <c:pt idx="248">
                  <c:v>130</c:v>
                </c:pt>
                <c:pt idx="249">
                  <c:v>94</c:v>
                </c:pt>
                <c:pt idx="250">
                  <c:v>51</c:v>
                </c:pt>
                <c:pt idx="251">
                  <c:v>32</c:v>
                </c:pt>
                <c:pt idx="252">
                  <c:v>20</c:v>
                </c:pt>
                <c:pt idx="253">
                  <c:v>28</c:v>
                </c:pt>
                <c:pt idx="254">
                  <c:v>18</c:v>
                </c:pt>
                <c:pt idx="255">
                  <c:v>7</c:v>
                </c:pt>
                <c:pt idx="256">
                  <c:v>6</c:v>
                </c:pt>
                <c:pt idx="257">
                  <c:v>1</c:v>
                </c:pt>
                <c:pt idx="258">
                  <c:v>5</c:v>
                </c:pt>
                <c:pt idx="259">
                  <c:v>16</c:v>
                </c:pt>
                <c:pt idx="260">
                  <c:v>54</c:v>
                </c:pt>
                <c:pt idx="261">
                  <c:v>125</c:v>
                </c:pt>
                <c:pt idx="262">
                  <c:v>78</c:v>
                </c:pt>
                <c:pt idx="263">
                  <c:v>39</c:v>
                </c:pt>
                <c:pt idx="264">
                  <c:v>32</c:v>
                </c:pt>
                <c:pt idx="265">
                  <c:v>52</c:v>
                </c:pt>
                <c:pt idx="266">
                  <c:v>49</c:v>
                </c:pt>
                <c:pt idx="267">
                  <c:v>44</c:v>
                </c:pt>
                <c:pt idx="268">
                  <c:v>48</c:v>
                </c:pt>
                <c:pt idx="269">
                  <c:v>63</c:v>
                </c:pt>
                <c:pt idx="270">
                  <c:v>139</c:v>
                </c:pt>
                <c:pt idx="271">
                  <c:v>135</c:v>
                </c:pt>
                <c:pt idx="272">
                  <c:v>82</c:v>
                </c:pt>
                <c:pt idx="273">
                  <c:v>54</c:v>
                </c:pt>
                <c:pt idx="274">
                  <c:v>57</c:v>
                </c:pt>
                <c:pt idx="275">
                  <c:v>32</c:v>
                </c:pt>
                <c:pt idx="276">
                  <c:v>19</c:v>
                </c:pt>
                <c:pt idx="277">
                  <c:v>6</c:v>
                </c:pt>
                <c:pt idx="278">
                  <c:v>2</c:v>
                </c:pt>
                <c:pt idx="279">
                  <c:v>2</c:v>
                </c:pt>
                <c:pt idx="280">
                  <c:v>3</c:v>
                </c:pt>
                <c:pt idx="281">
                  <c:v>4</c:v>
                </c:pt>
                <c:pt idx="282">
                  <c:v>3</c:v>
                </c:pt>
                <c:pt idx="283">
                  <c:v>28</c:v>
                </c:pt>
                <c:pt idx="284">
                  <c:v>72</c:v>
                </c:pt>
                <c:pt idx="285">
                  <c:v>197</c:v>
                </c:pt>
                <c:pt idx="286">
                  <c:v>137</c:v>
                </c:pt>
                <c:pt idx="287">
                  <c:v>36</c:v>
                </c:pt>
                <c:pt idx="288">
                  <c:v>33</c:v>
                </c:pt>
                <c:pt idx="289">
                  <c:v>49</c:v>
                </c:pt>
                <c:pt idx="290">
                  <c:v>81</c:v>
                </c:pt>
                <c:pt idx="291">
                  <c:v>39</c:v>
                </c:pt>
                <c:pt idx="292">
                  <c:v>55</c:v>
                </c:pt>
                <c:pt idx="293">
                  <c:v>76</c:v>
                </c:pt>
                <c:pt idx="294">
                  <c:v>158</c:v>
                </c:pt>
                <c:pt idx="295">
                  <c:v>141</c:v>
                </c:pt>
                <c:pt idx="296">
                  <c:v>98</c:v>
                </c:pt>
                <c:pt idx="297">
                  <c:v>64</c:v>
                </c:pt>
                <c:pt idx="298">
                  <c:v>40</c:v>
                </c:pt>
                <c:pt idx="299">
                  <c:v>30</c:v>
                </c:pt>
                <c:pt idx="300">
                  <c:v>14</c:v>
                </c:pt>
                <c:pt idx="301">
                  <c:v>14</c:v>
                </c:pt>
                <c:pt idx="302">
                  <c:v>5</c:v>
                </c:pt>
                <c:pt idx="303">
                  <c:v>1</c:v>
                </c:pt>
                <c:pt idx="304">
                  <c:v>1</c:v>
                </c:pt>
                <c:pt idx="305">
                  <c:v>8</c:v>
                </c:pt>
                <c:pt idx="306">
                  <c:v>17</c:v>
                </c:pt>
                <c:pt idx="307">
                  <c:v>70</c:v>
                </c:pt>
                <c:pt idx="308">
                  <c:v>156</c:v>
                </c:pt>
                <c:pt idx="309">
                  <c:v>117</c:v>
                </c:pt>
                <c:pt idx="310">
                  <c:v>40</c:v>
                </c:pt>
                <c:pt idx="311">
                  <c:v>47</c:v>
                </c:pt>
                <c:pt idx="312">
                  <c:v>59</c:v>
                </c:pt>
                <c:pt idx="313">
                  <c:v>73</c:v>
                </c:pt>
                <c:pt idx="314">
                  <c:v>59</c:v>
                </c:pt>
                <c:pt idx="315">
                  <c:v>59</c:v>
                </c:pt>
                <c:pt idx="316">
                  <c:v>87</c:v>
                </c:pt>
                <c:pt idx="317">
                  <c:v>155</c:v>
                </c:pt>
                <c:pt idx="318">
                  <c:v>134</c:v>
                </c:pt>
                <c:pt idx="319">
                  <c:v>89</c:v>
                </c:pt>
                <c:pt idx="320">
                  <c:v>68</c:v>
                </c:pt>
                <c:pt idx="321">
                  <c:v>48</c:v>
                </c:pt>
                <c:pt idx="322">
                  <c:v>34</c:v>
                </c:pt>
                <c:pt idx="323">
                  <c:v>26</c:v>
                </c:pt>
                <c:pt idx="324">
                  <c:v>25</c:v>
                </c:pt>
                <c:pt idx="325">
                  <c:v>18</c:v>
                </c:pt>
                <c:pt idx="326">
                  <c:v>12</c:v>
                </c:pt>
                <c:pt idx="327">
                  <c:v>7</c:v>
                </c:pt>
                <c:pt idx="328">
                  <c:v>5</c:v>
                </c:pt>
                <c:pt idx="329">
                  <c:v>1</c:v>
                </c:pt>
                <c:pt idx="330">
                  <c:v>2</c:v>
                </c:pt>
                <c:pt idx="331">
                  <c:v>9</c:v>
                </c:pt>
                <c:pt idx="332">
                  <c:v>22</c:v>
                </c:pt>
                <c:pt idx="333">
                  <c:v>31</c:v>
                </c:pt>
                <c:pt idx="334">
                  <c:v>57</c:v>
                </c:pt>
                <c:pt idx="335">
                  <c:v>54</c:v>
                </c:pt>
                <c:pt idx="336">
                  <c:v>74</c:v>
                </c:pt>
                <c:pt idx="337">
                  <c:v>80</c:v>
                </c:pt>
                <c:pt idx="338">
                  <c:v>92</c:v>
                </c:pt>
                <c:pt idx="339">
                  <c:v>108</c:v>
                </c:pt>
                <c:pt idx="340">
                  <c:v>95</c:v>
                </c:pt>
                <c:pt idx="341">
                  <c:v>54</c:v>
                </c:pt>
                <c:pt idx="342">
                  <c:v>69</c:v>
                </c:pt>
                <c:pt idx="343">
                  <c:v>60</c:v>
                </c:pt>
                <c:pt idx="344">
                  <c:v>35</c:v>
                </c:pt>
                <c:pt idx="345">
                  <c:v>51</c:v>
                </c:pt>
                <c:pt idx="346">
                  <c:v>26</c:v>
                </c:pt>
                <c:pt idx="347">
                  <c:v>39</c:v>
                </c:pt>
                <c:pt idx="348">
                  <c:v>33</c:v>
                </c:pt>
                <c:pt idx="349">
                  <c:v>19</c:v>
                </c:pt>
                <c:pt idx="350">
                  <c:v>13</c:v>
                </c:pt>
                <c:pt idx="351">
                  <c:v>6</c:v>
                </c:pt>
                <c:pt idx="352">
                  <c:v>1</c:v>
                </c:pt>
                <c:pt idx="353">
                  <c:v>1</c:v>
                </c:pt>
                <c:pt idx="354">
                  <c:v>1</c:v>
                </c:pt>
                <c:pt idx="355">
                  <c:v>3</c:v>
                </c:pt>
                <c:pt idx="356">
                  <c:v>18</c:v>
                </c:pt>
                <c:pt idx="357">
                  <c:v>29</c:v>
                </c:pt>
                <c:pt idx="358">
                  <c:v>71</c:v>
                </c:pt>
                <c:pt idx="359">
                  <c:v>70</c:v>
                </c:pt>
                <c:pt idx="360">
                  <c:v>75</c:v>
                </c:pt>
                <c:pt idx="361">
                  <c:v>95</c:v>
                </c:pt>
                <c:pt idx="362">
                  <c:v>69</c:v>
                </c:pt>
                <c:pt idx="363">
                  <c:v>78</c:v>
                </c:pt>
                <c:pt idx="364">
                  <c:v>77</c:v>
                </c:pt>
                <c:pt idx="365">
                  <c:v>82</c:v>
                </c:pt>
                <c:pt idx="366">
                  <c:v>56</c:v>
                </c:pt>
                <c:pt idx="367">
                  <c:v>47</c:v>
                </c:pt>
                <c:pt idx="368">
                  <c:v>50</c:v>
                </c:pt>
                <c:pt idx="369">
                  <c:v>22</c:v>
                </c:pt>
                <c:pt idx="370">
                  <c:v>19</c:v>
                </c:pt>
                <c:pt idx="371">
                  <c:v>18</c:v>
                </c:pt>
                <c:pt idx="372">
                  <c:v>16</c:v>
                </c:pt>
                <c:pt idx="373">
                  <c:v>15</c:v>
                </c:pt>
                <c:pt idx="374">
                  <c:v>8</c:v>
                </c:pt>
                <c:pt idx="375">
                  <c:v>2</c:v>
                </c:pt>
                <c:pt idx="376">
                  <c:v>2</c:v>
                </c:pt>
                <c:pt idx="377">
                  <c:v>1</c:v>
                </c:pt>
                <c:pt idx="378">
                  <c:v>5</c:v>
                </c:pt>
                <c:pt idx="379">
                  <c:v>9</c:v>
                </c:pt>
                <c:pt idx="380">
                  <c:v>30</c:v>
                </c:pt>
                <c:pt idx="381">
                  <c:v>39</c:v>
                </c:pt>
                <c:pt idx="382">
                  <c:v>50</c:v>
                </c:pt>
                <c:pt idx="383">
                  <c:v>55</c:v>
                </c:pt>
                <c:pt idx="384">
                  <c:v>70</c:v>
                </c:pt>
                <c:pt idx="385">
                  <c:v>80</c:v>
                </c:pt>
                <c:pt idx="386">
                  <c:v>74</c:v>
                </c:pt>
                <c:pt idx="387">
                  <c:v>72</c:v>
                </c:pt>
                <c:pt idx="388">
                  <c:v>76</c:v>
                </c:pt>
                <c:pt idx="389">
                  <c:v>67</c:v>
                </c:pt>
                <c:pt idx="390">
                  <c:v>85</c:v>
                </c:pt>
                <c:pt idx="391">
                  <c:v>58</c:v>
                </c:pt>
                <c:pt idx="392">
                  <c:v>29</c:v>
                </c:pt>
                <c:pt idx="393">
                  <c:v>24</c:v>
                </c:pt>
                <c:pt idx="394">
                  <c:v>13</c:v>
                </c:pt>
                <c:pt idx="395">
                  <c:v>3</c:v>
                </c:pt>
                <c:pt idx="396">
                  <c:v>3</c:v>
                </c:pt>
                <c:pt idx="397">
                  <c:v>22</c:v>
                </c:pt>
                <c:pt idx="398">
                  <c:v>26</c:v>
                </c:pt>
                <c:pt idx="399">
                  <c:v>32</c:v>
                </c:pt>
                <c:pt idx="400">
                  <c:v>61</c:v>
                </c:pt>
                <c:pt idx="401">
                  <c:v>124</c:v>
                </c:pt>
                <c:pt idx="402">
                  <c:v>132</c:v>
                </c:pt>
                <c:pt idx="403">
                  <c:v>98</c:v>
                </c:pt>
                <c:pt idx="404">
                  <c:v>83</c:v>
                </c:pt>
                <c:pt idx="405">
                  <c:v>41</c:v>
                </c:pt>
                <c:pt idx="406">
                  <c:v>33</c:v>
                </c:pt>
                <c:pt idx="407">
                  <c:v>19</c:v>
                </c:pt>
                <c:pt idx="408">
                  <c:v>3</c:v>
                </c:pt>
                <c:pt idx="409">
                  <c:v>6</c:v>
                </c:pt>
                <c:pt idx="410">
                  <c:v>3</c:v>
                </c:pt>
                <c:pt idx="411">
                  <c:v>1</c:v>
                </c:pt>
                <c:pt idx="412">
                  <c:v>7</c:v>
                </c:pt>
                <c:pt idx="413">
                  <c:v>32</c:v>
                </c:pt>
                <c:pt idx="414">
                  <c:v>89</c:v>
                </c:pt>
                <c:pt idx="415">
                  <c:v>196</c:v>
                </c:pt>
                <c:pt idx="416">
                  <c:v>107</c:v>
                </c:pt>
                <c:pt idx="417">
                  <c:v>46</c:v>
                </c:pt>
                <c:pt idx="418">
                  <c:v>47</c:v>
                </c:pt>
                <c:pt idx="419">
                  <c:v>65</c:v>
                </c:pt>
                <c:pt idx="420">
                  <c:v>67</c:v>
                </c:pt>
                <c:pt idx="421">
                  <c:v>68</c:v>
                </c:pt>
                <c:pt idx="422">
                  <c:v>78</c:v>
                </c:pt>
                <c:pt idx="423">
                  <c:v>94</c:v>
                </c:pt>
                <c:pt idx="424">
                  <c:v>190</c:v>
                </c:pt>
                <c:pt idx="425">
                  <c:v>156</c:v>
                </c:pt>
                <c:pt idx="426">
                  <c:v>108</c:v>
                </c:pt>
                <c:pt idx="427">
                  <c:v>74</c:v>
                </c:pt>
                <c:pt idx="428">
                  <c:v>55</c:v>
                </c:pt>
                <c:pt idx="429">
                  <c:v>53</c:v>
                </c:pt>
                <c:pt idx="430">
                  <c:v>27</c:v>
                </c:pt>
                <c:pt idx="431">
                  <c:v>8</c:v>
                </c:pt>
                <c:pt idx="432">
                  <c:v>3</c:v>
                </c:pt>
                <c:pt idx="433">
                  <c:v>2</c:v>
                </c:pt>
                <c:pt idx="434">
                  <c:v>1</c:v>
                </c:pt>
                <c:pt idx="435">
                  <c:v>1</c:v>
                </c:pt>
                <c:pt idx="436">
                  <c:v>6</c:v>
                </c:pt>
                <c:pt idx="437">
                  <c:v>35</c:v>
                </c:pt>
                <c:pt idx="438">
                  <c:v>100</c:v>
                </c:pt>
                <c:pt idx="439">
                  <c:v>247</c:v>
                </c:pt>
                <c:pt idx="440">
                  <c:v>140</c:v>
                </c:pt>
                <c:pt idx="441">
                  <c:v>56</c:v>
                </c:pt>
                <c:pt idx="442">
                  <c:v>63</c:v>
                </c:pt>
                <c:pt idx="443">
                  <c:v>77</c:v>
                </c:pt>
                <c:pt idx="444">
                  <c:v>86</c:v>
                </c:pt>
                <c:pt idx="445">
                  <c:v>75</c:v>
                </c:pt>
                <c:pt idx="446">
                  <c:v>62</c:v>
                </c:pt>
                <c:pt idx="447">
                  <c:v>83</c:v>
                </c:pt>
                <c:pt idx="448">
                  <c:v>207</c:v>
                </c:pt>
                <c:pt idx="449">
                  <c:v>184</c:v>
                </c:pt>
                <c:pt idx="450">
                  <c:v>146</c:v>
                </c:pt>
                <c:pt idx="451">
                  <c:v>124</c:v>
                </c:pt>
                <c:pt idx="452">
                  <c:v>54</c:v>
                </c:pt>
                <c:pt idx="453">
                  <c:v>56</c:v>
                </c:pt>
                <c:pt idx="454">
                  <c:v>28</c:v>
                </c:pt>
                <c:pt idx="455">
                  <c:v>20</c:v>
                </c:pt>
                <c:pt idx="456">
                  <c:v>6</c:v>
                </c:pt>
                <c:pt idx="457">
                  <c:v>2</c:v>
                </c:pt>
                <c:pt idx="458">
                  <c:v>1</c:v>
                </c:pt>
                <c:pt idx="459">
                  <c:v>1</c:v>
                </c:pt>
                <c:pt idx="460">
                  <c:v>4</c:v>
                </c:pt>
                <c:pt idx="461">
                  <c:v>27</c:v>
                </c:pt>
                <c:pt idx="462">
                  <c:v>66</c:v>
                </c:pt>
                <c:pt idx="463">
                  <c:v>210</c:v>
                </c:pt>
                <c:pt idx="464">
                  <c:v>159</c:v>
                </c:pt>
                <c:pt idx="465">
                  <c:v>57</c:v>
                </c:pt>
                <c:pt idx="466">
                  <c:v>53</c:v>
                </c:pt>
                <c:pt idx="467">
                  <c:v>67</c:v>
                </c:pt>
                <c:pt idx="468">
                  <c:v>65</c:v>
                </c:pt>
                <c:pt idx="469">
                  <c:v>56</c:v>
                </c:pt>
                <c:pt idx="470">
                  <c:v>61</c:v>
                </c:pt>
                <c:pt idx="471">
                  <c:v>97</c:v>
                </c:pt>
                <c:pt idx="472">
                  <c:v>151</c:v>
                </c:pt>
                <c:pt idx="473">
                  <c:v>119</c:v>
                </c:pt>
                <c:pt idx="474">
                  <c:v>93</c:v>
                </c:pt>
                <c:pt idx="475">
                  <c:v>52</c:v>
                </c:pt>
                <c:pt idx="476">
                  <c:v>41</c:v>
                </c:pt>
                <c:pt idx="477">
                  <c:v>33</c:v>
                </c:pt>
                <c:pt idx="478">
                  <c:v>27</c:v>
                </c:pt>
                <c:pt idx="479">
                  <c:v>13</c:v>
                </c:pt>
                <c:pt idx="480">
                  <c:v>9</c:v>
                </c:pt>
                <c:pt idx="481">
                  <c:v>11</c:v>
                </c:pt>
                <c:pt idx="482">
                  <c:v>6</c:v>
                </c:pt>
                <c:pt idx="483">
                  <c:v>3</c:v>
                </c:pt>
                <c:pt idx="484">
                  <c:v>2</c:v>
                </c:pt>
                <c:pt idx="485">
                  <c:v>8</c:v>
                </c:pt>
                <c:pt idx="486">
                  <c:v>26</c:v>
                </c:pt>
                <c:pt idx="487">
                  <c:v>37</c:v>
                </c:pt>
                <c:pt idx="488">
                  <c:v>50</c:v>
                </c:pt>
                <c:pt idx="489">
                  <c:v>59</c:v>
                </c:pt>
                <c:pt idx="490">
                  <c:v>60</c:v>
                </c:pt>
                <c:pt idx="491">
                  <c:v>72</c:v>
                </c:pt>
                <c:pt idx="492">
                  <c:v>64</c:v>
                </c:pt>
                <c:pt idx="493">
                  <c:v>93</c:v>
                </c:pt>
                <c:pt idx="494">
                  <c:v>72</c:v>
                </c:pt>
                <c:pt idx="495">
                  <c:v>59</c:v>
                </c:pt>
                <c:pt idx="496">
                  <c:v>54</c:v>
                </c:pt>
                <c:pt idx="497">
                  <c:v>53</c:v>
                </c:pt>
                <c:pt idx="498">
                  <c:v>44</c:v>
                </c:pt>
                <c:pt idx="499">
                  <c:v>39</c:v>
                </c:pt>
                <c:pt idx="500">
                  <c:v>23</c:v>
                </c:pt>
                <c:pt idx="501">
                  <c:v>31</c:v>
                </c:pt>
                <c:pt idx="502">
                  <c:v>20</c:v>
                </c:pt>
                <c:pt idx="503">
                  <c:v>12</c:v>
                </c:pt>
                <c:pt idx="504">
                  <c:v>15</c:v>
                </c:pt>
                <c:pt idx="505">
                  <c:v>4</c:v>
                </c:pt>
                <c:pt idx="506">
                  <c:v>3</c:v>
                </c:pt>
                <c:pt idx="507">
                  <c:v>1</c:v>
                </c:pt>
                <c:pt idx="508">
                  <c:v>1</c:v>
                </c:pt>
                <c:pt idx="509">
                  <c:v>17</c:v>
                </c:pt>
                <c:pt idx="510">
                  <c:v>25</c:v>
                </c:pt>
                <c:pt idx="511">
                  <c:v>51</c:v>
                </c:pt>
                <c:pt idx="512">
                  <c:v>77</c:v>
                </c:pt>
                <c:pt idx="513">
                  <c:v>92</c:v>
                </c:pt>
                <c:pt idx="514">
                  <c:v>75</c:v>
                </c:pt>
                <c:pt idx="515">
                  <c:v>93</c:v>
                </c:pt>
                <c:pt idx="516">
                  <c:v>64</c:v>
                </c:pt>
                <c:pt idx="517">
                  <c:v>56</c:v>
                </c:pt>
                <c:pt idx="518">
                  <c:v>50</c:v>
                </c:pt>
                <c:pt idx="519">
                  <c:v>44</c:v>
                </c:pt>
                <c:pt idx="520">
                  <c:v>45</c:v>
                </c:pt>
                <c:pt idx="521">
                  <c:v>31</c:v>
                </c:pt>
                <c:pt idx="522">
                  <c:v>20</c:v>
                </c:pt>
                <c:pt idx="523">
                  <c:v>23</c:v>
                </c:pt>
                <c:pt idx="524">
                  <c:v>17</c:v>
                </c:pt>
                <c:pt idx="525">
                  <c:v>7</c:v>
                </c:pt>
                <c:pt idx="526">
                  <c:v>1</c:v>
                </c:pt>
                <c:pt idx="527">
                  <c:v>1</c:v>
                </c:pt>
                <c:pt idx="528">
                  <c:v>1</c:v>
                </c:pt>
                <c:pt idx="529">
                  <c:v>5</c:v>
                </c:pt>
                <c:pt idx="530">
                  <c:v>15</c:v>
                </c:pt>
                <c:pt idx="531">
                  <c:v>79</c:v>
                </c:pt>
                <c:pt idx="532">
                  <c:v>171</c:v>
                </c:pt>
                <c:pt idx="533">
                  <c:v>98</c:v>
                </c:pt>
                <c:pt idx="534">
                  <c:v>34</c:v>
                </c:pt>
                <c:pt idx="535">
                  <c:v>43</c:v>
                </c:pt>
                <c:pt idx="536">
                  <c:v>52</c:v>
                </c:pt>
                <c:pt idx="537">
                  <c:v>54</c:v>
                </c:pt>
                <c:pt idx="538">
                  <c:v>43</c:v>
                </c:pt>
                <c:pt idx="539">
                  <c:v>50</c:v>
                </c:pt>
                <c:pt idx="540">
                  <c:v>66</c:v>
                </c:pt>
                <c:pt idx="541">
                  <c:v>178</c:v>
                </c:pt>
                <c:pt idx="542">
                  <c:v>145</c:v>
                </c:pt>
                <c:pt idx="543">
                  <c:v>101</c:v>
                </c:pt>
                <c:pt idx="544">
                  <c:v>80</c:v>
                </c:pt>
                <c:pt idx="545">
                  <c:v>53</c:v>
                </c:pt>
                <c:pt idx="546">
                  <c:v>32</c:v>
                </c:pt>
                <c:pt idx="547">
                  <c:v>21</c:v>
                </c:pt>
                <c:pt idx="548">
                  <c:v>6</c:v>
                </c:pt>
                <c:pt idx="549">
                  <c:v>5</c:v>
                </c:pt>
                <c:pt idx="550">
                  <c:v>2</c:v>
                </c:pt>
                <c:pt idx="551">
                  <c:v>1</c:v>
                </c:pt>
                <c:pt idx="552">
                  <c:v>9</c:v>
                </c:pt>
                <c:pt idx="553">
                  <c:v>35</c:v>
                </c:pt>
                <c:pt idx="554">
                  <c:v>103</c:v>
                </c:pt>
                <c:pt idx="555">
                  <c:v>233</c:v>
                </c:pt>
                <c:pt idx="556">
                  <c:v>134</c:v>
                </c:pt>
                <c:pt idx="557">
                  <c:v>49</c:v>
                </c:pt>
                <c:pt idx="558">
                  <c:v>55</c:v>
                </c:pt>
                <c:pt idx="559">
                  <c:v>85</c:v>
                </c:pt>
                <c:pt idx="560">
                  <c:v>72</c:v>
                </c:pt>
                <c:pt idx="561">
                  <c:v>57</c:v>
                </c:pt>
                <c:pt idx="562">
                  <c:v>63</c:v>
                </c:pt>
                <c:pt idx="563">
                  <c:v>102</c:v>
                </c:pt>
                <c:pt idx="564">
                  <c:v>208</c:v>
                </c:pt>
                <c:pt idx="565">
                  <c:v>218</c:v>
                </c:pt>
                <c:pt idx="566">
                  <c:v>133</c:v>
                </c:pt>
                <c:pt idx="567">
                  <c:v>103</c:v>
                </c:pt>
                <c:pt idx="568">
                  <c:v>40</c:v>
                </c:pt>
                <c:pt idx="569">
                  <c:v>49</c:v>
                </c:pt>
                <c:pt idx="570">
                  <c:v>37</c:v>
                </c:pt>
                <c:pt idx="571">
                  <c:v>14</c:v>
                </c:pt>
                <c:pt idx="572">
                  <c:v>5</c:v>
                </c:pt>
                <c:pt idx="573">
                  <c:v>7</c:v>
                </c:pt>
                <c:pt idx="574">
                  <c:v>1</c:v>
                </c:pt>
                <c:pt idx="575">
                  <c:v>8</c:v>
                </c:pt>
                <c:pt idx="576">
                  <c:v>29</c:v>
                </c:pt>
                <c:pt idx="577">
                  <c:v>69</c:v>
                </c:pt>
                <c:pt idx="578">
                  <c:v>55</c:v>
                </c:pt>
                <c:pt idx="579">
                  <c:v>26</c:v>
                </c:pt>
                <c:pt idx="580">
                  <c:v>35</c:v>
                </c:pt>
                <c:pt idx="581">
                  <c:v>41</c:v>
                </c:pt>
                <c:pt idx="582">
                  <c:v>43</c:v>
                </c:pt>
                <c:pt idx="583">
                  <c:v>36</c:v>
                </c:pt>
                <c:pt idx="584">
                  <c:v>42</c:v>
                </c:pt>
                <c:pt idx="585">
                  <c:v>35</c:v>
                </c:pt>
                <c:pt idx="586">
                  <c:v>26</c:v>
                </c:pt>
                <c:pt idx="587">
                  <c:v>23</c:v>
                </c:pt>
                <c:pt idx="588">
                  <c:v>82</c:v>
                </c:pt>
                <c:pt idx="589">
                  <c:v>101</c:v>
                </c:pt>
                <c:pt idx="590">
                  <c:v>76</c:v>
                </c:pt>
                <c:pt idx="591">
                  <c:v>55</c:v>
                </c:pt>
                <c:pt idx="592">
                  <c:v>36</c:v>
                </c:pt>
                <c:pt idx="593">
                  <c:v>27</c:v>
                </c:pt>
                <c:pt idx="594">
                  <c:v>16</c:v>
                </c:pt>
                <c:pt idx="595">
                  <c:v>9</c:v>
                </c:pt>
                <c:pt idx="596">
                  <c:v>2</c:v>
                </c:pt>
                <c:pt idx="597">
                  <c:v>2</c:v>
                </c:pt>
                <c:pt idx="598">
                  <c:v>0</c:v>
                </c:pt>
                <c:pt idx="599">
                  <c:v>4</c:v>
                </c:pt>
                <c:pt idx="600">
                  <c:v>16</c:v>
                </c:pt>
                <c:pt idx="601">
                  <c:v>58</c:v>
                </c:pt>
                <c:pt idx="602">
                  <c:v>155</c:v>
                </c:pt>
                <c:pt idx="603">
                  <c:v>95</c:v>
                </c:pt>
                <c:pt idx="604">
                  <c:v>49</c:v>
                </c:pt>
                <c:pt idx="605">
                  <c:v>30</c:v>
                </c:pt>
                <c:pt idx="606">
                  <c:v>28</c:v>
                </c:pt>
                <c:pt idx="607">
                  <c:v>31</c:v>
                </c:pt>
                <c:pt idx="608">
                  <c:v>36</c:v>
                </c:pt>
                <c:pt idx="609">
                  <c:v>40</c:v>
                </c:pt>
                <c:pt idx="610">
                  <c:v>70</c:v>
                </c:pt>
                <c:pt idx="611">
                  <c:v>147</c:v>
                </c:pt>
                <c:pt idx="612">
                  <c:v>107</c:v>
                </c:pt>
                <c:pt idx="613">
                  <c:v>84</c:v>
                </c:pt>
                <c:pt idx="614">
                  <c:v>61</c:v>
                </c:pt>
                <c:pt idx="615">
                  <c:v>57</c:v>
                </c:pt>
                <c:pt idx="616">
                  <c:v>26</c:v>
                </c:pt>
                <c:pt idx="617">
                  <c:v>22</c:v>
                </c:pt>
                <c:pt idx="618">
                  <c:v>26</c:v>
                </c:pt>
                <c:pt idx="619">
                  <c:v>20</c:v>
                </c:pt>
                <c:pt idx="620">
                  <c:v>15</c:v>
                </c:pt>
                <c:pt idx="621">
                  <c:v>5</c:v>
                </c:pt>
                <c:pt idx="622">
                  <c:v>2</c:v>
                </c:pt>
                <c:pt idx="623">
                  <c:v>2</c:v>
                </c:pt>
                <c:pt idx="624">
                  <c:v>4</c:v>
                </c:pt>
                <c:pt idx="625">
                  <c:v>31</c:v>
                </c:pt>
                <c:pt idx="626">
                  <c:v>34</c:v>
                </c:pt>
                <c:pt idx="627">
                  <c:v>51</c:v>
                </c:pt>
                <c:pt idx="628">
                  <c:v>60</c:v>
                </c:pt>
                <c:pt idx="629">
                  <c:v>66</c:v>
                </c:pt>
                <c:pt idx="630">
                  <c:v>56</c:v>
                </c:pt>
                <c:pt idx="631">
                  <c:v>89</c:v>
                </c:pt>
                <c:pt idx="632">
                  <c:v>98</c:v>
                </c:pt>
                <c:pt idx="633">
                  <c:v>88</c:v>
                </c:pt>
                <c:pt idx="634">
                  <c:v>82</c:v>
                </c:pt>
                <c:pt idx="635">
                  <c:v>59</c:v>
                </c:pt>
                <c:pt idx="636">
                  <c:v>52</c:v>
                </c:pt>
                <c:pt idx="637">
                  <c:v>42</c:v>
                </c:pt>
                <c:pt idx="638">
                  <c:v>35</c:v>
                </c:pt>
                <c:pt idx="639">
                  <c:v>28</c:v>
                </c:pt>
                <c:pt idx="640">
                  <c:v>30</c:v>
                </c:pt>
                <c:pt idx="641">
                  <c:v>33</c:v>
                </c:pt>
                <c:pt idx="642">
                  <c:v>22</c:v>
                </c:pt>
                <c:pt idx="643">
                  <c:v>10</c:v>
                </c:pt>
                <c:pt idx="644">
                  <c:v>7</c:v>
                </c:pt>
                <c:pt idx="645">
                  <c:v>1</c:v>
                </c:pt>
                <c:pt idx="646">
                  <c:v>3</c:v>
                </c:pt>
                <c:pt idx="647">
                  <c:v>3</c:v>
                </c:pt>
                <c:pt idx="648">
                  <c:v>11</c:v>
                </c:pt>
                <c:pt idx="649">
                  <c:v>34</c:v>
                </c:pt>
                <c:pt idx="650">
                  <c:v>57</c:v>
                </c:pt>
                <c:pt idx="651">
                  <c:v>50</c:v>
                </c:pt>
                <c:pt idx="652">
                  <c:v>87</c:v>
                </c:pt>
                <c:pt idx="653">
                  <c:v>71</c:v>
                </c:pt>
                <c:pt idx="654">
                  <c:v>104</c:v>
                </c:pt>
                <c:pt idx="655">
                  <c:v>95</c:v>
                </c:pt>
                <c:pt idx="656">
                  <c:v>104</c:v>
                </c:pt>
                <c:pt idx="657">
                  <c:v>71</c:v>
                </c:pt>
                <c:pt idx="658">
                  <c:v>57</c:v>
                </c:pt>
                <c:pt idx="659">
                  <c:v>46</c:v>
                </c:pt>
                <c:pt idx="660">
                  <c:v>30</c:v>
                </c:pt>
                <c:pt idx="661">
                  <c:v>25</c:v>
                </c:pt>
                <c:pt idx="662">
                  <c:v>19</c:v>
                </c:pt>
                <c:pt idx="663">
                  <c:v>16</c:v>
                </c:pt>
                <c:pt idx="664">
                  <c:v>6</c:v>
                </c:pt>
                <c:pt idx="665">
                  <c:v>5</c:v>
                </c:pt>
                <c:pt idx="666">
                  <c:v>1</c:v>
                </c:pt>
                <c:pt idx="667">
                  <c:v>2</c:v>
                </c:pt>
                <c:pt idx="668">
                  <c:v>2</c:v>
                </c:pt>
                <c:pt idx="669">
                  <c:v>8</c:v>
                </c:pt>
                <c:pt idx="670">
                  <c:v>37</c:v>
                </c:pt>
                <c:pt idx="671">
                  <c:v>71</c:v>
                </c:pt>
                <c:pt idx="672">
                  <c:v>182</c:v>
                </c:pt>
                <c:pt idx="673">
                  <c:v>112</c:v>
                </c:pt>
                <c:pt idx="674">
                  <c:v>68</c:v>
                </c:pt>
                <c:pt idx="675">
                  <c:v>46</c:v>
                </c:pt>
                <c:pt idx="676">
                  <c:v>62</c:v>
                </c:pt>
                <c:pt idx="677">
                  <c:v>52</c:v>
                </c:pt>
                <c:pt idx="678">
                  <c:v>85</c:v>
                </c:pt>
                <c:pt idx="679">
                  <c:v>41</c:v>
                </c:pt>
                <c:pt idx="680">
                  <c:v>83</c:v>
                </c:pt>
                <c:pt idx="681">
                  <c:v>155</c:v>
                </c:pt>
                <c:pt idx="682">
                  <c:v>153</c:v>
                </c:pt>
                <c:pt idx="683">
                  <c:v>108</c:v>
                </c:pt>
                <c:pt idx="684">
                  <c:v>78</c:v>
                </c:pt>
                <c:pt idx="685">
                  <c:v>53</c:v>
                </c:pt>
                <c:pt idx="686">
                  <c:v>34</c:v>
                </c:pt>
                <c:pt idx="687">
                  <c:v>15</c:v>
                </c:pt>
                <c:pt idx="688">
                  <c:v>6</c:v>
                </c:pt>
                <c:pt idx="689">
                  <c:v>3</c:v>
                </c:pt>
                <c:pt idx="690">
                  <c:v>2</c:v>
                </c:pt>
                <c:pt idx="691">
                  <c:v>2</c:v>
                </c:pt>
                <c:pt idx="692">
                  <c:v>3</c:v>
                </c:pt>
                <c:pt idx="693">
                  <c:v>22</c:v>
                </c:pt>
                <c:pt idx="694">
                  <c:v>52</c:v>
                </c:pt>
                <c:pt idx="695">
                  <c:v>132</c:v>
                </c:pt>
                <c:pt idx="696">
                  <c:v>114</c:v>
                </c:pt>
                <c:pt idx="697">
                  <c:v>47</c:v>
                </c:pt>
                <c:pt idx="698">
                  <c:v>49</c:v>
                </c:pt>
                <c:pt idx="699">
                  <c:v>53</c:v>
                </c:pt>
                <c:pt idx="700">
                  <c:v>49</c:v>
                </c:pt>
                <c:pt idx="701">
                  <c:v>49</c:v>
                </c:pt>
                <c:pt idx="702">
                  <c:v>45</c:v>
                </c:pt>
                <c:pt idx="703">
                  <c:v>61</c:v>
                </c:pt>
                <c:pt idx="704">
                  <c:v>172</c:v>
                </c:pt>
                <c:pt idx="705">
                  <c:v>165</c:v>
                </c:pt>
                <c:pt idx="706">
                  <c:v>105</c:v>
                </c:pt>
                <c:pt idx="707">
                  <c:v>69</c:v>
                </c:pt>
                <c:pt idx="708">
                  <c:v>64</c:v>
                </c:pt>
                <c:pt idx="709">
                  <c:v>34</c:v>
                </c:pt>
                <c:pt idx="710">
                  <c:v>15</c:v>
                </c:pt>
                <c:pt idx="711">
                  <c:v>2</c:v>
                </c:pt>
                <c:pt idx="712">
                  <c:v>3</c:v>
                </c:pt>
                <c:pt idx="713">
                  <c:v>0</c:v>
                </c:pt>
                <c:pt idx="714">
                  <c:v>1</c:v>
                </c:pt>
                <c:pt idx="715">
                  <c:v>1</c:v>
                </c:pt>
                <c:pt idx="716">
                  <c:v>3</c:v>
                </c:pt>
                <c:pt idx="717">
                  <c:v>17</c:v>
                </c:pt>
                <c:pt idx="718">
                  <c:v>48</c:v>
                </c:pt>
                <c:pt idx="719">
                  <c:v>154</c:v>
                </c:pt>
                <c:pt idx="720">
                  <c:v>119</c:v>
                </c:pt>
                <c:pt idx="721">
                  <c:v>59</c:v>
                </c:pt>
                <c:pt idx="722">
                  <c:v>47</c:v>
                </c:pt>
                <c:pt idx="723">
                  <c:v>61</c:v>
                </c:pt>
                <c:pt idx="724">
                  <c:v>74</c:v>
                </c:pt>
                <c:pt idx="725">
                  <c:v>61</c:v>
                </c:pt>
                <c:pt idx="726">
                  <c:v>66</c:v>
                </c:pt>
                <c:pt idx="727">
                  <c:v>95</c:v>
                </c:pt>
                <c:pt idx="728">
                  <c:v>183</c:v>
                </c:pt>
                <c:pt idx="729">
                  <c:v>175</c:v>
                </c:pt>
                <c:pt idx="730">
                  <c:v>88</c:v>
                </c:pt>
                <c:pt idx="731">
                  <c:v>71</c:v>
                </c:pt>
                <c:pt idx="732">
                  <c:v>62</c:v>
                </c:pt>
                <c:pt idx="733">
                  <c:v>35</c:v>
                </c:pt>
                <c:pt idx="734">
                  <c:v>29</c:v>
                </c:pt>
                <c:pt idx="735">
                  <c:v>11</c:v>
                </c:pt>
                <c:pt idx="736">
                  <c:v>5</c:v>
                </c:pt>
                <c:pt idx="737">
                  <c:v>2</c:v>
                </c:pt>
                <c:pt idx="738">
                  <c:v>1</c:v>
                </c:pt>
                <c:pt idx="739">
                  <c:v>2</c:v>
                </c:pt>
                <c:pt idx="740">
                  <c:v>39</c:v>
                </c:pt>
                <c:pt idx="741">
                  <c:v>86</c:v>
                </c:pt>
                <c:pt idx="742">
                  <c:v>184</c:v>
                </c:pt>
                <c:pt idx="743">
                  <c:v>127</c:v>
                </c:pt>
                <c:pt idx="744">
                  <c:v>50</c:v>
                </c:pt>
                <c:pt idx="745">
                  <c:v>55</c:v>
                </c:pt>
                <c:pt idx="746">
                  <c:v>67</c:v>
                </c:pt>
                <c:pt idx="747">
                  <c:v>47</c:v>
                </c:pt>
                <c:pt idx="748">
                  <c:v>43</c:v>
                </c:pt>
                <c:pt idx="749">
                  <c:v>56</c:v>
                </c:pt>
                <c:pt idx="750">
                  <c:v>73</c:v>
                </c:pt>
                <c:pt idx="751">
                  <c:v>170</c:v>
                </c:pt>
                <c:pt idx="752">
                  <c:v>145</c:v>
                </c:pt>
                <c:pt idx="753">
                  <c:v>92</c:v>
                </c:pt>
                <c:pt idx="754">
                  <c:v>108</c:v>
                </c:pt>
                <c:pt idx="755">
                  <c:v>53</c:v>
                </c:pt>
                <c:pt idx="756">
                  <c:v>39</c:v>
                </c:pt>
                <c:pt idx="757">
                  <c:v>34</c:v>
                </c:pt>
                <c:pt idx="758">
                  <c:v>10</c:v>
                </c:pt>
                <c:pt idx="759">
                  <c:v>7</c:v>
                </c:pt>
                <c:pt idx="760">
                  <c:v>1</c:v>
                </c:pt>
                <c:pt idx="761">
                  <c:v>1</c:v>
                </c:pt>
                <c:pt idx="762">
                  <c:v>7</c:v>
                </c:pt>
                <c:pt idx="763">
                  <c:v>26</c:v>
                </c:pt>
                <c:pt idx="764">
                  <c:v>87</c:v>
                </c:pt>
                <c:pt idx="765">
                  <c:v>217</c:v>
                </c:pt>
                <c:pt idx="766">
                  <c:v>124</c:v>
                </c:pt>
                <c:pt idx="767">
                  <c:v>46</c:v>
                </c:pt>
                <c:pt idx="768">
                  <c:v>61</c:v>
                </c:pt>
                <c:pt idx="769">
                  <c:v>78</c:v>
                </c:pt>
                <c:pt idx="770">
                  <c:v>73</c:v>
                </c:pt>
                <c:pt idx="771">
                  <c:v>76</c:v>
                </c:pt>
                <c:pt idx="772">
                  <c:v>81</c:v>
                </c:pt>
                <c:pt idx="773">
                  <c:v>91</c:v>
                </c:pt>
                <c:pt idx="774">
                  <c:v>195</c:v>
                </c:pt>
                <c:pt idx="775">
                  <c:v>152</c:v>
                </c:pt>
                <c:pt idx="776">
                  <c:v>102</c:v>
                </c:pt>
                <c:pt idx="777">
                  <c:v>69</c:v>
                </c:pt>
                <c:pt idx="778">
                  <c:v>41</c:v>
                </c:pt>
                <c:pt idx="779">
                  <c:v>45</c:v>
                </c:pt>
                <c:pt idx="780">
                  <c:v>30</c:v>
                </c:pt>
                <c:pt idx="781">
                  <c:v>36</c:v>
                </c:pt>
                <c:pt idx="782">
                  <c:v>17</c:v>
                </c:pt>
                <c:pt idx="783">
                  <c:v>12</c:v>
                </c:pt>
                <c:pt idx="784">
                  <c:v>10</c:v>
                </c:pt>
                <c:pt idx="785">
                  <c:v>8</c:v>
                </c:pt>
                <c:pt idx="786">
                  <c:v>9</c:v>
                </c:pt>
                <c:pt idx="787">
                  <c:v>4</c:v>
                </c:pt>
                <c:pt idx="788">
                  <c:v>4</c:v>
                </c:pt>
                <c:pt idx="789">
                  <c:v>10</c:v>
                </c:pt>
                <c:pt idx="790">
                  <c:v>17</c:v>
                </c:pt>
                <c:pt idx="791">
                  <c:v>31</c:v>
                </c:pt>
                <c:pt idx="792">
                  <c:v>46</c:v>
                </c:pt>
                <c:pt idx="793">
                  <c:v>42</c:v>
                </c:pt>
                <c:pt idx="794">
                  <c:v>62</c:v>
                </c:pt>
                <c:pt idx="795">
                  <c:v>50</c:v>
                </c:pt>
                <c:pt idx="796">
                  <c:v>49</c:v>
                </c:pt>
                <c:pt idx="797">
                  <c:v>63</c:v>
                </c:pt>
                <c:pt idx="798">
                  <c:v>64</c:v>
                </c:pt>
                <c:pt idx="799">
                  <c:v>81</c:v>
                </c:pt>
                <c:pt idx="800">
                  <c:v>78</c:v>
                </c:pt>
                <c:pt idx="801">
                  <c:v>64</c:v>
                </c:pt>
                <c:pt idx="802">
                  <c:v>53</c:v>
                </c:pt>
                <c:pt idx="803">
                  <c:v>43</c:v>
                </c:pt>
                <c:pt idx="804">
                  <c:v>52</c:v>
                </c:pt>
                <c:pt idx="805">
                  <c:v>37</c:v>
                </c:pt>
                <c:pt idx="806">
                  <c:v>40</c:v>
                </c:pt>
                <c:pt idx="807">
                  <c:v>20</c:v>
                </c:pt>
                <c:pt idx="808">
                  <c:v>10</c:v>
                </c:pt>
                <c:pt idx="809">
                  <c:v>2</c:v>
                </c:pt>
                <c:pt idx="810">
                  <c:v>1</c:v>
                </c:pt>
                <c:pt idx="811">
                  <c:v>1</c:v>
                </c:pt>
                <c:pt idx="812">
                  <c:v>8</c:v>
                </c:pt>
                <c:pt idx="813">
                  <c:v>21</c:v>
                </c:pt>
                <c:pt idx="814">
                  <c:v>38</c:v>
                </c:pt>
                <c:pt idx="815">
                  <c:v>74</c:v>
                </c:pt>
                <c:pt idx="816">
                  <c:v>89</c:v>
                </c:pt>
                <c:pt idx="817">
                  <c:v>126</c:v>
                </c:pt>
                <c:pt idx="818">
                  <c:v>135</c:v>
                </c:pt>
                <c:pt idx="819">
                  <c:v>114</c:v>
                </c:pt>
                <c:pt idx="820">
                  <c:v>130</c:v>
                </c:pt>
                <c:pt idx="821">
                  <c:v>115</c:v>
                </c:pt>
                <c:pt idx="822">
                  <c:v>97</c:v>
                </c:pt>
                <c:pt idx="823">
                  <c:v>65</c:v>
                </c:pt>
                <c:pt idx="824">
                  <c:v>20</c:v>
                </c:pt>
                <c:pt idx="825">
                  <c:v>21</c:v>
                </c:pt>
                <c:pt idx="826">
                  <c:v>22</c:v>
                </c:pt>
                <c:pt idx="827">
                  <c:v>57</c:v>
                </c:pt>
                <c:pt idx="828">
                  <c:v>26</c:v>
                </c:pt>
                <c:pt idx="829">
                  <c:v>14</c:v>
                </c:pt>
                <c:pt idx="830">
                  <c:v>4</c:v>
                </c:pt>
                <c:pt idx="831">
                  <c:v>3</c:v>
                </c:pt>
                <c:pt idx="832">
                  <c:v>1</c:v>
                </c:pt>
                <c:pt idx="833">
                  <c:v>1</c:v>
                </c:pt>
                <c:pt idx="834">
                  <c:v>9</c:v>
                </c:pt>
                <c:pt idx="835">
                  <c:v>29</c:v>
                </c:pt>
                <c:pt idx="836">
                  <c:v>89</c:v>
                </c:pt>
                <c:pt idx="837">
                  <c:v>223</c:v>
                </c:pt>
                <c:pt idx="838">
                  <c:v>115</c:v>
                </c:pt>
                <c:pt idx="839">
                  <c:v>49</c:v>
                </c:pt>
                <c:pt idx="840">
                  <c:v>36</c:v>
                </c:pt>
                <c:pt idx="841">
                  <c:v>59</c:v>
                </c:pt>
                <c:pt idx="842">
                  <c:v>54</c:v>
                </c:pt>
                <c:pt idx="843">
                  <c:v>52</c:v>
                </c:pt>
                <c:pt idx="844">
                  <c:v>46</c:v>
                </c:pt>
                <c:pt idx="845">
                  <c:v>98</c:v>
                </c:pt>
                <c:pt idx="846">
                  <c:v>207</c:v>
                </c:pt>
                <c:pt idx="847">
                  <c:v>170</c:v>
                </c:pt>
                <c:pt idx="848">
                  <c:v>123</c:v>
                </c:pt>
                <c:pt idx="849">
                  <c:v>82</c:v>
                </c:pt>
                <c:pt idx="850">
                  <c:v>75</c:v>
                </c:pt>
                <c:pt idx="851">
                  <c:v>34</c:v>
                </c:pt>
                <c:pt idx="852">
                  <c:v>19</c:v>
                </c:pt>
                <c:pt idx="853">
                  <c:v>6</c:v>
                </c:pt>
                <c:pt idx="854">
                  <c:v>4</c:v>
                </c:pt>
                <c:pt idx="855">
                  <c:v>1</c:v>
                </c:pt>
                <c:pt idx="856">
                  <c:v>1</c:v>
                </c:pt>
                <c:pt idx="857">
                  <c:v>3</c:v>
                </c:pt>
                <c:pt idx="858">
                  <c:v>2</c:v>
                </c:pt>
                <c:pt idx="859">
                  <c:v>39</c:v>
                </c:pt>
                <c:pt idx="860">
                  <c:v>97</c:v>
                </c:pt>
                <c:pt idx="861">
                  <c:v>236</c:v>
                </c:pt>
                <c:pt idx="862">
                  <c:v>128</c:v>
                </c:pt>
                <c:pt idx="863">
                  <c:v>44</c:v>
                </c:pt>
                <c:pt idx="864">
                  <c:v>49</c:v>
                </c:pt>
                <c:pt idx="865">
                  <c:v>63</c:v>
                </c:pt>
                <c:pt idx="866">
                  <c:v>48</c:v>
                </c:pt>
                <c:pt idx="867">
                  <c:v>61</c:v>
                </c:pt>
                <c:pt idx="868">
                  <c:v>45</c:v>
                </c:pt>
                <c:pt idx="869">
                  <c:v>79</c:v>
                </c:pt>
                <c:pt idx="870">
                  <c:v>172</c:v>
                </c:pt>
                <c:pt idx="871">
                  <c:v>151</c:v>
                </c:pt>
                <c:pt idx="872">
                  <c:v>100</c:v>
                </c:pt>
                <c:pt idx="873">
                  <c:v>53</c:v>
                </c:pt>
                <c:pt idx="874">
                  <c:v>46</c:v>
                </c:pt>
                <c:pt idx="875">
                  <c:v>29</c:v>
                </c:pt>
                <c:pt idx="876">
                  <c:v>9</c:v>
                </c:pt>
                <c:pt idx="877">
                  <c:v>17</c:v>
                </c:pt>
                <c:pt idx="878">
                  <c:v>7</c:v>
                </c:pt>
                <c:pt idx="879">
                  <c:v>2</c:v>
                </c:pt>
                <c:pt idx="880">
                  <c:v>2</c:v>
                </c:pt>
                <c:pt idx="881">
                  <c:v>7</c:v>
                </c:pt>
                <c:pt idx="882">
                  <c:v>43</c:v>
                </c:pt>
                <c:pt idx="883">
                  <c:v>95</c:v>
                </c:pt>
                <c:pt idx="884">
                  <c:v>198</c:v>
                </c:pt>
                <c:pt idx="885">
                  <c:v>119</c:v>
                </c:pt>
                <c:pt idx="886">
                  <c:v>51</c:v>
                </c:pt>
                <c:pt idx="887">
                  <c:v>40</c:v>
                </c:pt>
                <c:pt idx="888">
                  <c:v>57</c:v>
                </c:pt>
                <c:pt idx="889">
                  <c:v>67</c:v>
                </c:pt>
                <c:pt idx="890">
                  <c:v>56</c:v>
                </c:pt>
                <c:pt idx="891">
                  <c:v>61</c:v>
                </c:pt>
                <c:pt idx="892">
                  <c:v>72</c:v>
                </c:pt>
                <c:pt idx="893">
                  <c:v>157</c:v>
                </c:pt>
                <c:pt idx="894">
                  <c:v>168</c:v>
                </c:pt>
                <c:pt idx="895">
                  <c:v>87</c:v>
                </c:pt>
                <c:pt idx="896">
                  <c:v>84</c:v>
                </c:pt>
                <c:pt idx="897">
                  <c:v>83</c:v>
                </c:pt>
                <c:pt idx="898">
                  <c:v>42</c:v>
                </c:pt>
                <c:pt idx="899">
                  <c:v>37</c:v>
                </c:pt>
                <c:pt idx="900">
                  <c:v>16</c:v>
                </c:pt>
                <c:pt idx="901">
                  <c:v>7</c:v>
                </c:pt>
                <c:pt idx="902">
                  <c:v>3</c:v>
                </c:pt>
                <c:pt idx="903">
                  <c:v>1</c:v>
                </c:pt>
                <c:pt idx="904">
                  <c:v>6</c:v>
                </c:pt>
                <c:pt idx="905">
                  <c:v>26</c:v>
                </c:pt>
                <c:pt idx="906">
                  <c:v>99</c:v>
                </c:pt>
                <c:pt idx="907">
                  <c:v>173</c:v>
                </c:pt>
                <c:pt idx="908">
                  <c:v>121</c:v>
                </c:pt>
                <c:pt idx="909">
                  <c:v>34</c:v>
                </c:pt>
                <c:pt idx="910">
                  <c:v>44</c:v>
                </c:pt>
                <c:pt idx="911">
                  <c:v>65</c:v>
                </c:pt>
                <c:pt idx="912">
                  <c:v>59</c:v>
                </c:pt>
                <c:pt idx="913">
                  <c:v>42</c:v>
                </c:pt>
                <c:pt idx="914">
                  <c:v>50</c:v>
                </c:pt>
                <c:pt idx="915">
                  <c:v>76</c:v>
                </c:pt>
                <c:pt idx="916">
                  <c:v>159</c:v>
                </c:pt>
                <c:pt idx="917">
                  <c:v>157</c:v>
                </c:pt>
                <c:pt idx="918">
                  <c:v>110</c:v>
                </c:pt>
                <c:pt idx="919">
                  <c:v>93</c:v>
                </c:pt>
                <c:pt idx="920">
                  <c:v>70</c:v>
                </c:pt>
                <c:pt idx="921">
                  <c:v>47</c:v>
                </c:pt>
                <c:pt idx="922">
                  <c:v>33</c:v>
                </c:pt>
                <c:pt idx="923">
                  <c:v>12</c:v>
                </c:pt>
                <c:pt idx="924">
                  <c:v>6</c:v>
                </c:pt>
                <c:pt idx="925">
                  <c:v>3</c:v>
                </c:pt>
                <c:pt idx="926">
                  <c:v>4</c:v>
                </c:pt>
                <c:pt idx="927">
                  <c:v>23</c:v>
                </c:pt>
                <c:pt idx="928">
                  <c:v>73</c:v>
                </c:pt>
                <c:pt idx="929">
                  <c:v>212</c:v>
                </c:pt>
                <c:pt idx="930">
                  <c:v>132</c:v>
                </c:pt>
                <c:pt idx="931">
                  <c:v>39</c:v>
                </c:pt>
                <c:pt idx="932">
                  <c:v>52</c:v>
                </c:pt>
                <c:pt idx="933">
                  <c:v>64</c:v>
                </c:pt>
                <c:pt idx="934">
                  <c:v>89</c:v>
                </c:pt>
                <c:pt idx="935">
                  <c:v>67</c:v>
                </c:pt>
                <c:pt idx="936">
                  <c:v>62</c:v>
                </c:pt>
                <c:pt idx="937">
                  <c:v>111</c:v>
                </c:pt>
                <c:pt idx="938">
                  <c:v>193</c:v>
                </c:pt>
                <c:pt idx="939">
                  <c:v>165</c:v>
                </c:pt>
                <c:pt idx="940">
                  <c:v>94</c:v>
                </c:pt>
                <c:pt idx="941">
                  <c:v>61</c:v>
                </c:pt>
                <c:pt idx="942">
                  <c:v>46</c:v>
                </c:pt>
                <c:pt idx="943">
                  <c:v>41</c:v>
                </c:pt>
                <c:pt idx="944">
                  <c:v>48</c:v>
                </c:pt>
                <c:pt idx="945">
                  <c:v>27</c:v>
                </c:pt>
                <c:pt idx="946">
                  <c:v>22</c:v>
                </c:pt>
                <c:pt idx="947">
                  <c:v>13</c:v>
                </c:pt>
                <c:pt idx="948">
                  <c:v>7</c:v>
                </c:pt>
                <c:pt idx="949">
                  <c:v>4</c:v>
                </c:pt>
                <c:pt idx="950">
                  <c:v>1</c:v>
                </c:pt>
                <c:pt idx="951">
                  <c:v>1</c:v>
                </c:pt>
                <c:pt idx="952">
                  <c:v>9</c:v>
                </c:pt>
                <c:pt idx="953">
                  <c:v>28</c:v>
                </c:pt>
                <c:pt idx="954">
                  <c:v>38</c:v>
                </c:pt>
                <c:pt idx="955">
                  <c:v>71</c:v>
                </c:pt>
                <c:pt idx="956">
                  <c:v>84</c:v>
                </c:pt>
                <c:pt idx="957">
                  <c:v>93</c:v>
                </c:pt>
                <c:pt idx="958">
                  <c:v>103</c:v>
                </c:pt>
                <c:pt idx="959">
                  <c:v>90</c:v>
                </c:pt>
                <c:pt idx="960">
                  <c:v>127</c:v>
                </c:pt>
                <c:pt idx="961">
                  <c:v>103</c:v>
                </c:pt>
                <c:pt idx="962">
                  <c:v>113</c:v>
                </c:pt>
                <c:pt idx="963">
                  <c:v>60</c:v>
                </c:pt>
                <c:pt idx="964">
                  <c:v>39</c:v>
                </c:pt>
                <c:pt idx="965">
                  <c:v>39</c:v>
                </c:pt>
                <c:pt idx="966">
                  <c:v>42</c:v>
                </c:pt>
                <c:pt idx="967">
                  <c:v>39</c:v>
                </c:pt>
                <c:pt idx="968">
                  <c:v>31</c:v>
                </c:pt>
                <c:pt idx="969">
                  <c:v>34</c:v>
                </c:pt>
                <c:pt idx="970">
                  <c:v>23</c:v>
                </c:pt>
                <c:pt idx="971">
                  <c:v>19</c:v>
                </c:pt>
                <c:pt idx="972">
                  <c:v>8</c:v>
                </c:pt>
                <c:pt idx="973">
                  <c:v>2</c:v>
                </c:pt>
                <c:pt idx="974">
                  <c:v>3</c:v>
                </c:pt>
                <c:pt idx="975">
                  <c:v>3</c:v>
                </c:pt>
                <c:pt idx="976">
                  <c:v>11</c:v>
                </c:pt>
                <c:pt idx="977">
                  <c:v>35</c:v>
                </c:pt>
                <c:pt idx="978">
                  <c:v>86</c:v>
                </c:pt>
                <c:pt idx="979">
                  <c:v>86</c:v>
                </c:pt>
                <c:pt idx="980">
                  <c:v>94</c:v>
                </c:pt>
                <c:pt idx="981">
                  <c:v>92</c:v>
                </c:pt>
                <c:pt idx="982">
                  <c:v>110</c:v>
                </c:pt>
                <c:pt idx="983">
                  <c:v>122</c:v>
                </c:pt>
                <c:pt idx="984">
                  <c:v>106</c:v>
                </c:pt>
                <c:pt idx="985">
                  <c:v>95</c:v>
                </c:pt>
                <c:pt idx="986">
                  <c:v>78</c:v>
                </c:pt>
                <c:pt idx="987">
                  <c:v>50</c:v>
                </c:pt>
                <c:pt idx="988">
                  <c:v>32</c:v>
                </c:pt>
                <c:pt idx="989">
                  <c:v>45</c:v>
                </c:pt>
                <c:pt idx="990">
                  <c:v>31</c:v>
                </c:pt>
                <c:pt idx="991">
                  <c:v>27</c:v>
                </c:pt>
                <c:pt idx="992">
                  <c:v>8</c:v>
                </c:pt>
                <c:pt idx="993">
                  <c:v>6</c:v>
                </c:pt>
                <c:pt idx="994">
                  <c:v>2</c:v>
                </c:pt>
                <c:pt idx="995">
                  <c:v>1</c:v>
                </c:pt>
                <c:pt idx="996">
                  <c:v>2</c:v>
                </c:pt>
                <c:pt idx="997">
                  <c:v>3</c:v>
                </c:pt>
                <c:pt idx="998">
                  <c:v>25</c:v>
                </c:pt>
                <c:pt idx="999">
                  <c:v>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91B-4F0D-8500-A3E288DF8F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47554543"/>
        <c:axId val="1847555023"/>
      </c:barChart>
      <c:catAx>
        <c:axId val="18475545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47555023"/>
        <c:crosses val="autoZero"/>
        <c:auto val="1"/>
        <c:lblAlgn val="ctr"/>
        <c:lblOffset val="100"/>
        <c:noMultiLvlLbl val="0"/>
      </c:catAx>
      <c:valAx>
        <c:axId val="18475550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RIGESTERED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475545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[PROJECT 1(all data).xlsx]Sheet4!PivotTable5</c:name>
    <c:fmtId val="37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Sheet4!$B$3</c:f>
              <c:strCache>
                <c:ptCount val="1"/>
                <c:pt idx="0">
                  <c:v>Average of hum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Sheet4!$A$4:$A$11</c:f>
              <c:strCache>
                <c:ptCount val="7"/>
                <c:pt idx="0">
                  <c:v>Sunday</c:v>
                </c:pt>
                <c:pt idx="1">
                  <c:v>Monday</c:v>
                </c:pt>
                <c:pt idx="2">
                  <c:v>Tuesday</c:v>
                </c:pt>
                <c:pt idx="3">
                  <c:v>Wednesday</c:v>
                </c:pt>
                <c:pt idx="4">
                  <c:v>Thursday</c:v>
                </c:pt>
                <c:pt idx="5">
                  <c:v>Friday</c:v>
                </c:pt>
                <c:pt idx="6">
                  <c:v>Saturday</c:v>
                </c:pt>
              </c:strCache>
            </c:strRef>
          </c:cat>
          <c:val>
            <c:numRef>
              <c:f>Sheet4!$B$4:$B$11</c:f>
              <c:numCache>
                <c:formatCode>0%</c:formatCode>
                <c:ptCount val="7"/>
                <c:pt idx="0">
                  <c:v>0.54176829268292603</c:v>
                </c:pt>
                <c:pt idx="1">
                  <c:v>0.54503355704697998</c:v>
                </c:pt>
                <c:pt idx="2">
                  <c:v>0.67086614173228387</c:v>
                </c:pt>
                <c:pt idx="3">
                  <c:v>0.64190839694656499</c:v>
                </c:pt>
                <c:pt idx="4">
                  <c:v>0.49407999999999985</c:v>
                </c:pt>
                <c:pt idx="5">
                  <c:v>0.56268115942028984</c:v>
                </c:pt>
                <c:pt idx="6">
                  <c:v>0.6248192771084341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AE-47CF-8934-387E1BAB3F91}"/>
            </c:ext>
          </c:extLst>
        </c:ser>
        <c:ser>
          <c:idx val="1"/>
          <c:order val="1"/>
          <c:tx>
            <c:strRef>
              <c:f>Sheet4!$C$3</c:f>
              <c:strCache>
                <c:ptCount val="1"/>
                <c:pt idx="0">
                  <c:v>Average of windspeed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Sheet4!$A$4:$A$11</c:f>
              <c:strCache>
                <c:ptCount val="7"/>
                <c:pt idx="0">
                  <c:v>Sunday</c:v>
                </c:pt>
                <c:pt idx="1">
                  <c:v>Monday</c:v>
                </c:pt>
                <c:pt idx="2">
                  <c:v>Tuesday</c:v>
                </c:pt>
                <c:pt idx="3">
                  <c:v>Wednesday</c:v>
                </c:pt>
                <c:pt idx="4">
                  <c:v>Thursday</c:v>
                </c:pt>
                <c:pt idx="5">
                  <c:v>Friday</c:v>
                </c:pt>
                <c:pt idx="6">
                  <c:v>Saturday</c:v>
                </c:pt>
              </c:strCache>
            </c:strRef>
          </c:cat>
          <c:val>
            <c:numRef>
              <c:f>Sheet4!$C$4:$C$11</c:f>
              <c:numCache>
                <c:formatCode>General</c:formatCode>
                <c:ptCount val="7"/>
                <c:pt idx="0">
                  <c:v>0.21769817073170741</c:v>
                </c:pt>
                <c:pt idx="1">
                  <c:v>0.18191006711409402</c:v>
                </c:pt>
                <c:pt idx="2">
                  <c:v>0.16559842519685042</c:v>
                </c:pt>
                <c:pt idx="3">
                  <c:v>0.23801603053435114</c:v>
                </c:pt>
                <c:pt idx="4">
                  <c:v>0.21111360000000004</c:v>
                </c:pt>
                <c:pt idx="5">
                  <c:v>0.16980724637681169</c:v>
                </c:pt>
                <c:pt idx="6">
                  <c:v>0.18126807228915676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DAE-47CF-8934-387E1BAB3F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31721904"/>
        <c:axId val="531729104"/>
      </c:barChart>
      <c:lineChart>
        <c:grouping val="standard"/>
        <c:varyColors val="0"/>
        <c:ser>
          <c:idx val="2"/>
          <c:order val="2"/>
          <c:tx>
            <c:strRef>
              <c:f>Sheet4!$D$3</c:f>
              <c:strCache>
                <c:ptCount val="1"/>
                <c:pt idx="0">
                  <c:v>Sum of registered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Sheet4!$A$4:$A$11</c:f>
              <c:strCache>
                <c:ptCount val="7"/>
                <c:pt idx="0">
                  <c:v>Sunday</c:v>
                </c:pt>
                <c:pt idx="1">
                  <c:v>Monday</c:v>
                </c:pt>
                <c:pt idx="2">
                  <c:v>Tuesday</c:v>
                </c:pt>
                <c:pt idx="3">
                  <c:v>Wednesday</c:v>
                </c:pt>
                <c:pt idx="4">
                  <c:v>Thursday</c:v>
                </c:pt>
                <c:pt idx="5">
                  <c:v>Friday</c:v>
                </c:pt>
                <c:pt idx="6">
                  <c:v>Saturday</c:v>
                </c:pt>
              </c:strCache>
            </c:strRef>
          </c:cat>
          <c:val>
            <c:numRef>
              <c:f>Sheet4!$D$4:$D$11</c:f>
              <c:numCache>
                <c:formatCode>General</c:formatCode>
                <c:ptCount val="7"/>
                <c:pt idx="0">
                  <c:v>6644</c:v>
                </c:pt>
                <c:pt idx="1">
                  <c:v>7916</c:v>
                </c:pt>
                <c:pt idx="2">
                  <c:v>7926</c:v>
                </c:pt>
                <c:pt idx="3">
                  <c:v>7705</c:v>
                </c:pt>
                <c:pt idx="4">
                  <c:v>8126</c:v>
                </c:pt>
                <c:pt idx="5">
                  <c:v>8543</c:v>
                </c:pt>
                <c:pt idx="6">
                  <c:v>6523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DAE-47CF-8934-387E1BAB3F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31723344"/>
        <c:axId val="531726704"/>
      </c:lineChart>
      <c:catAx>
        <c:axId val="5317219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1729104"/>
        <c:crosses val="autoZero"/>
        <c:auto val="1"/>
        <c:lblAlgn val="ctr"/>
        <c:lblOffset val="100"/>
        <c:noMultiLvlLbl val="0"/>
      </c:catAx>
      <c:valAx>
        <c:axId val="5317291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1721904"/>
        <c:crosses val="autoZero"/>
        <c:crossBetween val="between"/>
      </c:valAx>
      <c:valAx>
        <c:axId val="531726704"/>
        <c:scaling>
          <c:orientation val="minMax"/>
        </c:scaling>
        <c:delete val="0"/>
        <c:axPos val="r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1723344"/>
        <c:crosses val="max"/>
        <c:crossBetween val="between"/>
      </c:valAx>
      <c:catAx>
        <c:axId val="53172334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3172670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[PROJECT 1(all data).xlsx]Sheet1!PivotTable2</c:name>
    <c:fmtId val="2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Holiday effect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1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1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1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cked"/>
        <c:varyColors val="0"/>
        <c:ser>
          <c:idx val="0"/>
          <c:order val="0"/>
          <c:tx>
            <c:strRef>
              <c:f>Sheet1!$B$3</c:f>
              <c:strCache>
                <c:ptCount val="1"/>
                <c:pt idx="0">
                  <c:v>Total</c:v>
                </c:pt>
              </c:strCache>
            </c:strRef>
          </c:tx>
          <c:spPr>
            <a:ln w="317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1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multiLvlStrRef>
              <c:f>Sheet1!$A$4:$A$14</c:f>
              <c:multiLvlStrCache>
                <c:ptCount val="8"/>
                <c:lvl>
                  <c:pt idx="0">
                    <c:v>Sunday</c:v>
                  </c:pt>
                  <c:pt idx="1">
                    <c:v>Monday</c:v>
                  </c:pt>
                  <c:pt idx="2">
                    <c:v>Tuesday</c:v>
                  </c:pt>
                  <c:pt idx="3">
                    <c:v>Wednesday</c:v>
                  </c:pt>
                  <c:pt idx="4">
                    <c:v>Thursday</c:v>
                  </c:pt>
                  <c:pt idx="5">
                    <c:v>Friday</c:v>
                  </c:pt>
                  <c:pt idx="6">
                    <c:v>Saturday</c:v>
                  </c:pt>
                  <c:pt idx="7">
                    <c:v>Monday</c:v>
                  </c:pt>
                </c:lvl>
                <c:lvl>
                  <c:pt idx="0">
                    <c:v>NO</c:v>
                  </c:pt>
                  <c:pt idx="7">
                    <c:v>YES</c:v>
                  </c:pt>
                </c:lvl>
              </c:multiLvlStrCache>
            </c:multiLvlStrRef>
          </c:cat>
          <c:val>
            <c:numRef>
              <c:f>Sheet1!$B$4:$B$14</c:f>
              <c:numCache>
                <c:formatCode>General</c:formatCode>
                <c:ptCount val="8"/>
                <c:pt idx="0">
                  <c:v>8121</c:v>
                </c:pt>
                <c:pt idx="1">
                  <c:v>7450</c:v>
                </c:pt>
                <c:pt idx="2">
                  <c:v>8383</c:v>
                </c:pt>
                <c:pt idx="3">
                  <c:v>8049</c:v>
                </c:pt>
                <c:pt idx="4">
                  <c:v>8458</c:v>
                </c:pt>
                <c:pt idx="5">
                  <c:v>9095</c:v>
                </c:pt>
                <c:pt idx="6">
                  <c:v>7748</c:v>
                </c:pt>
                <c:pt idx="7">
                  <c:v>1000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698-4351-BBC4-17EEEFC5E44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140537823"/>
        <c:axId val="1140550303"/>
      </c:lineChart>
      <c:catAx>
        <c:axId val="11405378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40550303"/>
        <c:crosses val="autoZero"/>
        <c:auto val="1"/>
        <c:lblAlgn val="ctr"/>
        <c:lblOffset val="100"/>
        <c:noMultiLvlLbl val="0"/>
      </c:catAx>
      <c:valAx>
        <c:axId val="1140550303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1405378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ivotFmts>
      <c:pivotFmt>
        <c:idx val="0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6"/>
          </a:solidFill>
          <a:ln w="28575" cap="rnd">
            <a:solidFill>
              <a:schemeClr val="accent6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v>Average of hum</c:v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Lit>
              <c:ptCount val="45"/>
              <c:pt idx="0">
                <c:v>Jan 01-Jan</c:v>
              </c:pt>
              <c:pt idx="1">
                <c:v>Jan 02-Jan</c:v>
              </c:pt>
              <c:pt idx="2">
                <c:v>Jan 03-Jan</c:v>
              </c:pt>
              <c:pt idx="3">
                <c:v>Jan 04-Jan</c:v>
              </c:pt>
              <c:pt idx="4">
                <c:v>Jan 05-Jan</c:v>
              </c:pt>
              <c:pt idx="5">
                <c:v>Jan 06-Jan</c:v>
              </c:pt>
              <c:pt idx="6">
                <c:v>Jan 07-Jan</c:v>
              </c:pt>
              <c:pt idx="7">
                <c:v>Jan 08-Jan</c:v>
              </c:pt>
              <c:pt idx="8">
                <c:v>Jan 09-Jan</c:v>
              </c:pt>
              <c:pt idx="9">
                <c:v>Jan 10-Jan</c:v>
              </c:pt>
              <c:pt idx="10">
                <c:v>Jan 11-Jan</c:v>
              </c:pt>
              <c:pt idx="11">
                <c:v>Jan 12-Jan</c:v>
              </c:pt>
              <c:pt idx="12">
                <c:v>Jan 13-Jan</c:v>
              </c:pt>
              <c:pt idx="13">
                <c:v>Jan 14-Jan</c:v>
              </c:pt>
              <c:pt idx="14">
                <c:v>Jan 15-Jan</c:v>
              </c:pt>
              <c:pt idx="15">
                <c:v>Jan 16-Jan</c:v>
              </c:pt>
              <c:pt idx="16">
                <c:v>Jan 17-Jan</c:v>
              </c:pt>
              <c:pt idx="17">
                <c:v>Jan 18-Jan</c:v>
              </c:pt>
              <c:pt idx="18">
                <c:v>Jan 19-Jan</c:v>
              </c:pt>
              <c:pt idx="19">
                <c:v>Jan 20-Jan</c:v>
              </c:pt>
              <c:pt idx="20">
                <c:v>Jan 21-Jan</c:v>
              </c:pt>
              <c:pt idx="21">
                <c:v>Jan 22-Jan</c:v>
              </c:pt>
              <c:pt idx="22">
                <c:v>Jan 23-Jan</c:v>
              </c:pt>
              <c:pt idx="23">
                <c:v>Jan 24-Jan</c:v>
              </c:pt>
              <c:pt idx="24">
                <c:v>Jan 25-Jan</c:v>
              </c:pt>
              <c:pt idx="25">
                <c:v>Jan 26-Jan</c:v>
              </c:pt>
              <c:pt idx="26">
                <c:v>Jan 27-Jan</c:v>
              </c:pt>
              <c:pt idx="27">
                <c:v>Jan 28-Jan</c:v>
              </c:pt>
              <c:pt idx="28">
                <c:v>Jan 29-Jan</c:v>
              </c:pt>
              <c:pt idx="29">
                <c:v>Jan 30-Jan</c:v>
              </c:pt>
              <c:pt idx="30">
                <c:v>Jan 31-Jan</c:v>
              </c:pt>
              <c:pt idx="31">
                <c:v>Feb 01-Feb</c:v>
              </c:pt>
              <c:pt idx="32">
                <c:v>Feb 02-Feb</c:v>
              </c:pt>
              <c:pt idx="33">
                <c:v>Feb 03-Feb</c:v>
              </c:pt>
              <c:pt idx="34">
                <c:v>Feb 04-Feb</c:v>
              </c:pt>
              <c:pt idx="35">
                <c:v>Feb 05-Feb</c:v>
              </c:pt>
              <c:pt idx="36">
                <c:v>Feb 06-Feb</c:v>
              </c:pt>
              <c:pt idx="37">
                <c:v>Feb 07-Feb</c:v>
              </c:pt>
              <c:pt idx="38">
                <c:v>Feb 08-Feb</c:v>
              </c:pt>
              <c:pt idx="39">
                <c:v>Feb 09-Feb</c:v>
              </c:pt>
              <c:pt idx="40">
                <c:v>Feb 10-Feb</c:v>
              </c:pt>
              <c:pt idx="41">
                <c:v>Feb 11-Feb</c:v>
              </c:pt>
              <c:pt idx="42">
                <c:v>Feb 12-Feb</c:v>
              </c:pt>
              <c:pt idx="43">
                <c:v>Feb 13-Feb</c:v>
              </c:pt>
              <c:pt idx="44">
                <c:v>Feb 14-Feb</c:v>
              </c:pt>
            </c:strLit>
          </c:cat>
          <c:val>
            <c:numLit>
              <c:formatCode>General</c:formatCode>
              <c:ptCount val="45"/>
              <c:pt idx="0">
                <c:v>0.80583333333333351</c:v>
              </c:pt>
              <c:pt idx="1">
                <c:v>0.69608695652173924</c:v>
              </c:pt>
              <c:pt idx="2">
                <c:v>0.43727272727272726</c:v>
              </c:pt>
              <c:pt idx="3">
                <c:v>0.59043478260869575</c:v>
              </c:pt>
              <c:pt idx="4">
                <c:v>0.43695652173913052</c:v>
              </c:pt>
              <c:pt idx="5">
                <c:v>0.51826086956521744</c:v>
              </c:pt>
              <c:pt idx="6">
                <c:v>0.4986956521739131</c:v>
              </c:pt>
              <c:pt idx="7">
                <c:v>0.53583333333333327</c:v>
              </c:pt>
              <c:pt idx="8">
                <c:v>0.43416666666666681</c:v>
              </c:pt>
              <c:pt idx="9">
                <c:v>0.48291666666666672</c:v>
              </c:pt>
              <c:pt idx="10">
                <c:v>0.68636363636363618</c:v>
              </c:pt>
              <c:pt idx="11">
                <c:v>0.59954545454545471</c:v>
              </c:pt>
              <c:pt idx="12">
                <c:v>0.47041666666666687</c:v>
              </c:pt>
              <c:pt idx="13">
                <c:v>0.53782608695652179</c:v>
              </c:pt>
              <c:pt idx="14">
                <c:v>0.49874999999999997</c:v>
              </c:pt>
              <c:pt idx="15">
                <c:v>0.48375000000000012</c:v>
              </c:pt>
              <c:pt idx="16">
                <c:v>0.53749999999999998</c:v>
              </c:pt>
              <c:pt idx="17">
                <c:v>0.86166666666666669</c:v>
              </c:pt>
              <c:pt idx="18">
                <c:v>0.74173913043478235</c:v>
              </c:pt>
              <c:pt idx="19">
                <c:v>0.53833333333333344</c:v>
              </c:pt>
              <c:pt idx="20">
                <c:v>0.45708333333333345</c:v>
              </c:pt>
              <c:pt idx="21">
                <c:v>0.39999999999999997</c:v>
              </c:pt>
              <c:pt idx="22">
                <c:v>0.43652173913043485</c:v>
              </c:pt>
              <c:pt idx="23">
                <c:v>0.49173913043478273</c:v>
              </c:pt>
              <c:pt idx="24">
                <c:v>0.61695652173913051</c:v>
              </c:pt>
              <c:pt idx="25">
                <c:v>0.86249999999999982</c:v>
              </c:pt>
              <c:pt idx="26">
                <c:v>0.6875</c:v>
              </c:pt>
              <c:pt idx="27">
                <c:v>0.79304347826086963</c:v>
              </c:pt>
              <c:pt idx="28">
                <c:v>0.65173913043478249</c:v>
              </c:pt>
              <c:pt idx="29">
                <c:v>0.72217391304347822</c:v>
              </c:pt>
              <c:pt idx="30">
                <c:v>0.60375000000000001</c:v>
              </c:pt>
              <c:pt idx="31">
                <c:v>0.8295652173913044</c:v>
              </c:pt>
              <c:pt idx="32">
                <c:v>0.77541666666666664</c:v>
              </c:pt>
              <c:pt idx="33">
                <c:v>0.43782608695652192</c:v>
              </c:pt>
              <c:pt idx="34">
                <c:v>0.5852173913043478</c:v>
              </c:pt>
              <c:pt idx="35">
                <c:v>0.9291666666666667</c:v>
              </c:pt>
              <c:pt idx="36">
                <c:v>0.56833333333333347</c:v>
              </c:pt>
              <c:pt idx="37">
                <c:v>0.73833333333333317</c:v>
              </c:pt>
              <c:pt idx="38">
                <c:v>0.53791666666666671</c:v>
              </c:pt>
              <c:pt idx="39">
                <c:v>0.49478260869565222</c:v>
              </c:pt>
              <c:pt idx="40">
                <c:v>0.43739130434782603</c:v>
              </c:pt>
              <c:pt idx="41">
                <c:v>0.50636363636363635</c:v>
              </c:pt>
              <c:pt idx="42">
                <c:v>0.54416666666666669</c:v>
              </c:pt>
              <c:pt idx="43">
                <c:v>0.45739130434782593</c:v>
              </c:pt>
              <c:pt idx="44">
                <c:v>0.44750000000000001</c:v>
              </c:pt>
            </c:numLit>
          </c:val>
          <c:extLst>
            <c:ext xmlns:c16="http://schemas.microsoft.com/office/drawing/2014/chart" uri="{C3380CC4-5D6E-409C-BE32-E72D297353CC}">
              <c16:uniqueId val="{00000000-416F-499E-B917-ECE5B4CD49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31681104"/>
        <c:axId val="531681584"/>
      </c:barChart>
      <c:lineChart>
        <c:grouping val="standard"/>
        <c:varyColors val="0"/>
        <c:ser>
          <c:idx val="1"/>
          <c:order val="1"/>
          <c:tx>
            <c:v>Average of temp</c:v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strLit>
              <c:ptCount val="45"/>
              <c:pt idx="0">
                <c:v>Jan 01-Jan</c:v>
              </c:pt>
              <c:pt idx="1">
                <c:v>Jan 02-Jan</c:v>
              </c:pt>
              <c:pt idx="2">
                <c:v>Jan 03-Jan</c:v>
              </c:pt>
              <c:pt idx="3">
                <c:v>Jan 04-Jan</c:v>
              </c:pt>
              <c:pt idx="4">
                <c:v>Jan 05-Jan</c:v>
              </c:pt>
              <c:pt idx="5">
                <c:v>Jan 06-Jan</c:v>
              </c:pt>
              <c:pt idx="6">
                <c:v>Jan 07-Jan</c:v>
              </c:pt>
              <c:pt idx="7">
                <c:v>Jan 08-Jan</c:v>
              </c:pt>
              <c:pt idx="8">
                <c:v>Jan 09-Jan</c:v>
              </c:pt>
              <c:pt idx="9">
                <c:v>Jan 10-Jan</c:v>
              </c:pt>
              <c:pt idx="10">
                <c:v>Jan 11-Jan</c:v>
              </c:pt>
              <c:pt idx="11">
                <c:v>Jan 12-Jan</c:v>
              </c:pt>
              <c:pt idx="12">
                <c:v>Jan 13-Jan</c:v>
              </c:pt>
              <c:pt idx="13">
                <c:v>Jan 14-Jan</c:v>
              </c:pt>
              <c:pt idx="14">
                <c:v>Jan 15-Jan</c:v>
              </c:pt>
              <c:pt idx="15">
                <c:v>Jan 16-Jan</c:v>
              </c:pt>
              <c:pt idx="16">
                <c:v>Jan 17-Jan</c:v>
              </c:pt>
              <c:pt idx="17">
                <c:v>Jan 18-Jan</c:v>
              </c:pt>
              <c:pt idx="18">
                <c:v>Jan 19-Jan</c:v>
              </c:pt>
              <c:pt idx="19">
                <c:v>Jan 20-Jan</c:v>
              </c:pt>
              <c:pt idx="20">
                <c:v>Jan 21-Jan</c:v>
              </c:pt>
              <c:pt idx="21">
                <c:v>Jan 22-Jan</c:v>
              </c:pt>
              <c:pt idx="22">
                <c:v>Jan 23-Jan</c:v>
              </c:pt>
              <c:pt idx="23">
                <c:v>Jan 24-Jan</c:v>
              </c:pt>
              <c:pt idx="24">
                <c:v>Jan 25-Jan</c:v>
              </c:pt>
              <c:pt idx="25">
                <c:v>Jan 26-Jan</c:v>
              </c:pt>
              <c:pt idx="26">
                <c:v>Jan 27-Jan</c:v>
              </c:pt>
              <c:pt idx="27">
                <c:v>Jan 28-Jan</c:v>
              </c:pt>
              <c:pt idx="28">
                <c:v>Jan 29-Jan</c:v>
              </c:pt>
              <c:pt idx="29">
                <c:v>Jan 30-Jan</c:v>
              </c:pt>
              <c:pt idx="30">
                <c:v>Jan 31-Jan</c:v>
              </c:pt>
              <c:pt idx="31">
                <c:v>Feb 01-Feb</c:v>
              </c:pt>
              <c:pt idx="32">
                <c:v>Feb 02-Feb</c:v>
              </c:pt>
              <c:pt idx="33">
                <c:v>Feb 03-Feb</c:v>
              </c:pt>
              <c:pt idx="34">
                <c:v>Feb 04-Feb</c:v>
              </c:pt>
              <c:pt idx="35">
                <c:v>Feb 05-Feb</c:v>
              </c:pt>
              <c:pt idx="36">
                <c:v>Feb 06-Feb</c:v>
              </c:pt>
              <c:pt idx="37">
                <c:v>Feb 07-Feb</c:v>
              </c:pt>
              <c:pt idx="38">
                <c:v>Feb 08-Feb</c:v>
              </c:pt>
              <c:pt idx="39">
                <c:v>Feb 09-Feb</c:v>
              </c:pt>
              <c:pt idx="40">
                <c:v>Feb 10-Feb</c:v>
              </c:pt>
              <c:pt idx="41">
                <c:v>Feb 11-Feb</c:v>
              </c:pt>
              <c:pt idx="42">
                <c:v>Feb 12-Feb</c:v>
              </c:pt>
              <c:pt idx="43">
                <c:v>Feb 13-Feb</c:v>
              </c:pt>
              <c:pt idx="44">
                <c:v>Feb 14-Feb</c:v>
              </c:pt>
            </c:strLit>
          </c:cat>
          <c:val>
            <c:numLit>
              <c:formatCode>General</c:formatCode>
              <c:ptCount val="45"/>
              <c:pt idx="0">
                <c:v>0.34416666666666673</c:v>
              </c:pt>
              <c:pt idx="1">
                <c:v>0.36347826086956525</c:v>
              </c:pt>
              <c:pt idx="2">
                <c:v>0.19636363636363632</c:v>
              </c:pt>
              <c:pt idx="3">
                <c:v>0.19999999999999998</c:v>
              </c:pt>
              <c:pt idx="4">
                <c:v>0.22695652173913042</c:v>
              </c:pt>
              <c:pt idx="5">
                <c:v>0.20434782608695654</c:v>
              </c:pt>
              <c:pt idx="6">
                <c:v>0.19652173913043483</c:v>
              </c:pt>
              <c:pt idx="7">
                <c:v>0.16500000000000006</c:v>
              </c:pt>
              <c:pt idx="8">
                <c:v>0.13833333333333339</c:v>
              </c:pt>
              <c:pt idx="9">
                <c:v>0.1508333333333334</c:v>
              </c:pt>
              <c:pt idx="10">
                <c:v>0.16909090909090915</c:v>
              </c:pt>
              <c:pt idx="11">
                <c:v>0.17272727272727278</c:v>
              </c:pt>
              <c:pt idx="12">
                <c:v>0.16500000000000006</c:v>
              </c:pt>
              <c:pt idx="13">
                <c:v>0.16086956521739135</c:v>
              </c:pt>
              <c:pt idx="14">
                <c:v>0.23333333333333331</c:v>
              </c:pt>
              <c:pt idx="15">
                <c:v>0.23166666666666669</c:v>
              </c:pt>
              <c:pt idx="16">
                <c:v>0.1758333333333334</c:v>
              </c:pt>
              <c:pt idx="17">
                <c:v>0.2166666666666667</c:v>
              </c:pt>
              <c:pt idx="18">
                <c:v>0.29217391304347828</c:v>
              </c:pt>
              <c:pt idx="19">
                <c:v>0.26166666666666666</c:v>
              </c:pt>
              <c:pt idx="20">
                <c:v>0.17750000000000002</c:v>
              </c:pt>
              <c:pt idx="21">
                <c:v>5.9130434782608703E-2</c:v>
              </c:pt>
              <c:pt idx="22">
                <c:v>9.6521739130434797E-2</c:v>
              </c:pt>
              <c:pt idx="23">
                <c:v>9.7391304347826113E-2</c:v>
              </c:pt>
              <c:pt idx="24">
                <c:v>0.22347826086956515</c:v>
              </c:pt>
              <c:pt idx="25">
                <c:v>0.21750000000000005</c:v>
              </c:pt>
              <c:pt idx="26">
                <c:v>0.19499999999999998</c:v>
              </c:pt>
              <c:pt idx="27">
                <c:v>0.20347826086956528</c:v>
              </c:pt>
              <c:pt idx="28">
                <c:v>0.1965217391304348</c:v>
              </c:pt>
              <c:pt idx="29">
                <c:v>0.21652173913043476</c:v>
              </c:pt>
              <c:pt idx="30">
                <c:v>0.18083333333333337</c:v>
              </c:pt>
              <c:pt idx="31">
                <c:v>0.19217391304347831</c:v>
              </c:pt>
              <c:pt idx="32">
                <c:v>0.26</c:v>
              </c:pt>
              <c:pt idx="33">
                <c:v>0.18695652173913049</c:v>
              </c:pt>
              <c:pt idx="34">
                <c:v>0.21130434782608701</c:v>
              </c:pt>
              <c:pt idx="35">
                <c:v>0.23333333333333336</c:v>
              </c:pt>
              <c:pt idx="36">
                <c:v>0.28583333333333333</c:v>
              </c:pt>
              <c:pt idx="37">
                <c:v>0.27166666666666667</c:v>
              </c:pt>
              <c:pt idx="38">
                <c:v>0.22083333333333341</c:v>
              </c:pt>
              <c:pt idx="39">
                <c:v>0.1347826086956522</c:v>
              </c:pt>
              <c:pt idx="40">
                <c:v>0.14434782608695657</c:v>
              </c:pt>
              <c:pt idx="41">
                <c:v>0.18909090909090909</c:v>
              </c:pt>
              <c:pt idx="42">
                <c:v>0.22249999999999995</c:v>
              </c:pt>
              <c:pt idx="43">
                <c:v>0.31652173913043485</c:v>
              </c:pt>
              <c:pt idx="44">
                <c:v>0.34749999999999998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416F-499E-B917-ECE5B4CD49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31682544"/>
        <c:axId val="531684944"/>
      </c:lineChart>
      <c:catAx>
        <c:axId val="5316811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1681584"/>
        <c:crosses val="autoZero"/>
        <c:auto val="1"/>
        <c:lblAlgn val="ctr"/>
        <c:lblOffset val="100"/>
        <c:noMultiLvlLbl val="0"/>
      </c:catAx>
      <c:valAx>
        <c:axId val="5316815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1681104"/>
        <c:crosses val="autoZero"/>
        <c:crossBetween val="between"/>
      </c:valAx>
      <c:valAx>
        <c:axId val="531684944"/>
        <c:scaling>
          <c:orientation val="minMax"/>
        </c:scaling>
        <c:delete val="0"/>
        <c:axPos val="r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1682544"/>
        <c:crosses val="max"/>
        <c:crossBetween val="between"/>
      </c:valAx>
      <c:catAx>
        <c:axId val="53168254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3168494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>
      <cs:styleClr val="auto"/>
    </cs:fillRef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7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953000" cy="4730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473825" y="0"/>
            <a:ext cx="4953000" cy="4730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72F103-4B87-409D-9D31-749DAD23182A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776663" y="1181100"/>
            <a:ext cx="3876675" cy="31861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143000" y="4543425"/>
            <a:ext cx="9144000" cy="371951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69375"/>
            <a:ext cx="4953000" cy="4730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473825" y="8969375"/>
            <a:ext cx="4953000" cy="4730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0F422F-D123-4269-B0A2-0950F719DE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6214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0F422F-D123-4269-B0A2-0950F719DE71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27911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88287"/>
            <a:ext cx="9715500" cy="51297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34" b="0" i="0">
                <a:solidFill>
                  <a:srgbClr val="114E72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591742"/>
            <a:ext cx="8001000" cy="2066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43" b="0" i="0">
                <a:solidFill>
                  <a:srgbClr val="2B404F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34" b="0" i="0">
                <a:solidFill>
                  <a:srgbClr val="114E72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343" b="0" i="0">
                <a:solidFill>
                  <a:srgbClr val="2B404F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"/>
            <a:ext cx="11430000" cy="9383775"/>
          </a:xfrm>
          <a:custGeom>
            <a:avLst/>
            <a:gdLst/>
            <a:ahLst/>
            <a:cxnLst/>
            <a:rect l="l" t="t" r="r" b="b"/>
            <a:pathLst>
              <a:path w="11430000" h="9429750">
                <a:moveTo>
                  <a:pt x="11430000" y="0"/>
                </a:moveTo>
                <a:lnTo>
                  <a:pt x="0" y="0"/>
                </a:lnTo>
                <a:lnTo>
                  <a:pt x="0" y="9429750"/>
                </a:lnTo>
                <a:lnTo>
                  <a:pt x="11430000" y="942975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FFC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34" b="0" i="0">
                <a:solidFill>
                  <a:srgbClr val="114E72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71500" y="1475180"/>
            <a:ext cx="4972050" cy="2069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886450" y="1475180"/>
            <a:ext cx="4972050" cy="2069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34" b="0" i="0">
                <a:solidFill>
                  <a:srgbClr val="114E72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7375" y="451812"/>
            <a:ext cx="10255250" cy="5136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114E72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56060" y="2059375"/>
            <a:ext cx="5588634" cy="2069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0" i="0">
                <a:solidFill>
                  <a:srgbClr val="2B404F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86200" y="5964858"/>
            <a:ext cx="3657600" cy="27597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71500" y="5964858"/>
            <a:ext cx="2628900" cy="27597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29600" y="5964858"/>
            <a:ext cx="2628900" cy="27597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4961">
        <a:defRPr>
          <a:latin typeface="+mn-lt"/>
          <a:ea typeface="+mn-ea"/>
          <a:cs typeface="+mn-cs"/>
        </a:defRPr>
      </a:lvl2pPr>
      <a:lvl3pPr marL="909924">
        <a:defRPr>
          <a:latin typeface="+mn-lt"/>
          <a:ea typeface="+mn-ea"/>
          <a:cs typeface="+mn-cs"/>
        </a:defRPr>
      </a:lvl3pPr>
      <a:lvl4pPr marL="1364885">
        <a:defRPr>
          <a:latin typeface="+mn-lt"/>
          <a:ea typeface="+mn-ea"/>
          <a:cs typeface="+mn-cs"/>
        </a:defRPr>
      </a:lvl4pPr>
      <a:lvl5pPr marL="1819847">
        <a:defRPr>
          <a:latin typeface="+mn-lt"/>
          <a:ea typeface="+mn-ea"/>
          <a:cs typeface="+mn-cs"/>
        </a:defRPr>
      </a:lvl5pPr>
      <a:lvl6pPr marL="2274809">
        <a:defRPr>
          <a:latin typeface="+mn-lt"/>
          <a:ea typeface="+mn-ea"/>
          <a:cs typeface="+mn-cs"/>
        </a:defRPr>
      </a:lvl6pPr>
      <a:lvl7pPr marL="2729770">
        <a:defRPr>
          <a:latin typeface="+mn-lt"/>
          <a:ea typeface="+mn-ea"/>
          <a:cs typeface="+mn-cs"/>
        </a:defRPr>
      </a:lvl7pPr>
      <a:lvl8pPr marL="3184733">
        <a:defRPr>
          <a:latin typeface="+mn-lt"/>
          <a:ea typeface="+mn-ea"/>
          <a:cs typeface="+mn-cs"/>
        </a:defRPr>
      </a:lvl8pPr>
      <a:lvl9pPr marL="3639694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4961">
        <a:defRPr>
          <a:latin typeface="+mn-lt"/>
          <a:ea typeface="+mn-ea"/>
          <a:cs typeface="+mn-cs"/>
        </a:defRPr>
      </a:lvl2pPr>
      <a:lvl3pPr marL="909924">
        <a:defRPr>
          <a:latin typeface="+mn-lt"/>
          <a:ea typeface="+mn-ea"/>
          <a:cs typeface="+mn-cs"/>
        </a:defRPr>
      </a:lvl3pPr>
      <a:lvl4pPr marL="1364885">
        <a:defRPr>
          <a:latin typeface="+mn-lt"/>
          <a:ea typeface="+mn-ea"/>
          <a:cs typeface="+mn-cs"/>
        </a:defRPr>
      </a:lvl4pPr>
      <a:lvl5pPr marL="1819847">
        <a:defRPr>
          <a:latin typeface="+mn-lt"/>
          <a:ea typeface="+mn-ea"/>
          <a:cs typeface="+mn-cs"/>
        </a:defRPr>
      </a:lvl5pPr>
      <a:lvl6pPr marL="2274809">
        <a:defRPr>
          <a:latin typeface="+mn-lt"/>
          <a:ea typeface="+mn-ea"/>
          <a:cs typeface="+mn-cs"/>
        </a:defRPr>
      </a:lvl6pPr>
      <a:lvl7pPr marL="2729770">
        <a:defRPr>
          <a:latin typeface="+mn-lt"/>
          <a:ea typeface="+mn-ea"/>
          <a:cs typeface="+mn-cs"/>
        </a:defRPr>
      </a:lvl7pPr>
      <a:lvl8pPr marL="3184733">
        <a:defRPr>
          <a:latin typeface="+mn-lt"/>
          <a:ea typeface="+mn-ea"/>
          <a:cs typeface="+mn-cs"/>
        </a:defRPr>
      </a:lvl8pPr>
      <a:lvl9pPr marL="3639694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7" Type="http://schemas.openxmlformats.org/officeDocument/2006/relationships/chart" Target="../charts/chart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864" y="-1"/>
            <a:ext cx="11374272" cy="9396161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FFCF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864" y="252"/>
            <a:ext cx="5153736" cy="896515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715000" y="2183606"/>
            <a:ext cx="4525697" cy="1058949"/>
          </a:xfrm>
          <a:prstGeom prst="rect">
            <a:avLst/>
          </a:prstGeom>
        </p:spPr>
        <p:txBody>
          <a:bodyPr vert="horz" wrap="square" lIns="0" tIns="12006" rIns="0" bIns="0" rtlCol="0">
            <a:spAutoFit/>
          </a:bodyPr>
          <a:lstStyle/>
          <a:p>
            <a:pPr marL="12638" marR="5055">
              <a:lnSpc>
                <a:spcPct val="106300"/>
              </a:lnSpc>
              <a:spcBef>
                <a:spcPts val="95"/>
              </a:spcBef>
            </a:pPr>
            <a:r>
              <a:rPr lang="en-IN" spc="144" dirty="0"/>
              <a:t>Bike</a:t>
            </a:r>
            <a:r>
              <a:rPr lang="en-IN" spc="15" dirty="0"/>
              <a:t> </a:t>
            </a:r>
            <a:r>
              <a:rPr lang="en-IN" spc="144" dirty="0"/>
              <a:t>Sharing</a:t>
            </a:r>
            <a:r>
              <a:rPr lang="en-IN" spc="15" dirty="0"/>
              <a:t> </a:t>
            </a:r>
            <a:r>
              <a:rPr lang="en-IN" spc="199" dirty="0"/>
              <a:t>Demand </a:t>
            </a:r>
            <a:r>
              <a:rPr lang="en-IN" spc="174" dirty="0"/>
              <a:t>Analysis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715000" y="3555206"/>
            <a:ext cx="2883378" cy="532219"/>
          </a:xfrm>
          <a:prstGeom prst="rect">
            <a:avLst/>
          </a:prstGeom>
        </p:spPr>
        <p:txBody>
          <a:bodyPr vert="horz" wrap="square" lIns="0" tIns="12638" rIns="0" bIns="0" rtlCol="0">
            <a:spAutoFit/>
          </a:bodyPr>
          <a:lstStyle/>
          <a:p>
            <a:pPr marL="12638" marR="5055">
              <a:lnSpc>
                <a:spcPct val="134300"/>
              </a:lnSpc>
              <a:spcBef>
                <a:spcPts val="100"/>
              </a:spcBef>
            </a:pPr>
            <a:r>
              <a:rPr sz="1343" spc="-50" dirty="0">
                <a:solidFill>
                  <a:srgbClr val="2B404F"/>
                </a:solidFill>
                <a:latin typeface="Tahoma"/>
                <a:cs typeface="Tahoma"/>
              </a:rPr>
              <a:t>Dataset</a:t>
            </a:r>
            <a:r>
              <a:rPr sz="1343" spc="-12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10" dirty="0">
                <a:solidFill>
                  <a:srgbClr val="2B404F"/>
                </a:solidFill>
                <a:latin typeface="Tahoma"/>
                <a:cs typeface="Tahoma"/>
              </a:rPr>
              <a:t>B</a:t>
            </a:r>
            <a:r>
              <a:rPr sz="1343" spc="-12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45" dirty="0">
                <a:solidFill>
                  <a:srgbClr val="2B404F"/>
                </a:solidFill>
                <a:latin typeface="Tahoma"/>
                <a:cs typeface="Tahoma"/>
              </a:rPr>
              <a:t>(Final)</a:t>
            </a:r>
            <a:r>
              <a:rPr sz="1343" spc="-12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105" dirty="0">
                <a:solidFill>
                  <a:srgbClr val="2B404F"/>
                </a:solidFill>
                <a:latin typeface="Tahoma"/>
                <a:cs typeface="Tahoma"/>
              </a:rPr>
              <a:t>–</a:t>
            </a:r>
            <a:r>
              <a:rPr sz="1343" spc="-12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50" dirty="0">
                <a:solidFill>
                  <a:srgbClr val="2B404F"/>
                </a:solidFill>
                <a:latin typeface="Tahoma"/>
                <a:cs typeface="Tahoma"/>
              </a:rPr>
              <a:t>Winter</a:t>
            </a:r>
            <a:r>
              <a:rPr sz="1343" spc="-12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80" dirty="0">
                <a:solidFill>
                  <a:srgbClr val="2B404F"/>
                </a:solidFill>
                <a:latin typeface="Tahoma"/>
                <a:cs typeface="Tahoma"/>
              </a:rPr>
              <a:t>2011</a:t>
            </a:r>
            <a:r>
              <a:rPr sz="1343" spc="-12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25" dirty="0">
                <a:solidFill>
                  <a:srgbClr val="2B404F"/>
                </a:solidFill>
                <a:latin typeface="Tahoma"/>
                <a:cs typeface="Tahoma"/>
              </a:rPr>
              <a:t>Overview </a:t>
            </a:r>
            <a:r>
              <a:rPr sz="1343" spc="-10" dirty="0">
                <a:solidFill>
                  <a:srgbClr val="2B404F"/>
                </a:solidFill>
                <a:latin typeface="Tahoma"/>
                <a:cs typeface="Tahoma"/>
              </a:rPr>
              <a:t>January</a:t>
            </a:r>
            <a:r>
              <a:rPr sz="1343" spc="-13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80" dirty="0">
                <a:solidFill>
                  <a:srgbClr val="2B404F"/>
                </a:solidFill>
                <a:latin typeface="Tahoma"/>
                <a:cs typeface="Tahoma"/>
              </a:rPr>
              <a:t>1-</a:t>
            </a:r>
            <a:r>
              <a:rPr sz="1343" spc="-85" dirty="0">
                <a:solidFill>
                  <a:srgbClr val="2B404F"/>
                </a:solidFill>
                <a:latin typeface="Tahoma"/>
                <a:cs typeface="Tahoma"/>
              </a:rPr>
              <a:t>20,</a:t>
            </a:r>
            <a:r>
              <a:rPr sz="1343" spc="-13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20" dirty="0">
                <a:solidFill>
                  <a:srgbClr val="2B404F"/>
                </a:solidFill>
                <a:latin typeface="Tahoma"/>
                <a:cs typeface="Tahoma"/>
              </a:rPr>
              <a:t>2011</a:t>
            </a:r>
            <a:endParaRPr sz="1343" dirty="0">
              <a:latin typeface="Tahoma"/>
              <a:cs typeface="Tahom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FDFCC7-FACB-C8F2-3C3D-F3136FB909A0}"/>
              </a:ext>
            </a:extLst>
          </p:cNvPr>
          <p:cNvSpPr txBox="1"/>
          <p:nvPr/>
        </p:nvSpPr>
        <p:spPr>
          <a:xfrm>
            <a:off x="5562600" y="583406"/>
            <a:ext cx="46780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>
                <a:solidFill>
                  <a:srgbClr val="C00000"/>
                </a:solidFill>
                <a:latin typeface="Book Antiqua" panose="02040602050305030304" pitchFamily="18" charset="0"/>
              </a:rPr>
              <a:t>Nexthikes</a:t>
            </a:r>
            <a:r>
              <a:rPr lang="en-US" sz="3600" dirty="0">
                <a:solidFill>
                  <a:srgbClr val="C00000"/>
                </a:solidFill>
                <a:latin typeface="Book Antiqua" panose="02040602050305030304" pitchFamily="18" charset="0"/>
              </a:rPr>
              <a:t> IT Solution</a:t>
            </a:r>
            <a:endParaRPr lang="en-IN" sz="3600" dirty="0">
              <a:solidFill>
                <a:srgbClr val="C00000"/>
              </a:solidFill>
              <a:latin typeface="Book Antiqua" panose="0204060205030503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41BA07-63F4-7885-B650-F7009B1606CD}"/>
              </a:ext>
            </a:extLst>
          </p:cNvPr>
          <p:cNvSpPr txBox="1"/>
          <p:nvPr/>
        </p:nvSpPr>
        <p:spPr>
          <a:xfrm>
            <a:off x="8335697" y="7847283"/>
            <a:ext cx="381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From:</a:t>
            </a:r>
            <a:r>
              <a:rPr lang="en-IN" dirty="0"/>
              <a:t> Palvinder Singh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864" y="-1"/>
            <a:ext cx="11374272" cy="9396413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6438900"/>
                </a:moveTo>
                <a:lnTo>
                  <a:pt x="0" y="6438900"/>
                </a:lnTo>
                <a:lnTo>
                  <a:pt x="0" y="0"/>
                </a:lnTo>
                <a:lnTo>
                  <a:pt x="11430000" y="0"/>
                </a:lnTo>
                <a:lnTo>
                  <a:pt x="11430000" y="6438900"/>
                </a:lnTo>
                <a:close/>
              </a:path>
            </a:pathLst>
          </a:custGeom>
          <a:solidFill>
            <a:srgbClr val="FFFB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04801" y="777878"/>
            <a:ext cx="1656690" cy="662863"/>
          </a:xfrm>
          <a:custGeom>
            <a:avLst/>
            <a:gdLst/>
            <a:ahLst/>
            <a:cxnLst/>
            <a:rect l="l" t="t" r="r" b="b"/>
            <a:pathLst>
              <a:path w="1343025" h="314325">
                <a:moveTo>
                  <a:pt x="1328156" y="314325"/>
                </a:moveTo>
                <a:lnTo>
                  <a:pt x="14871" y="314325"/>
                </a:lnTo>
                <a:lnTo>
                  <a:pt x="12684" y="313886"/>
                </a:lnTo>
                <a:lnTo>
                  <a:pt x="0" y="299456"/>
                </a:lnTo>
                <a:lnTo>
                  <a:pt x="0" y="297179"/>
                </a:lnTo>
                <a:lnTo>
                  <a:pt x="0" y="14868"/>
                </a:lnTo>
                <a:lnTo>
                  <a:pt x="14871" y="0"/>
                </a:lnTo>
                <a:lnTo>
                  <a:pt x="1328156" y="0"/>
                </a:lnTo>
                <a:lnTo>
                  <a:pt x="1343025" y="14868"/>
                </a:lnTo>
                <a:lnTo>
                  <a:pt x="1343025" y="299456"/>
                </a:lnTo>
                <a:lnTo>
                  <a:pt x="1330337" y="313886"/>
                </a:lnTo>
                <a:lnTo>
                  <a:pt x="1328156" y="314325"/>
                </a:lnTo>
                <a:close/>
              </a:path>
            </a:pathLst>
          </a:custGeom>
          <a:solidFill>
            <a:srgbClr val="DAE7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4621" y="777878"/>
            <a:ext cx="1336477" cy="632144"/>
          </a:xfrm>
          <a:prstGeom prst="rect">
            <a:avLst/>
          </a:prstGeom>
        </p:spPr>
        <p:txBody>
          <a:bodyPr vert="horz" wrap="square" lIns="0" tIns="16430" rIns="0" bIns="0" rtlCol="0">
            <a:spAutoFit/>
          </a:bodyPr>
          <a:lstStyle/>
          <a:p>
            <a:pPr marL="12638">
              <a:spcBef>
                <a:spcPts val="130"/>
              </a:spcBef>
            </a:pPr>
            <a:r>
              <a:rPr sz="2000" spc="-60" dirty="0">
                <a:solidFill>
                  <a:srgbClr val="2A404F"/>
                </a:solidFill>
                <a:latin typeface="Tahoma"/>
                <a:cs typeface="Tahoma"/>
              </a:rPr>
              <a:t>DATASET</a:t>
            </a:r>
            <a:r>
              <a:rPr sz="1600" spc="-8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2000" spc="-50" dirty="0">
                <a:solidFill>
                  <a:srgbClr val="2A404F"/>
                </a:solidFill>
                <a:latin typeface="Tahoma"/>
                <a:cs typeface="Tahoma"/>
              </a:rPr>
              <a:t>OVERVIEW</a:t>
            </a:r>
            <a:endParaRPr sz="1600" dirty="0">
              <a:latin typeface="Tahoma"/>
              <a:cs typeface="Tahom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12375" y="1494453"/>
            <a:ext cx="5098202" cy="537119"/>
          </a:xfrm>
          <a:prstGeom prst="rect">
            <a:avLst/>
          </a:prstGeom>
        </p:spPr>
        <p:txBody>
          <a:bodyPr vert="horz" wrap="square" lIns="0" tIns="15797" rIns="0" bIns="0" rtlCol="0">
            <a:spAutoFit/>
          </a:bodyPr>
          <a:lstStyle/>
          <a:p>
            <a:pPr marL="12638">
              <a:spcBef>
                <a:spcPts val="125"/>
              </a:spcBef>
            </a:pPr>
            <a:r>
              <a:rPr spc="184" dirty="0">
                <a:solidFill>
                  <a:srgbClr val="124E73"/>
                </a:solidFill>
              </a:rPr>
              <a:t>Understanding</a:t>
            </a:r>
            <a:r>
              <a:rPr spc="5" dirty="0">
                <a:solidFill>
                  <a:srgbClr val="124E73"/>
                </a:solidFill>
              </a:rPr>
              <a:t> </a:t>
            </a:r>
            <a:r>
              <a:rPr spc="130" dirty="0">
                <a:solidFill>
                  <a:srgbClr val="124E73"/>
                </a:solidFill>
              </a:rPr>
              <a:t>Our</a:t>
            </a:r>
            <a:r>
              <a:rPr spc="10" dirty="0">
                <a:solidFill>
                  <a:srgbClr val="124E73"/>
                </a:solidFill>
              </a:rPr>
              <a:t> </a:t>
            </a:r>
            <a:r>
              <a:rPr spc="214" dirty="0">
                <a:solidFill>
                  <a:srgbClr val="124E73"/>
                </a:solidFill>
              </a:rPr>
              <a:t>Data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12375" y="2381644"/>
            <a:ext cx="4501375" cy="6104156"/>
          </a:xfrm>
          <a:prstGeom prst="rect">
            <a:avLst/>
          </a:prstGeom>
        </p:spPr>
        <p:txBody>
          <a:bodyPr vert="horz" wrap="square" lIns="0" tIns="15797" rIns="0" bIns="0" rtlCol="0">
            <a:spAutoFit/>
          </a:bodyPr>
          <a:lstStyle/>
          <a:p>
            <a:pPr marL="12638" marR="45496">
              <a:lnSpc>
                <a:spcPct val="132700"/>
              </a:lnSpc>
              <a:spcBef>
                <a:spcPts val="125"/>
              </a:spcBef>
            </a:pPr>
            <a:r>
              <a:rPr sz="2400" spc="-25" dirty="0">
                <a:solidFill>
                  <a:srgbClr val="2A404F"/>
                </a:solidFill>
                <a:latin typeface="Tahoma"/>
                <a:cs typeface="Tahoma"/>
              </a:rPr>
              <a:t>Hourly</a:t>
            </a:r>
            <a:r>
              <a:rPr sz="2400" spc="-11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2400" spc="-30" dirty="0">
                <a:solidFill>
                  <a:srgbClr val="2A404F"/>
                </a:solidFill>
                <a:latin typeface="Tahoma"/>
                <a:cs typeface="Tahoma"/>
              </a:rPr>
              <a:t>rental</a:t>
            </a:r>
            <a:r>
              <a:rPr sz="2400" spc="-11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2400" spc="-40" dirty="0">
                <a:solidFill>
                  <a:srgbClr val="2A404F"/>
                </a:solidFill>
                <a:latin typeface="Tahoma"/>
                <a:cs typeface="Tahoma"/>
              </a:rPr>
              <a:t>data</a:t>
            </a:r>
            <a:r>
              <a:rPr sz="2400" spc="-11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2400" spc="-30" dirty="0">
                <a:solidFill>
                  <a:srgbClr val="2A404F"/>
                </a:solidFill>
                <a:latin typeface="Tahoma"/>
                <a:cs typeface="Tahoma"/>
              </a:rPr>
              <a:t>from</a:t>
            </a:r>
            <a:r>
              <a:rPr sz="2400" spc="-11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2400" spc="-45" dirty="0">
                <a:solidFill>
                  <a:srgbClr val="2A404F"/>
                </a:solidFill>
                <a:latin typeface="Tahoma"/>
                <a:cs typeface="Tahoma"/>
              </a:rPr>
              <a:t>a</a:t>
            </a:r>
            <a:r>
              <a:rPr sz="2400" spc="-11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2400" spc="-35" dirty="0">
                <a:solidFill>
                  <a:srgbClr val="2A404F"/>
                </a:solidFill>
                <a:latin typeface="Tahoma"/>
                <a:cs typeface="Tahoma"/>
              </a:rPr>
              <a:t>bike-sharing</a:t>
            </a:r>
            <a:r>
              <a:rPr sz="2400" spc="-11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2400" spc="-45" dirty="0">
                <a:solidFill>
                  <a:srgbClr val="2A404F"/>
                </a:solidFill>
                <a:latin typeface="Tahoma"/>
                <a:cs typeface="Tahoma"/>
              </a:rPr>
              <a:t>system</a:t>
            </a:r>
            <a:r>
              <a:rPr sz="2400" spc="-11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2400" spc="-35" dirty="0">
                <a:solidFill>
                  <a:srgbClr val="2A404F"/>
                </a:solidFill>
                <a:latin typeface="Tahoma"/>
                <a:cs typeface="Tahoma"/>
              </a:rPr>
              <a:t>spanning</a:t>
            </a:r>
            <a:r>
              <a:rPr sz="2400" spc="-11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2400" spc="-30" dirty="0">
                <a:solidFill>
                  <a:srgbClr val="2A404F"/>
                </a:solidFill>
                <a:latin typeface="Tahoma"/>
                <a:cs typeface="Tahoma"/>
              </a:rPr>
              <a:t>the</a:t>
            </a:r>
            <a:r>
              <a:rPr sz="2400" spc="-11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2400" spc="-30" dirty="0">
                <a:solidFill>
                  <a:srgbClr val="2A404F"/>
                </a:solidFill>
                <a:latin typeface="Tahoma"/>
                <a:cs typeface="Tahoma"/>
              </a:rPr>
              <a:t>first</a:t>
            </a:r>
            <a:r>
              <a:rPr sz="2400" spc="-11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2400" spc="-25" dirty="0">
                <a:solidFill>
                  <a:srgbClr val="2A404F"/>
                </a:solidFill>
                <a:latin typeface="Tahoma"/>
                <a:cs typeface="Tahoma"/>
              </a:rPr>
              <a:t>20 </a:t>
            </a:r>
            <a:r>
              <a:rPr sz="2400" spc="-40" dirty="0">
                <a:solidFill>
                  <a:srgbClr val="2A404F"/>
                </a:solidFill>
                <a:latin typeface="Tahoma"/>
                <a:cs typeface="Tahoma"/>
              </a:rPr>
              <a:t>days</a:t>
            </a:r>
            <a:r>
              <a:rPr sz="2400" spc="-13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2400" spc="-30" dirty="0">
                <a:solidFill>
                  <a:srgbClr val="2A404F"/>
                </a:solidFill>
                <a:latin typeface="Tahoma"/>
                <a:cs typeface="Tahoma"/>
              </a:rPr>
              <a:t>of</a:t>
            </a:r>
            <a:r>
              <a:rPr sz="2400" spc="-12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2A404F"/>
                </a:solidFill>
                <a:latin typeface="Tahoma"/>
                <a:cs typeface="Tahoma"/>
              </a:rPr>
              <a:t>January</a:t>
            </a:r>
            <a:r>
              <a:rPr sz="2400" spc="-12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2400" spc="-80" dirty="0">
                <a:solidFill>
                  <a:srgbClr val="2A404F"/>
                </a:solidFill>
                <a:latin typeface="Tahoma"/>
                <a:cs typeface="Tahoma"/>
              </a:rPr>
              <a:t>2011.</a:t>
            </a:r>
            <a:r>
              <a:rPr sz="2400" spc="-12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2400" spc="-55" dirty="0">
                <a:solidFill>
                  <a:srgbClr val="2A404F"/>
                </a:solidFill>
                <a:latin typeface="Tahoma"/>
                <a:cs typeface="Tahoma"/>
              </a:rPr>
              <a:t>The</a:t>
            </a:r>
            <a:r>
              <a:rPr sz="2400" spc="-12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2800" spc="-40" dirty="0">
                <a:solidFill>
                  <a:srgbClr val="2A404F"/>
                </a:solidFill>
                <a:latin typeface="Tahoma"/>
                <a:cs typeface="Tahoma"/>
              </a:rPr>
              <a:t>dataset</a:t>
            </a:r>
            <a:r>
              <a:rPr sz="2400" spc="-12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2400" spc="-35" dirty="0">
                <a:solidFill>
                  <a:srgbClr val="2A404F"/>
                </a:solidFill>
                <a:latin typeface="Tahoma"/>
                <a:cs typeface="Tahoma"/>
              </a:rPr>
              <a:t>captures</a:t>
            </a:r>
            <a:r>
              <a:rPr sz="2400" spc="-13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2400" spc="-179" dirty="0">
                <a:solidFill>
                  <a:srgbClr val="2A404F"/>
                </a:solidFill>
                <a:latin typeface="Tahoma"/>
                <a:cs typeface="Tahoma"/>
              </a:rPr>
              <a:t>~450+</a:t>
            </a:r>
            <a:r>
              <a:rPr sz="2400" spc="-12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2400" spc="-20" dirty="0">
                <a:solidFill>
                  <a:srgbClr val="2A404F"/>
                </a:solidFill>
                <a:latin typeface="Tahoma"/>
                <a:cs typeface="Tahoma"/>
              </a:rPr>
              <a:t>hourly</a:t>
            </a:r>
            <a:r>
              <a:rPr sz="2400" spc="-12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2A404F"/>
                </a:solidFill>
                <a:latin typeface="Tahoma"/>
                <a:cs typeface="Tahoma"/>
              </a:rPr>
              <a:t>records </a:t>
            </a:r>
            <a:r>
              <a:rPr sz="2400" spc="-25" dirty="0">
                <a:solidFill>
                  <a:srgbClr val="2A404F"/>
                </a:solidFill>
                <a:latin typeface="Tahoma"/>
                <a:cs typeface="Tahoma"/>
              </a:rPr>
              <a:t>distinguishing</a:t>
            </a:r>
            <a:r>
              <a:rPr sz="2400" spc="-10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2400" spc="-40" dirty="0">
                <a:solidFill>
                  <a:srgbClr val="2A404F"/>
                </a:solidFill>
                <a:latin typeface="Tahoma"/>
                <a:cs typeface="Tahoma"/>
              </a:rPr>
              <a:t>between</a:t>
            </a:r>
            <a:r>
              <a:rPr sz="2400" spc="-10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2400" spc="-30" dirty="0">
                <a:solidFill>
                  <a:srgbClr val="2A404F"/>
                </a:solidFill>
                <a:latin typeface="Tahoma"/>
                <a:cs typeface="Tahoma"/>
              </a:rPr>
              <a:t>casual</a:t>
            </a:r>
            <a:r>
              <a:rPr sz="2400" spc="-10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2400" spc="-25" dirty="0">
                <a:solidFill>
                  <a:srgbClr val="2A404F"/>
                </a:solidFill>
                <a:latin typeface="Tahoma"/>
                <a:cs typeface="Tahoma"/>
              </a:rPr>
              <a:t>and</a:t>
            </a:r>
            <a:r>
              <a:rPr sz="2400" spc="-10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2400" spc="-45" dirty="0">
                <a:solidFill>
                  <a:srgbClr val="2A404F"/>
                </a:solidFill>
                <a:latin typeface="Tahoma"/>
                <a:cs typeface="Tahoma"/>
              </a:rPr>
              <a:t>registered</a:t>
            </a:r>
            <a:r>
              <a:rPr sz="2400" spc="-10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2400" spc="-40" dirty="0">
                <a:solidFill>
                  <a:srgbClr val="2A404F"/>
                </a:solidFill>
                <a:latin typeface="Tahoma"/>
                <a:cs typeface="Tahoma"/>
              </a:rPr>
              <a:t>users</a:t>
            </a:r>
            <a:r>
              <a:rPr sz="2400" spc="-10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2400" spc="-30" dirty="0">
                <a:solidFill>
                  <a:srgbClr val="2A404F"/>
                </a:solidFill>
                <a:latin typeface="Tahoma"/>
                <a:cs typeface="Tahoma"/>
              </a:rPr>
              <a:t>during</a:t>
            </a:r>
            <a:r>
              <a:rPr sz="2400" spc="-10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2A404F"/>
                </a:solidFill>
                <a:latin typeface="Tahoma"/>
                <a:cs typeface="Tahoma"/>
              </a:rPr>
              <a:t>winter conditions.</a:t>
            </a:r>
            <a:endParaRPr sz="2400" dirty="0">
              <a:latin typeface="Tahoma"/>
              <a:cs typeface="Tahoma"/>
            </a:endParaRPr>
          </a:p>
          <a:p>
            <a:pPr marL="12638" marR="5055">
              <a:lnSpc>
                <a:spcPct val="134300"/>
              </a:lnSpc>
              <a:spcBef>
                <a:spcPts val="1195"/>
              </a:spcBef>
            </a:pPr>
            <a:r>
              <a:rPr sz="2400" b="1" spc="-105" dirty="0">
                <a:solidFill>
                  <a:srgbClr val="2A404F"/>
                </a:solidFill>
                <a:latin typeface="Arial"/>
                <a:cs typeface="Arial"/>
              </a:rPr>
              <a:t>Key</a:t>
            </a:r>
            <a:r>
              <a:rPr sz="2400" b="1" spc="-65" dirty="0">
                <a:solidFill>
                  <a:srgbClr val="2A404F"/>
                </a:solidFill>
                <a:latin typeface="Arial"/>
                <a:cs typeface="Arial"/>
              </a:rPr>
              <a:t> Variables:</a:t>
            </a:r>
            <a:r>
              <a:rPr sz="2400" b="1" spc="-60" dirty="0">
                <a:solidFill>
                  <a:srgbClr val="2A404F"/>
                </a:solidFill>
                <a:latin typeface="Arial"/>
                <a:cs typeface="Arial"/>
              </a:rPr>
              <a:t> </a:t>
            </a:r>
            <a:r>
              <a:rPr sz="2400" spc="-65" dirty="0">
                <a:solidFill>
                  <a:srgbClr val="2A404F"/>
                </a:solidFill>
                <a:latin typeface="Tahoma"/>
                <a:cs typeface="Tahoma"/>
              </a:rPr>
              <a:t>Date,</a:t>
            </a:r>
            <a:r>
              <a:rPr sz="2400" spc="-10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2400" spc="-25" dirty="0">
                <a:solidFill>
                  <a:srgbClr val="2A404F"/>
                </a:solidFill>
                <a:latin typeface="Tahoma"/>
                <a:cs typeface="Tahoma"/>
              </a:rPr>
              <a:t>hour</a:t>
            </a:r>
            <a:r>
              <a:rPr sz="2400" spc="-11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2400" spc="-90" dirty="0">
                <a:solidFill>
                  <a:srgbClr val="2A404F"/>
                </a:solidFill>
                <a:latin typeface="Tahoma"/>
                <a:cs typeface="Tahoma"/>
              </a:rPr>
              <a:t>(0-23),</a:t>
            </a:r>
            <a:r>
              <a:rPr sz="2400" spc="-11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2400" spc="-55" dirty="0">
                <a:solidFill>
                  <a:srgbClr val="2A404F"/>
                </a:solidFill>
                <a:latin typeface="Tahoma"/>
                <a:cs typeface="Tahoma"/>
              </a:rPr>
              <a:t>weekday,</a:t>
            </a:r>
            <a:r>
              <a:rPr sz="2400" spc="-10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2400" spc="-40" dirty="0">
                <a:solidFill>
                  <a:srgbClr val="2A404F"/>
                </a:solidFill>
                <a:latin typeface="Tahoma"/>
                <a:cs typeface="Tahoma"/>
              </a:rPr>
              <a:t>temperature</a:t>
            </a:r>
            <a:r>
              <a:rPr sz="2400" spc="-11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2A404F"/>
                </a:solidFill>
                <a:latin typeface="Tahoma"/>
                <a:cs typeface="Tahoma"/>
              </a:rPr>
              <a:t>(°C), </a:t>
            </a:r>
            <a:r>
              <a:rPr sz="2400" spc="-20" dirty="0">
                <a:solidFill>
                  <a:srgbClr val="2A404F"/>
                </a:solidFill>
                <a:latin typeface="Tahoma"/>
                <a:cs typeface="Tahoma"/>
              </a:rPr>
              <a:t>humidity</a:t>
            </a:r>
            <a:r>
              <a:rPr sz="2400" spc="-9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2400" spc="-135" dirty="0">
                <a:solidFill>
                  <a:srgbClr val="2A404F"/>
                </a:solidFill>
                <a:latin typeface="Tahoma"/>
                <a:cs typeface="Tahoma"/>
              </a:rPr>
              <a:t>(%),</a:t>
            </a:r>
            <a:r>
              <a:rPr sz="2400" spc="-9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2400" spc="-35" dirty="0">
                <a:solidFill>
                  <a:srgbClr val="2A404F"/>
                </a:solidFill>
                <a:latin typeface="Tahoma"/>
                <a:cs typeface="Tahoma"/>
              </a:rPr>
              <a:t>windspeed,</a:t>
            </a:r>
            <a:r>
              <a:rPr sz="2400" spc="-9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2400" spc="-45" dirty="0">
                <a:solidFill>
                  <a:srgbClr val="2A404F"/>
                </a:solidFill>
                <a:latin typeface="Tahoma"/>
                <a:cs typeface="Tahoma"/>
              </a:rPr>
              <a:t>weather</a:t>
            </a:r>
            <a:r>
              <a:rPr sz="2400" spc="-9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2400" spc="-25" dirty="0">
                <a:solidFill>
                  <a:srgbClr val="2A404F"/>
                </a:solidFill>
                <a:latin typeface="Tahoma"/>
                <a:cs typeface="Tahoma"/>
              </a:rPr>
              <a:t>conditions,</a:t>
            </a:r>
            <a:r>
              <a:rPr sz="2400" spc="-9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2400" spc="-25" dirty="0">
                <a:solidFill>
                  <a:srgbClr val="2A404F"/>
                </a:solidFill>
                <a:latin typeface="Tahoma"/>
                <a:cs typeface="Tahoma"/>
              </a:rPr>
              <a:t>and</a:t>
            </a:r>
            <a:r>
              <a:rPr sz="2400" spc="-9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2400" spc="-30" dirty="0">
                <a:solidFill>
                  <a:srgbClr val="2A404F"/>
                </a:solidFill>
                <a:latin typeface="Tahoma"/>
                <a:cs typeface="Tahoma"/>
              </a:rPr>
              <a:t>rental</a:t>
            </a:r>
            <a:r>
              <a:rPr sz="2400" spc="-9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2400" spc="-30" dirty="0">
                <a:solidFill>
                  <a:srgbClr val="2A404F"/>
                </a:solidFill>
                <a:latin typeface="Tahoma"/>
                <a:cs typeface="Tahoma"/>
              </a:rPr>
              <a:t>counts</a:t>
            </a:r>
            <a:r>
              <a:rPr sz="2400" spc="-9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2400" spc="-25" dirty="0">
                <a:solidFill>
                  <a:srgbClr val="2A404F"/>
                </a:solidFill>
                <a:latin typeface="Tahoma"/>
                <a:cs typeface="Tahoma"/>
              </a:rPr>
              <a:t>by </a:t>
            </a:r>
            <a:r>
              <a:rPr sz="2400" spc="-40" dirty="0">
                <a:solidFill>
                  <a:srgbClr val="2A404F"/>
                </a:solidFill>
                <a:latin typeface="Tahoma"/>
                <a:cs typeface="Tahoma"/>
              </a:rPr>
              <a:t>user</a:t>
            </a:r>
            <a:r>
              <a:rPr sz="2400" spc="-12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2A404F"/>
                </a:solidFill>
                <a:latin typeface="Tahoma"/>
                <a:cs typeface="Tahoma"/>
              </a:rPr>
              <a:t>type.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16250" y="2476432"/>
            <a:ext cx="2286841" cy="1140055"/>
          </a:xfrm>
          <a:prstGeom prst="rect">
            <a:avLst/>
          </a:prstGeom>
        </p:spPr>
        <p:txBody>
          <a:bodyPr vert="horz" wrap="square" lIns="0" tIns="13270" rIns="0" bIns="0" rtlCol="0">
            <a:spAutoFit/>
          </a:bodyPr>
          <a:lstStyle/>
          <a:p>
            <a:pPr marL="99839">
              <a:spcBef>
                <a:spcPts val="105"/>
              </a:spcBef>
            </a:pPr>
            <a:r>
              <a:rPr sz="4429" spc="154" dirty="0">
                <a:solidFill>
                  <a:srgbClr val="2A404F"/>
                </a:solidFill>
                <a:latin typeface="Microsoft Sans Serif"/>
                <a:cs typeface="Microsoft Sans Serif"/>
              </a:rPr>
              <a:t>450+</a:t>
            </a:r>
            <a:endParaRPr sz="4429" dirty="0">
              <a:latin typeface="Microsoft Sans Serif"/>
              <a:cs typeface="Microsoft Sans Serif"/>
            </a:endParaRPr>
          </a:p>
          <a:p>
            <a:pPr marL="12638">
              <a:spcBef>
                <a:spcPts val="1502"/>
              </a:spcBef>
            </a:pPr>
            <a:r>
              <a:rPr sz="1642" spc="100" dirty="0">
                <a:solidFill>
                  <a:srgbClr val="2A404F"/>
                </a:solidFill>
                <a:latin typeface="Microsoft Sans Serif"/>
                <a:cs typeface="Microsoft Sans Serif"/>
              </a:rPr>
              <a:t>Hourly</a:t>
            </a:r>
            <a:r>
              <a:rPr sz="1642" spc="5" dirty="0">
                <a:solidFill>
                  <a:srgbClr val="2A404F"/>
                </a:solidFill>
                <a:latin typeface="Microsoft Sans Serif"/>
                <a:cs typeface="Microsoft Sans Serif"/>
              </a:rPr>
              <a:t> </a:t>
            </a:r>
            <a:r>
              <a:rPr sz="1642" spc="-10" dirty="0">
                <a:solidFill>
                  <a:srgbClr val="2A404F"/>
                </a:solidFill>
                <a:latin typeface="Microsoft Sans Serif"/>
                <a:cs typeface="Microsoft Sans Serif"/>
              </a:rPr>
              <a:t>Records</a:t>
            </a:r>
            <a:endParaRPr sz="1642" dirty="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55169" y="2476432"/>
            <a:ext cx="2311738" cy="1140055"/>
          </a:xfrm>
          <a:prstGeom prst="rect">
            <a:avLst/>
          </a:prstGeom>
        </p:spPr>
        <p:txBody>
          <a:bodyPr vert="horz" wrap="square" lIns="0" tIns="13270" rIns="0" bIns="0" rtlCol="0">
            <a:spAutoFit/>
          </a:bodyPr>
          <a:lstStyle/>
          <a:p>
            <a:pPr algn="ctr">
              <a:spcBef>
                <a:spcPts val="105"/>
              </a:spcBef>
            </a:pPr>
            <a:r>
              <a:rPr sz="4429" spc="169" dirty="0">
                <a:solidFill>
                  <a:srgbClr val="2A404F"/>
                </a:solidFill>
                <a:latin typeface="Microsoft Sans Serif"/>
                <a:cs typeface="Microsoft Sans Serif"/>
              </a:rPr>
              <a:t>20</a:t>
            </a:r>
            <a:endParaRPr sz="4429" dirty="0">
              <a:latin typeface="Microsoft Sans Serif"/>
              <a:cs typeface="Microsoft Sans Serif"/>
            </a:endParaRPr>
          </a:p>
          <a:p>
            <a:pPr algn="ctr">
              <a:spcBef>
                <a:spcPts val="1502"/>
              </a:spcBef>
            </a:pPr>
            <a:r>
              <a:rPr sz="1642" spc="114" dirty="0">
                <a:solidFill>
                  <a:srgbClr val="2A404F"/>
                </a:solidFill>
                <a:latin typeface="Microsoft Sans Serif"/>
                <a:cs typeface="Microsoft Sans Serif"/>
              </a:rPr>
              <a:t>Days</a:t>
            </a:r>
            <a:r>
              <a:rPr sz="1642" spc="-45" dirty="0">
                <a:solidFill>
                  <a:srgbClr val="2A404F"/>
                </a:solidFill>
                <a:latin typeface="Microsoft Sans Serif"/>
                <a:cs typeface="Microsoft Sans Serif"/>
              </a:rPr>
              <a:t> </a:t>
            </a:r>
            <a:r>
              <a:rPr sz="1642" spc="100" dirty="0">
                <a:solidFill>
                  <a:srgbClr val="2A404F"/>
                </a:solidFill>
                <a:latin typeface="Microsoft Sans Serif"/>
                <a:cs typeface="Microsoft Sans Serif"/>
              </a:rPr>
              <a:t>Analyzed</a:t>
            </a:r>
            <a:endParaRPr sz="1642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864" y="0"/>
            <a:ext cx="11374272" cy="9498805"/>
          </a:xfrm>
          <a:custGeom>
            <a:avLst/>
            <a:gdLst/>
            <a:ahLst/>
            <a:cxnLst/>
            <a:rect l="l" t="t" r="r" b="b"/>
            <a:pathLst>
              <a:path w="11430000" h="8505825">
                <a:moveTo>
                  <a:pt x="11430000" y="0"/>
                </a:moveTo>
                <a:lnTo>
                  <a:pt x="0" y="0"/>
                </a:lnTo>
                <a:lnTo>
                  <a:pt x="0" y="8505825"/>
                </a:lnTo>
                <a:lnTo>
                  <a:pt x="11430000" y="8505825"/>
                </a:lnTo>
                <a:lnTo>
                  <a:pt x="11430000" y="0"/>
                </a:lnTo>
                <a:close/>
              </a:path>
            </a:pathLst>
          </a:custGeom>
          <a:solidFill>
            <a:srgbClr val="FFFCF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864" y="0"/>
            <a:ext cx="4265352" cy="949880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877728" y="451812"/>
            <a:ext cx="4298843" cy="1067918"/>
          </a:xfrm>
          <a:prstGeom prst="rect">
            <a:avLst/>
          </a:prstGeom>
        </p:spPr>
        <p:txBody>
          <a:bodyPr vert="horz" wrap="square" lIns="0" tIns="6320" rIns="0" bIns="0" rtlCol="0">
            <a:spAutoFit/>
          </a:bodyPr>
          <a:lstStyle/>
          <a:p>
            <a:pPr marL="12638" marR="5055">
              <a:lnSpc>
                <a:spcPts val="4179"/>
              </a:lnSpc>
              <a:spcBef>
                <a:spcPts val="50"/>
              </a:spcBef>
            </a:pPr>
            <a:r>
              <a:rPr spc="274" dirty="0"/>
              <a:t>Weekday</a:t>
            </a:r>
            <a:r>
              <a:rPr spc="25" dirty="0"/>
              <a:t> </a:t>
            </a:r>
            <a:r>
              <a:rPr spc="149" dirty="0"/>
              <a:t>Commuter </a:t>
            </a:r>
            <a:r>
              <a:rPr spc="169" dirty="0"/>
              <a:t>Patterns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877729" y="1718146"/>
            <a:ext cx="5164551" cy="632355"/>
          </a:xfrm>
          <a:prstGeom prst="rect">
            <a:avLst/>
          </a:prstGeom>
        </p:spPr>
        <p:txBody>
          <a:bodyPr vert="horz" wrap="square" lIns="0" tIns="12638" rIns="0" bIns="0" rtlCol="0">
            <a:spAutoFit/>
          </a:bodyPr>
          <a:lstStyle/>
          <a:p>
            <a:pPr marL="12638" marR="5055">
              <a:lnSpc>
                <a:spcPct val="134300"/>
              </a:lnSpc>
              <a:spcBef>
                <a:spcPts val="100"/>
              </a:spcBef>
            </a:pPr>
            <a:r>
              <a:rPr sz="1600" spc="-30" dirty="0">
                <a:solidFill>
                  <a:srgbClr val="2B404F"/>
                </a:solidFill>
                <a:latin typeface="Tahoma"/>
                <a:cs typeface="Tahoma"/>
              </a:rPr>
              <a:t>Distinct</a:t>
            </a:r>
            <a:r>
              <a:rPr sz="1600" spc="-12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2B404F"/>
                </a:solidFill>
                <a:latin typeface="Tahoma"/>
                <a:cs typeface="Tahoma"/>
              </a:rPr>
              <a:t>bimodal</a:t>
            </a:r>
            <a:r>
              <a:rPr sz="1600" spc="-11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2B404F"/>
                </a:solidFill>
                <a:latin typeface="Tahoma"/>
                <a:cs typeface="Tahoma"/>
              </a:rPr>
              <a:t>distribution</a:t>
            </a:r>
            <a:r>
              <a:rPr sz="1600" spc="-11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600" spc="-45" dirty="0">
                <a:solidFill>
                  <a:srgbClr val="2B404F"/>
                </a:solidFill>
                <a:latin typeface="Tahoma"/>
                <a:cs typeface="Tahoma"/>
              </a:rPr>
              <a:t>reveals</a:t>
            </a:r>
            <a:r>
              <a:rPr sz="1600" spc="-10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600" spc="-30" dirty="0">
                <a:solidFill>
                  <a:srgbClr val="2B404F"/>
                </a:solidFill>
                <a:latin typeface="Tahoma"/>
                <a:cs typeface="Tahoma"/>
              </a:rPr>
              <a:t>clear</a:t>
            </a:r>
            <a:r>
              <a:rPr sz="1600" spc="-11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600" spc="-30" dirty="0">
                <a:solidFill>
                  <a:srgbClr val="2B404F"/>
                </a:solidFill>
                <a:latin typeface="Tahoma"/>
                <a:cs typeface="Tahoma"/>
              </a:rPr>
              <a:t>commuting</a:t>
            </a:r>
            <a:r>
              <a:rPr sz="1600" spc="-11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600" spc="-30" dirty="0">
                <a:solidFill>
                  <a:srgbClr val="2B404F"/>
                </a:solidFill>
                <a:latin typeface="Tahoma"/>
                <a:cs typeface="Tahoma"/>
              </a:rPr>
              <a:t>behavior</a:t>
            </a:r>
            <a:r>
              <a:rPr sz="1600" spc="-11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2B404F"/>
                </a:solidFill>
                <a:latin typeface="Tahoma"/>
                <a:cs typeface="Tahoma"/>
              </a:rPr>
              <a:t>with</a:t>
            </a:r>
            <a:r>
              <a:rPr sz="1600" spc="-10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600" spc="-25" dirty="0">
                <a:solidFill>
                  <a:srgbClr val="2B404F"/>
                </a:solidFill>
                <a:latin typeface="Tahoma"/>
                <a:cs typeface="Tahoma"/>
              </a:rPr>
              <a:t>two </a:t>
            </a:r>
            <a:r>
              <a:rPr sz="1600" spc="-30" dirty="0">
                <a:solidFill>
                  <a:srgbClr val="2B404F"/>
                </a:solidFill>
                <a:latin typeface="Tahoma"/>
                <a:cs typeface="Tahoma"/>
              </a:rPr>
              <a:t>pronounced</a:t>
            </a:r>
            <a:r>
              <a:rPr sz="1600" spc="-11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600" spc="-35" dirty="0">
                <a:solidFill>
                  <a:srgbClr val="2B404F"/>
                </a:solidFill>
                <a:latin typeface="Tahoma"/>
                <a:cs typeface="Tahoma"/>
              </a:rPr>
              <a:t>peaks</a:t>
            </a:r>
            <a:r>
              <a:rPr sz="1600" spc="-10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600" spc="-25" dirty="0">
                <a:solidFill>
                  <a:srgbClr val="2B404F"/>
                </a:solidFill>
                <a:latin typeface="Tahoma"/>
                <a:cs typeface="Tahoma"/>
              </a:rPr>
              <a:t>during</a:t>
            </a:r>
            <a:r>
              <a:rPr sz="1600" spc="-10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600" spc="-35" dirty="0">
                <a:solidFill>
                  <a:srgbClr val="2B404F"/>
                </a:solidFill>
                <a:latin typeface="Tahoma"/>
                <a:cs typeface="Tahoma"/>
              </a:rPr>
              <a:t>rush</a:t>
            </a:r>
            <a:r>
              <a:rPr sz="1600" spc="-10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2B404F"/>
                </a:solidFill>
                <a:latin typeface="Tahoma"/>
                <a:cs typeface="Tahoma"/>
              </a:rPr>
              <a:t>hours.</a:t>
            </a:r>
            <a:endParaRPr sz="1600" dirty="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888002" y="2530776"/>
            <a:ext cx="881507" cy="5459650"/>
            <a:chOff x="4883950" y="2543175"/>
            <a:chExt cx="885825" cy="5486400"/>
          </a:xfrm>
        </p:grpSpPr>
        <p:sp>
          <p:nvSpPr>
            <p:cNvPr id="7" name="object 7"/>
            <p:cNvSpPr/>
            <p:nvPr/>
          </p:nvSpPr>
          <p:spPr>
            <a:xfrm>
              <a:off x="5076825" y="2543174"/>
              <a:ext cx="693420" cy="5486400"/>
            </a:xfrm>
            <a:custGeom>
              <a:avLst/>
              <a:gdLst/>
              <a:ahLst/>
              <a:cxnLst/>
              <a:rect l="l" t="t" r="r" b="b"/>
              <a:pathLst>
                <a:path w="693420" h="5486400">
                  <a:moveTo>
                    <a:pt x="19050" y="6896"/>
                  </a:moveTo>
                  <a:lnTo>
                    <a:pt x="18122" y="4648"/>
                  </a:lnTo>
                  <a:lnTo>
                    <a:pt x="14401" y="927"/>
                  </a:lnTo>
                  <a:lnTo>
                    <a:pt x="12153" y="0"/>
                  </a:ln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5476875"/>
                  </a:lnTo>
                  <a:lnTo>
                    <a:pt x="0" y="5479504"/>
                  </a:lnTo>
                  <a:lnTo>
                    <a:pt x="927" y="5481752"/>
                  </a:lnTo>
                  <a:lnTo>
                    <a:pt x="4648" y="5485473"/>
                  </a:lnTo>
                  <a:lnTo>
                    <a:pt x="6896" y="5486400"/>
                  </a:lnTo>
                  <a:lnTo>
                    <a:pt x="12153" y="5486400"/>
                  </a:lnTo>
                  <a:lnTo>
                    <a:pt x="14401" y="5485473"/>
                  </a:lnTo>
                  <a:lnTo>
                    <a:pt x="18122" y="5481752"/>
                  </a:lnTo>
                  <a:lnTo>
                    <a:pt x="19050" y="5479504"/>
                  </a:lnTo>
                  <a:lnTo>
                    <a:pt x="19050" y="6896"/>
                  </a:lnTo>
                  <a:close/>
                </a:path>
                <a:path w="693420" h="5486400">
                  <a:moveTo>
                    <a:pt x="692950" y="187871"/>
                  </a:moveTo>
                  <a:lnTo>
                    <a:pt x="692010" y="185623"/>
                  </a:lnTo>
                  <a:lnTo>
                    <a:pt x="688289" y="181902"/>
                  </a:lnTo>
                  <a:lnTo>
                    <a:pt x="686054" y="180975"/>
                  </a:lnTo>
                  <a:lnTo>
                    <a:pt x="185483" y="180975"/>
                  </a:lnTo>
                  <a:lnTo>
                    <a:pt x="183248" y="181902"/>
                  </a:lnTo>
                  <a:lnTo>
                    <a:pt x="179514" y="185623"/>
                  </a:lnTo>
                  <a:lnTo>
                    <a:pt x="178600" y="187871"/>
                  </a:lnTo>
                  <a:lnTo>
                    <a:pt x="178600" y="190500"/>
                  </a:lnTo>
                  <a:lnTo>
                    <a:pt x="178600" y="193141"/>
                  </a:lnTo>
                  <a:lnTo>
                    <a:pt x="179514" y="195376"/>
                  </a:lnTo>
                  <a:lnTo>
                    <a:pt x="183248" y="199097"/>
                  </a:lnTo>
                  <a:lnTo>
                    <a:pt x="185483" y="200025"/>
                  </a:lnTo>
                  <a:lnTo>
                    <a:pt x="686054" y="200025"/>
                  </a:lnTo>
                  <a:lnTo>
                    <a:pt x="688289" y="199097"/>
                  </a:lnTo>
                  <a:lnTo>
                    <a:pt x="692010" y="195376"/>
                  </a:lnTo>
                  <a:lnTo>
                    <a:pt x="692950" y="193141"/>
                  </a:lnTo>
                  <a:lnTo>
                    <a:pt x="692950" y="187871"/>
                  </a:lnTo>
                  <a:close/>
                </a:path>
              </a:pathLst>
            </a:custGeom>
            <a:solidFill>
              <a:srgbClr val="D9D4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883950" y="2543175"/>
              <a:ext cx="390525" cy="381000"/>
            </a:xfrm>
            <a:custGeom>
              <a:avLst/>
              <a:gdLst/>
              <a:ahLst/>
              <a:cxnLst/>
              <a:rect l="l" t="t" r="r" b="b"/>
              <a:pathLst>
                <a:path w="390525" h="381000">
                  <a:moveTo>
                    <a:pt x="371932" y="0"/>
                  </a:moveTo>
                  <a:lnTo>
                    <a:pt x="18580" y="0"/>
                  </a:lnTo>
                  <a:lnTo>
                    <a:pt x="15849" y="546"/>
                  </a:lnTo>
                  <a:lnTo>
                    <a:pt x="0" y="18592"/>
                  </a:lnTo>
                  <a:lnTo>
                    <a:pt x="0" y="359562"/>
                  </a:lnTo>
                  <a:lnTo>
                    <a:pt x="0" y="362407"/>
                  </a:lnTo>
                  <a:lnTo>
                    <a:pt x="18580" y="381000"/>
                  </a:lnTo>
                  <a:lnTo>
                    <a:pt x="371932" y="381000"/>
                  </a:lnTo>
                  <a:lnTo>
                    <a:pt x="390525" y="362407"/>
                  </a:lnTo>
                  <a:lnTo>
                    <a:pt x="390525" y="18592"/>
                  </a:lnTo>
                  <a:lnTo>
                    <a:pt x="374662" y="546"/>
                  </a:lnTo>
                  <a:lnTo>
                    <a:pt x="371932" y="0"/>
                  </a:lnTo>
                  <a:close/>
                </a:path>
              </a:pathLst>
            </a:custGeom>
            <a:solidFill>
              <a:srgbClr val="F3EE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009541" y="2547761"/>
            <a:ext cx="145338" cy="332382"/>
          </a:xfrm>
          <a:prstGeom prst="rect">
            <a:avLst/>
          </a:prstGeom>
        </p:spPr>
        <p:txBody>
          <a:bodyPr vert="horz" wrap="square" lIns="0" tIns="15797" rIns="0" bIns="0" rtlCol="0">
            <a:spAutoFit/>
          </a:bodyPr>
          <a:lstStyle/>
          <a:p>
            <a:pPr marL="12638">
              <a:spcBef>
                <a:spcPts val="125"/>
              </a:spcBef>
            </a:pPr>
            <a:r>
              <a:rPr sz="1991" spc="-120" dirty="0">
                <a:solidFill>
                  <a:srgbClr val="2B404F"/>
                </a:solidFill>
                <a:latin typeface="Microsoft Sans Serif"/>
                <a:cs typeface="Microsoft Sans Serif"/>
              </a:rPr>
              <a:t>1</a:t>
            </a:r>
            <a:endParaRPr sz="1991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22742" y="2570273"/>
            <a:ext cx="2916457" cy="1222687"/>
          </a:xfrm>
          <a:prstGeom prst="rect">
            <a:avLst/>
          </a:prstGeom>
        </p:spPr>
        <p:txBody>
          <a:bodyPr vert="horz" wrap="square" lIns="0" tIns="17062" rIns="0" bIns="0" rtlCol="0">
            <a:spAutoFit/>
          </a:bodyPr>
          <a:lstStyle/>
          <a:p>
            <a:pPr marL="12638">
              <a:spcBef>
                <a:spcPts val="135"/>
              </a:spcBef>
            </a:pPr>
            <a:r>
              <a:rPr spc="149" dirty="0">
                <a:solidFill>
                  <a:srgbClr val="2B404F"/>
                </a:solidFill>
                <a:latin typeface="Microsoft Sans Serif"/>
                <a:cs typeface="Microsoft Sans Serif"/>
              </a:rPr>
              <a:t>Morning</a:t>
            </a:r>
            <a:r>
              <a:rPr spc="25" dirty="0">
                <a:solidFill>
                  <a:srgbClr val="2B404F"/>
                </a:solidFill>
                <a:latin typeface="Microsoft Sans Serif"/>
                <a:cs typeface="Microsoft Sans Serif"/>
              </a:rPr>
              <a:t> </a:t>
            </a:r>
            <a:r>
              <a:rPr spc="65" dirty="0">
                <a:solidFill>
                  <a:srgbClr val="2B404F"/>
                </a:solidFill>
                <a:latin typeface="Microsoft Sans Serif"/>
                <a:cs typeface="Microsoft Sans Serif"/>
              </a:rPr>
              <a:t>Peak</a:t>
            </a:r>
            <a:endParaRPr dirty="0">
              <a:latin typeface="Microsoft Sans Serif"/>
              <a:cs typeface="Microsoft Sans Serif"/>
            </a:endParaRPr>
          </a:p>
          <a:p>
            <a:pPr marL="12638">
              <a:spcBef>
                <a:spcPts val="1014"/>
              </a:spcBef>
            </a:pPr>
            <a:r>
              <a:rPr sz="1400" spc="-90" dirty="0">
                <a:solidFill>
                  <a:srgbClr val="2B404F"/>
                </a:solidFill>
                <a:latin typeface="Tahoma"/>
                <a:cs typeface="Tahoma"/>
              </a:rPr>
              <a:t>7:00-</a:t>
            </a:r>
            <a:r>
              <a:rPr sz="1400" spc="-95" dirty="0">
                <a:solidFill>
                  <a:srgbClr val="2B404F"/>
                </a:solidFill>
                <a:latin typeface="Tahoma"/>
                <a:cs typeface="Tahoma"/>
              </a:rPr>
              <a:t>9:00</a:t>
            </a:r>
            <a:r>
              <a:rPr sz="1400" spc="-9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25" dirty="0">
                <a:solidFill>
                  <a:srgbClr val="2B404F"/>
                </a:solidFill>
                <a:latin typeface="Tahoma"/>
                <a:cs typeface="Tahoma"/>
              </a:rPr>
              <a:t>AM</a:t>
            </a:r>
            <a:endParaRPr sz="1400" dirty="0">
              <a:latin typeface="Tahoma"/>
              <a:cs typeface="Tahoma"/>
            </a:endParaRPr>
          </a:p>
          <a:p>
            <a:pPr marL="12638">
              <a:spcBef>
                <a:spcPts val="552"/>
              </a:spcBef>
            </a:pPr>
            <a:r>
              <a:rPr sz="1400" spc="-35" dirty="0">
                <a:solidFill>
                  <a:srgbClr val="2B404F"/>
                </a:solidFill>
                <a:latin typeface="Tahoma"/>
                <a:cs typeface="Tahoma"/>
              </a:rPr>
              <a:t>Commuters</a:t>
            </a:r>
            <a:r>
              <a:rPr sz="1400" spc="-11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35" dirty="0">
                <a:solidFill>
                  <a:srgbClr val="2B404F"/>
                </a:solidFill>
                <a:latin typeface="Tahoma"/>
                <a:cs typeface="Tahoma"/>
              </a:rPr>
              <a:t>heading</a:t>
            </a:r>
            <a:r>
              <a:rPr sz="1400" spc="-10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20" dirty="0">
                <a:solidFill>
                  <a:srgbClr val="2B404F"/>
                </a:solidFill>
                <a:latin typeface="Tahoma"/>
                <a:cs typeface="Tahoma"/>
              </a:rPr>
              <a:t>to</a:t>
            </a:r>
            <a:r>
              <a:rPr sz="1400" spc="-10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20" dirty="0">
                <a:solidFill>
                  <a:srgbClr val="2B404F"/>
                </a:solidFill>
                <a:latin typeface="Tahoma"/>
                <a:cs typeface="Tahoma"/>
              </a:rPr>
              <a:t>work</a:t>
            </a:r>
            <a:endParaRPr sz="1400" dirty="0">
              <a:latin typeface="Tahoma"/>
              <a:cs typeface="Tahoma"/>
            </a:endParaRPr>
          </a:p>
          <a:p>
            <a:pPr marL="12638">
              <a:spcBef>
                <a:spcPts val="552"/>
              </a:spcBef>
            </a:pPr>
            <a:r>
              <a:rPr sz="1400" b="1" spc="-80" dirty="0">
                <a:solidFill>
                  <a:srgbClr val="2B404F"/>
                </a:solidFill>
                <a:latin typeface="Arial"/>
                <a:cs typeface="Arial"/>
              </a:rPr>
              <a:t>Example: </a:t>
            </a:r>
            <a:r>
              <a:rPr sz="1400" spc="-80" dirty="0">
                <a:solidFill>
                  <a:srgbClr val="2B404F"/>
                </a:solidFill>
                <a:latin typeface="Tahoma"/>
                <a:cs typeface="Tahoma"/>
              </a:rPr>
              <a:t>154</a:t>
            </a:r>
            <a:r>
              <a:rPr sz="1400" spc="-12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30" dirty="0">
                <a:solidFill>
                  <a:srgbClr val="2B404F"/>
                </a:solidFill>
                <a:latin typeface="Tahoma"/>
                <a:cs typeface="Tahoma"/>
              </a:rPr>
              <a:t>rentals</a:t>
            </a:r>
            <a:r>
              <a:rPr sz="1400" spc="-13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35" dirty="0">
                <a:solidFill>
                  <a:srgbClr val="2B404F"/>
                </a:solidFill>
                <a:latin typeface="Tahoma"/>
                <a:cs typeface="Tahoma"/>
              </a:rPr>
              <a:t>at</a:t>
            </a:r>
            <a:r>
              <a:rPr sz="1400" spc="-12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80" dirty="0">
                <a:solidFill>
                  <a:srgbClr val="2B404F"/>
                </a:solidFill>
                <a:latin typeface="Tahoma"/>
                <a:cs typeface="Tahoma"/>
              </a:rPr>
              <a:t>8</a:t>
            </a:r>
            <a:r>
              <a:rPr sz="1400" spc="-13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80" dirty="0">
                <a:solidFill>
                  <a:srgbClr val="2B404F"/>
                </a:solidFill>
                <a:latin typeface="Tahoma"/>
                <a:cs typeface="Tahoma"/>
              </a:rPr>
              <a:t>AM</a:t>
            </a:r>
            <a:r>
              <a:rPr sz="1400" spc="-12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20" dirty="0">
                <a:solidFill>
                  <a:srgbClr val="2B404F"/>
                </a:solidFill>
                <a:latin typeface="Tahoma"/>
                <a:cs typeface="Tahoma"/>
              </a:rPr>
              <a:t>on</a:t>
            </a:r>
            <a:r>
              <a:rPr sz="1400" spc="-12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B404F"/>
                </a:solidFill>
                <a:latin typeface="Tahoma"/>
                <a:cs typeface="Tahoma"/>
              </a:rPr>
              <a:t>Jan</a:t>
            </a:r>
            <a:r>
              <a:rPr sz="1400" spc="-13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50" dirty="0">
                <a:solidFill>
                  <a:srgbClr val="2B404F"/>
                </a:solidFill>
                <a:latin typeface="Tahoma"/>
                <a:cs typeface="Tahoma"/>
              </a:rPr>
              <a:t>3</a:t>
            </a:r>
            <a:endParaRPr sz="1400" dirty="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888002" y="4113696"/>
            <a:ext cx="881507" cy="388621"/>
            <a:chOff x="4883950" y="4133850"/>
            <a:chExt cx="885825" cy="390525"/>
          </a:xfrm>
        </p:grpSpPr>
        <p:sp>
          <p:nvSpPr>
            <p:cNvPr id="12" name="object 12"/>
            <p:cNvSpPr/>
            <p:nvPr/>
          </p:nvSpPr>
          <p:spPr>
            <a:xfrm>
              <a:off x="5255425" y="4324350"/>
              <a:ext cx="514350" cy="19050"/>
            </a:xfrm>
            <a:custGeom>
              <a:avLst/>
              <a:gdLst/>
              <a:ahLst/>
              <a:cxnLst/>
              <a:rect l="l" t="t" r="r" b="b"/>
              <a:pathLst>
                <a:path w="514350" h="19050">
                  <a:moveTo>
                    <a:pt x="507453" y="0"/>
                  </a:moveTo>
                  <a:lnTo>
                    <a:pt x="6883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927" y="14401"/>
                  </a:lnTo>
                  <a:lnTo>
                    <a:pt x="4648" y="18122"/>
                  </a:lnTo>
                  <a:lnTo>
                    <a:pt x="6883" y="19050"/>
                  </a:lnTo>
                  <a:lnTo>
                    <a:pt x="507453" y="19050"/>
                  </a:lnTo>
                  <a:lnTo>
                    <a:pt x="509689" y="18122"/>
                  </a:lnTo>
                  <a:lnTo>
                    <a:pt x="513410" y="14401"/>
                  </a:lnTo>
                  <a:lnTo>
                    <a:pt x="514350" y="12153"/>
                  </a:lnTo>
                  <a:lnTo>
                    <a:pt x="514350" y="6896"/>
                  </a:lnTo>
                  <a:lnTo>
                    <a:pt x="513410" y="4648"/>
                  </a:lnTo>
                  <a:lnTo>
                    <a:pt x="509689" y="927"/>
                  </a:lnTo>
                  <a:lnTo>
                    <a:pt x="507453" y="0"/>
                  </a:lnTo>
                  <a:close/>
                </a:path>
              </a:pathLst>
            </a:custGeom>
            <a:solidFill>
              <a:srgbClr val="D9D4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883950" y="4133850"/>
              <a:ext cx="390525" cy="390525"/>
            </a:xfrm>
            <a:custGeom>
              <a:avLst/>
              <a:gdLst/>
              <a:ahLst/>
              <a:cxnLst/>
              <a:rect l="l" t="t" r="r" b="b"/>
              <a:pathLst>
                <a:path w="390525" h="390525">
                  <a:moveTo>
                    <a:pt x="371932" y="0"/>
                  </a:moveTo>
                  <a:lnTo>
                    <a:pt x="18580" y="0"/>
                  </a:lnTo>
                  <a:lnTo>
                    <a:pt x="15849" y="546"/>
                  </a:lnTo>
                  <a:lnTo>
                    <a:pt x="0" y="18592"/>
                  </a:lnTo>
                  <a:lnTo>
                    <a:pt x="0" y="369087"/>
                  </a:lnTo>
                  <a:lnTo>
                    <a:pt x="0" y="371932"/>
                  </a:lnTo>
                  <a:lnTo>
                    <a:pt x="18580" y="390525"/>
                  </a:lnTo>
                  <a:lnTo>
                    <a:pt x="371932" y="390525"/>
                  </a:lnTo>
                  <a:lnTo>
                    <a:pt x="390525" y="371932"/>
                  </a:lnTo>
                  <a:lnTo>
                    <a:pt x="390525" y="18592"/>
                  </a:lnTo>
                  <a:lnTo>
                    <a:pt x="374662" y="546"/>
                  </a:lnTo>
                  <a:lnTo>
                    <a:pt x="371932" y="0"/>
                  </a:lnTo>
                  <a:close/>
                </a:path>
              </a:pathLst>
            </a:custGeom>
            <a:solidFill>
              <a:srgbClr val="F3EE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998434" y="4130681"/>
            <a:ext cx="168086" cy="332382"/>
          </a:xfrm>
          <a:prstGeom prst="rect">
            <a:avLst/>
          </a:prstGeom>
        </p:spPr>
        <p:txBody>
          <a:bodyPr vert="horz" wrap="square" lIns="0" tIns="15797" rIns="0" bIns="0" rtlCol="0">
            <a:spAutoFit/>
          </a:bodyPr>
          <a:lstStyle/>
          <a:p>
            <a:pPr marL="12638">
              <a:spcBef>
                <a:spcPts val="125"/>
              </a:spcBef>
            </a:pPr>
            <a:r>
              <a:rPr sz="1991" spc="-50" dirty="0">
                <a:solidFill>
                  <a:srgbClr val="2B404F"/>
                </a:solidFill>
                <a:latin typeface="Microsoft Sans Serif"/>
                <a:cs typeface="Microsoft Sans Serif"/>
              </a:rPr>
              <a:t>2</a:t>
            </a:r>
            <a:endParaRPr sz="1991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922741" y="4162671"/>
            <a:ext cx="2611659" cy="917475"/>
          </a:xfrm>
          <a:prstGeom prst="rect">
            <a:avLst/>
          </a:prstGeom>
        </p:spPr>
        <p:txBody>
          <a:bodyPr vert="horz" wrap="square" lIns="0" tIns="17062" rIns="0" bIns="0" rtlCol="0">
            <a:spAutoFit/>
          </a:bodyPr>
          <a:lstStyle/>
          <a:p>
            <a:pPr marL="12638">
              <a:spcBef>
                <a:spcPts val="135"/>
              </a:spcBef>
            </a:pPr>
            <a:r>
              <a:rPr spc="199" dirty="0">
                <a:solidFill>
                  <a:srgbClr val="2B404F"/>
                </a:solidFill>
                <a:latin typeface="Microsoft Sans Serif"/>
                <a:cs typeface="Microsoft Sans Serif"/>
              </a:rPr>
              <a:t>Midday</a:t>
            </a:r>
            <a:r>
              <a:rPr spc="25" dirty="0">
                <a:solidFill>
                  <a:srgbClr val="2B404F"/>
                </a:solidFill>
                <a:latin typeface="Microsoft Sans Serif"/>
                <a:cs typeface="Microsoft Sans Serif"/>
              </a:rPr>
              <a:t> </a:t>
            </a:r>
            <a:r>
              <a:rPr spc="-20" dirty="0">
                <a:solidFill>
                  <a:srgbClr val="2B404F"/>
                </a:solidFill>
                <a:latin typeface="Microsoft Sans Serif"/>
                <a:cs typeface="Microsoft Sans Serif"/>
              </a:rPr>
              <a:t>Lull</a:t>
            </a:r>
            <a:endParaRPr dirty="0">
              <a:latin typeface="Microsoft Sans Serif"/>
              <a:cs typeface="Microsoft Sans Serif"/>
            </a:endParaRPr>
          </a:p>
          <a:p>
            <a:pPr marL="12638">
              <a:spcBef>
                <a:spcPts val="1014"/>
              </a:spcBef>
            </a:pPr>
            <a:r>
              <a:rPr sz="1400" spc="-90" dirty="0">
                <a:solidFill>
                  <a:srgbClr val="2B404F"/>
                </a:solidFill>
                <a:latin typeface="Tahoma"/>
                <a:cs typeface="Tahoma"/>
              </a:rPr>
              <a:t>10:00</a:t>
            </a:r>
            <a:r>
              <a:rPr sz="1400" spc="-11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95" dirty="0">
                <a:solidFill>
                  <a:srgbClr val="2B404F"/>
                </a:solidFill>
                <a:latin typeface="Tahoma"/>
                <a:cs typeface="Tahoma"/>
              </a:rPr>
              <a:t>AM-</a:t>
            </a:r>
            <a:r>
              <a:rPr sz="1400" spc="-80" dirty="0">
                <a:solidFill>
                  <a:srgbClr val="2B404F"/>
                </a:solidFill>
                <a:latin typeface="Tahoma"/>
                <a:cs typeface="Tahoma"/>
              </a:rPr>
              <a:t>4:00</a:t>
            </a:r>
            <a:r>
              <a:rPr sz="1400" spc="-11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25" dirty="0">
                <a:solidFill>
                  <a:srgbClr val="2B404F"/>
                </a:solidFill>
                <a:latin typeface="Tahoma"/>
                <a:cs typeface="Tahoma"/>
              </a:rPr>
              <a:t>PM</a:t>
            </a:r>
            <a:endParaRPr sz="1400" dirty="0">
              <a:latin typeface="Tahoma"/>
              <a:cs typeface="Tahoma"/>
            </a:endParaRPr>
          </a:p>
          <a:p>
            <a:pPr marL="12638">
              <a:spcBef>
                <a:spcPts val="477"/>
              </a:spcBef>
            </a:pPr>
            <a:r>
              <a:rPr sz="1400" spc="-45" dirty="0">
                <a:solidFill>
                  <a:srgbClr val="2B404F"/>
                </a:solidFill>
                <a:latin typeface="Tahoma"/>
                <a:cs typeface="Tahoma"/>
              </a:rPr>
              <a:t>Reduced</a:t>
            </a:r>
            <a:r>
              <a:rPr sz="1400" spc="-9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25" dirty="0">
                <a:solidFill>
                  <a:srgbClr val="2B404F"/>
                </a:solidFill>
                <a:latin typeface="Tahoma"/>
                <a:cs typeface="Tahoma"/>
              </a:rPr>
              <a:t>activity</a:t>
            </a:r>
            <a:r>
              <a:rPr sz="1400" spc="-9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40" dirty="0">
                <a:solidFill>
                  <a:srgbClr val="2B404F"/>
                </a:solidFill>
                <a:latin typeface="Tahoma"/>
                <a:cs typeface="Tahoma"/>
              </a:rPr>
              <a:t>between</a:t>
            </a:r>
            <a:r>
              <a:rPr sz="1400" spc="-9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2B404F"/>
                </a:solidFill>
                <a:latin typeface="Tahoma"/>
                <a:cs typeface="Tahoma"/>
              </a:rPr>
              <a:t>peaks</a:t>
            </a:r>
            <a:endParaRPr sz="1400" dirty="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888002" y="5431216"/>
            <a:ext cx="881507" cy="388621"/>
            <a:chOff x="4883950" y="5457825"/>
            <a:chExt cx="885825" cy="390525"/>
          </a:xfrm>
        </p:grpSpPr>
        <p:sp>
          <p:nvSpPr>
            <p:cNvPr id="17" name="object 17"/>
            <p:cNvSpPr/>
            <p:nvPr/>
          </p:nvSpPr>
          <p:spPr>
            <a:xfrm>
              <a:off x="5255425" y="5638800"/>
              <a:ext cx="514350" cy="19050"/>
            </a:xfrm>
            <a:custGeom>
              <a:avLst/>
              <a:gdLst/>
              <a:ahLst/>
              <a:cxnLst/>
              <a:rect l="l" t="t" r="r" b="b"/>
              <a:pathLst>
                <a:path w="514350" h="19050">
                  <a:moveTo>
                    <a:pt x="507453" y="0"/>
                  </a:moveTo>
                  <a:lnTo>
                    <a:pt x="6883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927" y="14401"/>
                  </a:lnTo>
                  <a:lnTo>
                    <a:pt x="4648" y="18122"/>
                  </a:lnTo>
                  <a:lnTo>
                    <a:pt x="6883" y="19050"/>
                  </a:lnTo>
                  <a:lnTo>
                    <a:pt x="507453" y="19050"/>
                  </a:lnTo>
                  <a:lnTo>
                    <a:pt x="509689" y="18122"/>
                  </a:lnTo>
                  <a:lnTo>
                    <a:pt x="513410" y="14401"/>
                  </a:lnTo>
                  <a:lnTo>
                    <a:pt x="514350" y="12153"/>
                  </a:lnTo>
                  <a:lnTo>
                    <a:pt x="514350" y="6896"/>
                  </a:lnTo>
                  <a:lnTo>
                    <a:pt x="513410" y="4648"/>
                  </a:lnTo>
                  <a:lnTo>
                    <a:pt x="509689" y="927"/>
                  </a:lnTo>
                  <a:lnTo>
                    <a:pt x="507453" y="0"/>
                  </a:lnTo>
                  <a:close/>
                </a:path>
              </a:pathLst>
            </a:custGeom>
            <a:solidFill>
              <a:srgbClr val="D9D4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883950" y="5457825"/>
              <a:ext cx="390525" cy="390525"/>
            </a:xfrm>
            <a:custGeom>
              <a:avLst/>
              <a:gdLst/>
              <a:ahLst/>
              <a:cxnLst/>
              <a:rect l="l" t="t" r="r" b="b"/>
              <a:pathLst>
                <a:path w="390525" h="390525">
                  <a:moveTo>
                    <a:pt x="371932" y="0"/>
                  </a:moveTo>
                  <a:lnTo>
                    <a:pt x="18580" y="0"/>
                  </a:lnTo>
                  <a:lnTo>
                    <a:pt x="15849" y="546"/>
                  </a:lnTo>
                  <a:lnTo>
                    <a:pt x="0" y="18592"/>
                  </a:lnTo>
                  <a:lnTo>
                    <a:pt x="0" y="369087"/>
                  </a:lnTo>
                  <a:lnTo>
                    <a:pt x="0" y="371932"/>
                  </a:lnTo>
                  <a:lnTo>
                    <a:pt x="18580" y="390525"/>
                  </a:lnTo>
                  <a:lnTo>
                    <a:pt x="371932" y="390525"/>
                  </a:lnTo>
                  <a:lnTo>
                    <a:pt x="390525" y="371932"/>
                  </a:lnTo>
                  <a:lnTo>
                    <a:pt x="390525" y="18592"/>
                  </a:lnTo>
                  <a:lnTo>
                    <a:pt x="374662" y="546"/>
                  </a:lnTo>
                  <a:lnTo>
                    <a:pt x="371932" y="0"/>
                  </a:lnTo>
                  <a:close/>
                </a:path>
              </a:pathLst>
            </a:custGeom>
            <a:solidFill>
              <a:srgbClr val="F3EE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997687" y="5448201"/>
            <a:ext cx="169351" cy="332382"/>
          </a:xfrm>
          <a:prstGeom prst="rect">
            <a:avLst/>
          </a:prstGeom>
        </p:spPr>
        <p:txBody>
          <a:bodyPr vert="horz" wrap="square" lIns="0" tIns="15797" rIns="0" bIns="0" rtlCol="0">
            <a:spAutoFit/>
          </a:bodyPr>
          <a:lstStyle/>
          <a:p>
            <a:pPr marL="12638">
              <a:spcBef>
                <a:spcPts val="125"/>
              </a:spcBef>
            </a:pPr>
            <a:r>
              <a:rPr sz="1991" spc="-50" dirty="0">
                <a:solidFill>
                  <a:srgbClr val="2B404F"/>
                </a:solidFill>
                <a:latin typeface="Microsoft Sans Serif"/>
                <a:cs typeface="Microsoft Sans Serif"/>
              </a:rPr>
              <a:t>3</a:t>
            </a:r>
            <a:endParaRPr sz="1991">
              <a:latin typeface="Microsoft Sans Serif"/>
              <a:cs typeface="Microsoft Sans Serif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922735" y="5470712"/>
            <a:ext cx="2916457" cy="1222687"/>
          </a:xfrm>
          <a:prstGeom prst="rect">
            <a:avLst/>
          </a:prstGeom>
        </p:spPr>
        <p:txBody>
          <a:bodyPr vert="horz" wrap="square" lIns="0" tIns="17062" rIns="0" bIns="0" rtlCol="0">
            <a:spAutoFit/>
          </a:bodyPr>
          <a:lstStyle/>
          <a:p>
            <a:pPr marL="12638">
              <a:spcBef>
                <a:spcPts val="135"/>
              </a:spcBef>
            </a:pPr>
            <a:r>
              <a:rPr spc="65" dirty="0">
                <a:solidFill>
                  <a:srgbClr val="2B404F"/>
                </a:solidFill>
                <a:latin typeface="Microsoft Sans Serif"/>
                <a:cs typeface="Microsoft Sans Serif"/>
              </a:rPr>
              <a:t>Evening</a:t>
            </a:r>
            <a:r>
              <a:rPr spc="35" dirty="0">
                <a:solidFill>
                  <a:srgbClr val="2B404F"/>
                </a:solidFill>
                <a:latin typeface="Microsoft Sans Serif"/>
                <a:cs typeface="Microsoft Sans Serif"/>
              </a:rPr>
              <a:t> </a:t>
            </a:r>
            <a:r>
              <a:rPr spc="65" dirty="0">
                <a:solidFill>
                  <a:srgbClr val="2B404F"/>
                </a:solidFill>
                <a:latin typeface="Microsoft Sans Serif"/>
                <a:cs typeface="Microsoft Sans Serif"/>
              </a:rPr>
              <a:t>Peak</a:t>
            </a:r>
            <a:endParaRPr dirty="0">
              <a:latin typeface="Microsoft Sans Serif"/>
              <a:cs typeface="Microsoft Sans Serif"/>
            </a:endParaRPr>
          </a:p>
          <a:p>
            <a:pPr marL="12638">
              <a:spcBef>
                <a:spcPts val="1014"/>
              </a:spcBef>
            </a:pPr>
            <a:r>
              <a:rPr sz="1400" spc="-90" dirty="0">
                <a:solidFill>
                  <a:srgbClr val="2B404F"/>
                </a:solidFill>
                <a:latin typeface="Tahoma"/>
                <a:cs typeface="Tahoma"/>
              </a:rPr>
              <a:t>5:00-</a:t>
            </a:r>
            <a:r>
              <a:rPr sz="1400" spc="-95" dirty="0">
                <a:solidFill>
                  <a:srgbClr val="2B404F"/>
                </a:solidFill>
                <a:latin typeface="Tahoma"/>
                <a:cs typeface="Tahoma"/>
              </a:rPr>
              <a:t>6:00</a:t>
            </a:r>
            <a:r>
              <a:rPr sz="1400" spc="-9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25" dirty="0">
                <a:solidFill>
                  <a:srgbClr val="2B404F"/>
                </a:solidFill>
                <a:latin typeface="Tahoma"/>
                <a:cs typeface="Tahoma"/>
              </a:rPr>
              <a:t>PM</a:t>
            </a:r>
            <a:endParaRPr sz="1400" dirty="0">
              <a:latin typeface="Tahoma"/>
              <a:cs typeface="Tahoma"/>
            </a:endParaRPr>
          </a:p>
          <a:p>
            <a:pPr marL="12638">
              <a:spcBef>
                <a:spcPts val="552"/>
              </a:spcBef>
            </a:pPr>
            <a:r>
              <a:rPr sz="1400" spc="-40" dirty="0">
                <a:solidFill>
                  <a:srgbClr val="2B404F"/>
                </a:solidFill>
                <a:latin typeface="Tahoma"/>
                <a:cs typeface="Tahoma"/>
              </a:rPr>
              <a:t>Return</a:t>
            </a:r>
            <a:r>
              <a:rPr sz="1400" spc="-12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2B404F"/>
                </a:solidFill>
                <a:latin typeface="Tahoma"/>
                <a:cs typeface="Tahoma"/>
              </a:rPr>
              <a:t>commute</a:t>
            </a:r>
            <a:endParaRPr sz="1400" dirty="0">
              <a:latin typeface="Tahoma"/>
              <a:cs typeface="Tahoma"/>
            </a:endParaRPr>
          </a:p>
          <a:p>
            <a:pPr marL="12638">
              <a:spcBef>
                <a:spcPts val="552"/>
              </a:spcBef>
            </a:pPr>
            <a:r>
              <a:rPr sz="1400" b="1" spc="-80" dirty="0">
                <a:solidFill>
                  <a:srgbClr val="2B404F"/>
                </a:solidFill>
                <a:latin typeface="Arial"/>
                <a:cs typeface="Arial"/>
              </a:rPr>
              <a:t>Example: </a:t>
            </a:r>
            <a:r>
              <a:rPr sz="1400" spc="-80" dirty="0">
                <a:solidFill>
                  <a:srgbClr val="2B404F"/>
                </a:solidFill>
                <a:latin typeface="Tahoma"/>
                <a:cs typeface="Tahoma"/>
              </a:rPr>
              <a:t>212</a:t>
            </a:r>
            <a:r>
              <a:rPr sz="1400" spc="-12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30" dirty="0">
                <a:solidFill>
                  <a:srgbClr val="2B404F"/>
                </a:solidFill>
                <a:latin typeface="Tahoma"/>
                <a:cs typeface="Tahoma"/>
              </a:rPr>
              <a:t>rentals</a:t>
            </a:r>
            <a:r>
              <a:rPr sz="1400" spc="-12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35" dirty="0">
                <a:solidFill>
                  <a:srgbClr val="2B404F"/>
                </a:solidFill>
                <a:latin typeface="Tahoma"/>
                <a:cs typeface="Tahoma"/>
              </a:rPr>
              <a:t>at</a:t>
            </a:r>
            <a:r>
              <a:rPr sz="1400" spc="-13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80" dirty="0">
                <a:solidFill>
                  <a:srgbClr val="2B404F"/>
                </a:solidFill>
                <a:latin typeface="Tahoma"/>
                <a:cs typeface="Tahoma"/>
              </a:rPr>
              <a:t>5</a:t>
            </a:r>
            <a:r>
              <a:rPr sz="1400" spc="-12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35" dirty="0">
                <a:solidFill>
                  <a:srgbClr val="2B404F"/>
                </a:solidFill>
                <a:latin typeface="Tahoma"/>
                <a:cs typeface="Tahoma"/>
              </a:rPr>
              <a:t>PM</a:t>
            </a:r>
            <a:r>
              <a:rPr sz="1400" spc="-12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20" dirty="0">
                <a:solidFill>
                  <a:srgbClr val="2B404F"/>
                </a:solidFill>
                <a:latin typeface="Tahoma"/>
                <a:cs typeface="Tahoma"/>
              </a:rPr>
              <a:t>on</a:t>
            </a:r>
            <a:r>
              <a:rPr sz="1400" spc="-13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B404F"/>
                </a:solidFill>
                <a:latin typeface="Tahoma"/>
                <a:cs typeface="Tahoma"/>
              </a:rPr>
              <a:t>Jan</a:t>
            </a:r>
            <a:r>
              <a:rPr sz="1400" spc="-12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50" dirty="0">
                <a:solidFill>
                  <a:srgbClr val="2B404F"/>
                </a:solidFill>
                <a:latin typeface="Tahoma"/>
                <a:cs typeface="Tahoma"/>
              </a:rPr>
              <a:t>4</a:t>
            </a:r>
            <a:endParaRPr sz="1400" dirty="0">
              <a:latin typeface="Tahoma"/>
              <a:cs typeface="Tahom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888002" y="7023613"/>
            <a:ext cx="881507" cy="379143"/>
            <a:chOff x="4883950" y="7058025"/>
            <a:chExt cx="885825" cy="381000"/>
          </a:xfrm>
        </p:grpSpPr>
        <p:sp>
          <p:nvSpPr>
            <p:cNvPr id="22" name="object 22"/>
            <p:cNvSpPr/>
            <p:nvPr/>
          </p:nvSpPr>
          <p:spPr>
            <a:xfrm>
              <a:off x="5255425" y="7239000"/>
              <a:ext cx="514350" cy="19050"/>
            </a:xfrm>
            <a:custGeom>
              <a:avLst/>
              <a:gdLst/>
              <a:ahLst/>
              <a:cxnLst/>
              <a:rect l="l" t="t" r="r" b="b"/>
              <a:pathLst>
                <a:path w="514350" h="19050">
                  <a:moveTo>
                    <a:pt x="507453" y="0"/>
                  </a:moveTo>
                  <a:lnTo>
                    <a:pt x="6883" y="0"/>
                  </a:lnTo>
                  <a:lnTo>
                    <a:pt x="4648" y="927"/>
                  </a:lnTo>
                  <a:lnTo>
                    <a:pt x="927" y="4646"/>
                  </a:lnTo>
                  <a:lnTo>
                    <a:pt x="0" y="6894"/>
                  </a:lnTo>
                  <a:lnTo>
                    <a:pt x="0" y="9523"/>
                  </a:lnTo>
                  <a:lnTo>
                    <a:pt x="0" y="12153"/>
                  </a:lnTo>
                  <a:lnTo>
                    <a:pt x="927" y="14400"/>
                  </a:lnTo>
                  <a:lnTo>
                    <a:pt x="4648" y="18121"/>
                  </a:lnTo>
                  <a:lnTo>
                    <a:pt x="6883" y="19048"/>
                  </a:lnTo>
                  <a:lnTo>
                    <a:pt x="507453" y="19048"/>
                  </a:lnTo>
                  <a:lnTo>
                    <a:pt x="509689" y="18121"/>
                  </a:lnTo>
                  <a:lnTo>
                    <a:pt x="513410" y="14400"/>
                  </a:lnTo>
                  <a:lnTo>
                    <a:pt x="514350" y="12153"/>
                  </a:lnTo>
                  <a:lnTo>
                    <a:pt x="514350" y="6894"/>
                  </a:lnTo>
                  <a:lnTo>
                    <a:pt x="513410" y="4646"/>
                  </a:lnTo>
                  <a:lnTo>
                    <a:pt x="509689" y="927"/>
                  </a:lnTo>
                  <a:lnTo>
                    <a:pt x="507453" y="0"/>
                  </a:lnTo>
                  <a:close/>
                </a:path>
              </a:pathLst>
            </a:custGeom>
            <a:solidFill>
              <a:srgbClr val="D9D4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883950" y="7058025"/>
              <a:ext cx="390525" cy="381000"/>
            </a:xfrm>
            <a:custGeom>
              <a:avLst/>
              <a:gdLst/>
              <a:ahLst/>
              <a:cxnLst/>
              <a:rect l="l" t="t" r="r" b="b"/>
              <a:pathLst>
                <a:path w="390525" h="381000">
                  <a:moveTo>
                    <a:pt x="371932" y="0"/>
                  </a:moveTo>
                  <a:lnTo>
                    <a:pt x="18580" y="0"/>
                  </a:lnTo>
                  <a:lnTo>
                    <a:pt x="15849" y="546"/>
                  </a:lnTo>
                  <a:lnTo>
                    <a:pt x="0" y="18592"/>
                  </a:lnTo>
                  <a:lnTo>
                    <a:pt x="0" y="359567"/>
                  </a:lnTo>
                  <a:lnTo>
                    <a:pt x="0" y="362409"/>
                  </a:lnTo>
                  <a:lnTo>
                    <a:pt x="18580" y="380998"/>
                  </a:lnTo>
                  <a:lnTo>
                    <a:pt x="371932" y="380998"/>
                  </a:lnTo>
                  <a:lnTo>
                    <a:pt x="390525" y="362409"/>
                  </a:lnTo>
                  <a:lnTo>
                    <a:pt x="390525" y="18592"/>
                  </a:lnTo>
                  <a:lnTo>
                    <a:pt x="374662" y="546"/>
                  </a:lnTo>
                  <a:lnTo>
                    <a:pt x="371932" y="0"/>
                  </a:lnTo>
                  <a:close/>
                </a:path>
              </a:pathLst>
            </a:custGeom>
            <a:solidFill>
              <a:srgbClr val="F3EE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987173" y="7031116"/>
            <a:ext cx="190203" cy="332382"/>
          </a:xfrm>
          <a:prstGeom prst="rect">
            <a:avLst/>
          </a:prstGeom>
        </p:spPr>
        <p:txBody>
          <a:bodyPr vert="horz" wrap="square" lIns="0" tIns="15797" rIns="0" bIns="0" rtlCol="0">
            <a:spAutoFit/>
          </a:bodyPr>
          <a:lstStyle/>
          <a:p>
            <a:pPr marL="12638">
              <a:spcBef>
                <a:spcPts val="125"/>
              </a:spcBef>
            </a:pPr>
            <a:r>
              <a:rPr sz="1991" spc="135" dirty="0">
                <a:solidFill>
                  <a:srgbClr val="2B404F"/>
                </a:solidFill>
                <a:latin typeface="Microsoft Sans Serif"/>
                <a:cs typeface="Microsoft Sans Serif"/>
              </a:rPr>
              <a:t>4</a:t>
            </a:r>
            <a:endParaRPr sz="1991">
              <a:latin typeface="Microsoft Sans Serif"/>
              <a:cs typeface="Microsoft Sans Serif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922736" y="7063107"/>
            <a:ext cx="1925863" cy="930299"/>
          </a:xfrm>
          <a:prstGeom prst="rect">
            <a:avLst/>
          </a:prstGeom>
        </p:spPr>
        <p:txBody>
          <a:bodyPr vert="horz" wrap="square" lIns="0" tIns="17062" rIns="0" bIns="0" rtlCol="0">
            <a:spAutoFit/>
          </a:bodyPr>
          <a:lstStyle/>
          <a:p>
            <a:pPr marL="12638">
              <a:spcBef>
                <a:spcPts val="135"/>
              </a:spcBef>
            </a:pPr>
            <a:r>
              <a:rPr spc="149" dirty="0">
                <a:solidFill>
                  <a:srgbClr val="2B404F"/>
                </a:solidFill>
                <a:latin typeface="Microsoft Sans Serif"/>
                <a:cs typeface="Microsoft Sans Serif"/>
              </a:rPr>
              <a:t>Night</a:t>
            </a:r>
            <a:r>
              <a:rPr spc="25" dirty="0">
                <a:solidFill>
                  <a:srgbClr val="2B404F"/>
                </a:solidFill>
                <a:latin typeface="Microsoft Sans Serif"/>
                <a:cs typeface="Microsoft Sans Serif"/>
              </a:rPr>
              <a:t> </a:t>
            </a:r>
            <a:r>
              <a:rPr spc="65" dirty="0">
                <a:solidFill>
                  <a:srgbClr val="2B404F"/>
                </a:solidFill>
                <a:latin typeface="Microsoft Sans Serif"/>
                <a:cs typeface="Microsoft Sans Serif"/>
              </a:rPr>
              <a:t>Hours</a:t>
            </a:r>
            <a:endParaRPr dirty="0">
              <a:latin typeface="Microsoft Sans Serif"/>
              <a:cs typeface="Microsoft Sans Serif"/>
            </a:endParaRPr>
          </a:p>
          <a:p>
            <a:pPr marL="12638">
              <a:spcBef>
                <a:spcPts val="1014"/>
              </a:spcBef>
            </a:pPr>
            <a:r>
              <a:rPr sz="1400" spc="-90" dirty="0">
                <a:solidFill>
                  <a:srgbClr val="2B404F"/>
                </a:solidFill>
                <a:latin typeface="Tahoma"/>
                <a:cs typeface="Tahoma"/>
              </a:rPr>
              <a:t>12:00-</a:t>
            </a:r>
            <a:r>
              <a:rPr sz="1400" spc="-95" dirty="0">
                <a:solidFill>
                  <a:srgbClr val="2B404F"/>
                </a:solidFill>
                <a:latin typeface="Tahoma"/>
                <a:cs typeface="Tahoma"/>
              </a:rPr>
              <a:t>5:00 </a:t>
            </a:r>
            <a:r>
              <a:rPr sz="1400" spc="-25" dirty="0">
                <a:solidFill>
                  <a:srgbClr val="2B404F"/>
                </a:solidFill>
                <a:latin typeface="Tahoma"/>
                <a:cs typeface="Tahoma"/>
              </a:rPr>
              <a:t>AM</a:t>
            </a:r>
            <a:endParaRPr sz="1400" dirty="0">
              <a:latin typeface="Tahoma"/>
              <a:cs typeface="Tahoma"/>
            </a:endParaRPr>
          </a:p>
          <a:p>
            <a:pPr marL="12638">
              <a:spcBef>
                <a:spcPts val="552"/>
              </a:spcBef>
            </a:pPr>
            <a:r>
              <a:rPr sz="1400" spc="-55" dirty="0">
                <a:solidFill>
                  <a:srgbClr val="2B404F"/>
                </a:solidFill>
                <a:latin typeface="Tahoma"/>
                <a:cs typeface="Tahoma"/>
              </a:rPr>
              <a:t>Near-</a:t>
            </a:r>
            <a:r>
              <a:rPr sz="1400" spc="-50" dirty="0">
                <a:solidFill>
                  <a:srgbClr val="2B404F"/>
                </a:solidFill>
                <a:latin typeface="Tahoma"/>
                <a:cs typeface="Tahoma"/>
              </a:rPr>
              <a:t>zero</a:t>
            </a:r>
            <a:r>
              <a:rPr sz="1400" spc="-8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2B404F"/>
                </a:solidFill>
                <a:latin typeface="Tahoma"/>
                <a:cs typeface="Tahoma"/>
              </a:rPr>
              <a:t>activity</a:t>
            </a:r>
            <a:endParaRPr sz="14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864" y="-1"/>
            <a:ext cx="11374272" cy="9396413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FFC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2376" y="688776"/>
            <a:ext cx="5434374" cy="537119"/>
          </a:xfrm>
          <a:prstGeom prst="rect">
            <a:avLst/>
          </a:prstGeom>
        </p:spPr>
        <p:txBody>
          <a:bodyPr vert="horz" wrap="square" lIns="0" tIns="15797" rIns="0" bIns="0" rtlCol="0">
            <a:spAutoFit/>
          </a:bodyPr>
          <a:lstStyle/>
          <a:p>
            <a:pPr marL="12638">
              <a:spcBef>
                <a:spcPts val="125"/>
              </a:spcBef>
            </a:pPr>
            <a:r>
              <a:rPr spc="219" dirty="0"/>
              <a:t>Weekend</a:t>
            </a:r>
            <a:r>
              <a:rPr spc="114" dirty="0"/>
              <a:t> </a:t>
            </a:r>
            <a:r>
              <a:rPr dirty="0"/>
              <a:t>Leisure</a:t>
            </a:r>
            <a:r>
              <a:rPr spc="120" dirty="0"/>
              <a:t> </a:t>
            </a:r>
            <a:r>
              <a:rPr spc="169" dirty="0"/>
              <a:t>Patterns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2376" y="1575967"/>
            <a:ext cx="5231533" cy="554833"/>
          </a:xfrm>
          <a:prstGeom prst="rect">
            <a:avLst/>
          </a:prstGeom>
        </p:spPr>
        <p:txBody>
          <a:bodyPr vert="horz" wrap="square" lIns="0" tIns="12638" rIns="0" bIns="0" rtlCol="0">
            <a:spAutoFit/>
          </a:bodyPr>
          <a:lstStyle/>
          <a:p>
            <a:pPr marL="12638" marR="5055">
              <a:lnSpc>
                <a:spcPct val="134300"/>
              </a:lnSpc>
              <a:spcBef>
                <a:spcPts val="100"/>
              </a:spcBef>
            </a:pPr>
            <a:r>
              <a:rPr sz="1400" spc="-60" dirty="0">
                <a:solidFill>
                  <a:srgbClr val="2B404F"/>
                </a:solidFill>
                <a:latin typeface="Tahoma"/>
                <a:cs typeface="Tahoma"/>
              </a:rPr>
              <a:t>Weekend</a:t>
            </a:r>
            <a:r>
              <a:rPr sz="1400" spc="-12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55" dirty="0">
                <a:solidFill>
                  <a:srgbClr val="2B404F"/>
                </a:solidFill>
                <a:latin typeface="Tahoma"/>
                <a:cs typeface="Tahoma"/>
              </a:rPr>
              <a:t>usage</a:t>
            </a:r>
            <a:r>
              <a:rPr sz="1400" spc="-11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35" dirty="0">
                <a:solidFill>
                  <a:srgbClr val="2B404F"/>
                </a:solidFill>
                <a:latin typeface="Tahoma"/>
                <a:cs typeface="Tahoma"/>
              </a:rPr>
              <a:t>shows</a:t>
            </a:r>
            <a:r>
              <a:rPr sz="1400" spc="-11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45" dirty="0">
                <a:solidFill>
                  <a:srgbClr val="2B404F"/>
                </a:solidFill>
                <a:latin typeface="Tahoma"/>
                <a:cs typeface="Tahoma"/>
              </a:rPr>
              <a:t>a</a:t>
            </a:r>
            <a:r>
              <a:rPr sz="1400" spc="-11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b="1" spc="-50" dirty="0">
                <a:solidFill>
                  <a:srgbClr val="2B404F"/>
                </a:solidFill>
                <a:latin typeface="Arial"/>
                <a:cs typeface="Arial"/>
              </a:rPr>
              <a:t>unimodal</a:t>
            </a:r>
            <a:r>
              <a:rPr sz="1400" b="1" spc="-70" dirty="0">
                <a:solidFill>
                  <a:srgbClr val="2B404F"/>
                </a:solidFill>
                <a:latin typeface="Arial"/>
                <a:cs typeface="Arial"/>
              </a:rPr>
              <a:t> </a:t>
            </a:r>
            <a:r>
              <a:rPr sz="1400" b="1" spc="-40" dirty="0">
                <a:solidFill>
                  <a:srgbClr val="2B404F"/>
                </a:solidFill>
                <a:latin typeface="Arial"/>
                <a:cs typeface="Arial"/>
              </a:rPr>
              <a:t>distribution</a:t>
            </a:r>
            <a:r>
              <a:rPr sz="1400" b="1" spc="-60" dirty="0">
                <a:solidFill>
                  <a:srgbClr val="2B404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2B404F"/>
                </a:solidFill>
                <a:latin typeface="Tahoma"/>
                <a:cs typeface="Tahoma"/>
              </a:rPr>
              <a:t>with</a:t>
            </a:r>
            <a:r>
              <a:rPr sz="1400" spc="-11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45" dirty="0">
                <a:solidFill>
                  <a:srgbClr val="2B404F"/>
                </a:solidFill>
                <a:latin typeface="Tahoma"/>
                <a:cs typeface="Tahoma"/>
              </a:rPr>
              <a:t>a</a:t>
            </a:r>
            <a:r>
              <a:rPr sz="1400" spc="-11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30" dirty="0">
                <a:solidFill>
                  <a:srgbClr val="2B404F"/>
                </a:solidFill>
                <a:latin typeface="Tahoma"/>
                <a:cs typeface="Tahoma"/>
              </a:rPr>
              <a:t>single</a:t>
            </a:r>
            <a:r>
              <a:rPr sz="1400" spc="-11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30" dirty="0">
                <a:solidFill>
                  <a:srgbClr val="2B404F"/>
                </a:solidFill>
                <a:latin typeface="Tahoma"/>
                <a:cs typeface="Tahoma"/>
              </a:rPr>
              <a:t>broad</a:t>
            </a:r>
            <a:r>
              <a:rPr sz="1400" spc="-11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2B404F"/>
                </a:solidFill>
                <a:latin typeface="Tahoma"/>
                <a:cs typeface="Tahoma"/>
              </a:rPr>
              <a:t>peak, </a:t>
            </a:r>
            <a:r>
              <a:rPr sz="1400" spc="-35" dirty="0">
                <a:solidFill>
                  <a:srgbClr val="2B404F"/>
                </a:solidFill>
                <a:latin typeface="Tahoma"/>
                <a:cs typeface="Tahoma"/>
              </a:rPr>
              <a:t>contrasting</a:t>
            </a:r>
            <a:r>
              <a:rPr sz="1400" spc="-11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25" dirty="0">
                <a:solidFill>
                  <a:srgbClr val="2B404F"/>
                </a:solidFill>
                <a:latin typeface="Tahoma"/>
                <a:cs typeface="Tahoma"/>
              </a:rPr>
              <a:t>sharply</a:t>
            </a:r>
            <a:r>
              <a:rPr sz="1400" spc="-10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2B404F"/>
                </a:solidFill>
                <a:latin typeface="Tahoma"/>
                <a:cs typeface="Tahoma"/>
              </a:rPr>
              <a:t>with</a:t>
            </a:r>
            <a:r>
              <a:rPr sz="1400" spc="-10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45" dirty="0">
                <a:solidFill>
                  <a:srgbClr val="2B404F"/>
                </a:solidFill>
                <a:latin typeface="Tahoma"/>
                <a:cs typeface="Tahoma"/>
              </a:rPr>
              <a:t>weekday</a:t>
            </a:r>
            <a:r>
              <a:rPr sz="1400" spc="-11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2B404F"/>
                </a:solidFill>
                <a:latin typeface="Tahoma"/>
                <a:cs typeface="Tahoma"/>
              </a:rPr>
              <a:t>patterns.</a:t>
            </a:r>
            <a:endParaRPr sz="1400" dirty="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2710" y="2320924"/>
            <a:ext cx="365270" cy="243043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625014" y="2653995"/>
            <a:ext cx="2881482" cy="18958"/>
          </a:xfrm>
          <a:custGeom>
            <a:avLst/>
            <a:gdLst/>
            <a:ahLst/>
            <a:cxnLst/>
            <a:rect l="l" t="t" r="r" b="b"/>
            <a:pathLst>
              <a:path w="2895600" h="19050">
                <a:moveTo>
                  <a:pt x="2895600" y="0"/>
                </a:moveTo>
                <a:lnTo>
                  <a:pt x="0" y="0"/>
                </a:lnTo>
                <a:lnTo>
                  <a:pt x="0" y="19050"/>
                </a:lnTo>
                <a:lnTo>
                  <a:pt x="2895600" y="19050"/>
                </a:lnTo>
                <a:lnTo>
                  <a:pt x="2895600" y="0"/>
                </a:lnTo>
                <a:close/>
              </a:path>
            </a:pathLst>
          </a:custGeom>
          <a:solidFill>
            <a:srgbClr val="315F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12376" y="2759840"/>
            <a:ext cx="2084019" cy="269587"/>
          </a:xfrm>
          <a:prstGeom prst="rect">
            <a:avLst/>
          </a:prstGeom>
        </p:spPr>
        <p:txBody>
          <a:bodyPr vert="horz" wrap="square" lIns="0" tIns="17062" rIns="0" bIns="0" rtlCol="0">
            <a:spAutoFit/>
          </a:bodyPr>
          <a:lstStyle/>
          <a:p>
            <a:pPr marL="12638">
              <a:spcBef>
                <a:spcPts val="135"/>
              </a:spcBef>
            </a:pPr>
            <a:r>
              <a:rPr sz="1642" spc="149" dirty="0">
                <a:solidFill>
                  <a:srgbClr val="2B404F"/>
                </a:solidFill>
                <a:latin typeface="Microsoft Sans Serif"/>
                <a:cs typeface="Microsoft Sans Serif"/>
              </a:rPr>
              <a:t>Slow</a:t>
            </a:r>
            <a:r>
              <a:rPr sz="1642" spc="15" dirty="0">
                <a:solidFill>
                  <a:srgbClr val="2B404F"/>
                </a:solidFill>
                <a:latin typeface="Microsoft Sans Serif"/>
                <a:cs typeface="Microsoft Sans Serif"/>
              </a:rPr>
              <a:t> </a:t>
            </a:r>
            <a:r>
              <a:rPr sz="1642" spc="149" dirty="0">
                <a:solidFill>
                  <a:srgbClr val="2B404F"/>
                </a:solidFill>
                <a:latin typeface="Microsoft Sans Serif"/>
                <a:cs typeface="Microsoft Sans Serif"/>
              </a:rPr>
              <a:t>Morning</a:t>
            </a:r>
            <a:r>
              <a:rPr sz="1642" spc="20" dirty="0">
                <a:solidFill>
                  <a:srgbClr val="2B404F"/>
                </a:solidFill>
                <a:latin typeface="Microsoft Sans Serif"/>
                <a:cs typeface="Microsoft Sans Serif"/>
              </a:rPr>
              <a:t> </a:t>
            </a:r>
            <a:r>
              <a:rPr sz="1642" spc="100" dirty="0">
                <a:solidFill>
                  <a:srgbClr val="2B404F"/>
                </a:solidFill>
                <a:latin typeface="Microsoft Sans Serif"/>
                <a:cs typeface="Microsoft Sans Serif"/>
              </a:rPr>
              <a:t>Start</a:t>
            </a:r>
            <a:endParaRPr sz="1642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2375" y="3219551"/>
            <a:ext cx="2274855" cy="219179"/>
          </a:xfrm>
          <a:prstGeom prst="rect">
            <a:avLst/>
          </a:prstGeom>
        </p:spPr>
        <p:txBody>
          <a:bodyPr vert="horz" wrap="square" lIns="0" tIns="12638" rIns="0" bIns="0" rtlCol="0">
            <a:spAutoFit/>
          </a:bodyPr>
          <a:lstStyle/>
          <a:p>
            <a:pPr marL="12638">
              <a:spcBef>
                <a:spcPts val="100"/>
              </a:spcBef>
            </a:pPr>
            <a:r>
              <a:rPr sz="1343" spc="-30" dirty="0">
                <a:solidFill>
                  <a:srgbClr val="2B404F"/>
                </a:solidFill>
                <a:latin typeface="Tahoma"/>
                <a:cs typeface="Tahoma"/>
              </a:rPr>
              <a:t>Activity</a:t>
            </a:r>
            <a:r>
              <a:rPr sz="1343" spc="-10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40" dirty="0">
                <a:solidFill>
                  <a:srgbClr val="2B404F"/>
                </a:solidFill>
                <a:latin typeface="Tahoma"/>
                <a:cs typeface="Tahoma"/>
              </a:rPr>
              <a:t>begins</a:t>
            </a:r>
            <a:r>
              <a:rPr sz="1343" spc="-10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30" dirty="0">
                <a:solidFill>
                  <a:srgbClr val="2B404F"/>
                </a:solidFill>
                <a:latin typeface="Tahoma"/>
                <a:cs typeface="Tahoma"/>
              </a:rPr>
              <a:t>around</a:t>
            </a:r>
            <a:r>
              <a:rPr sz="1343" spc="-10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90" dirty="0">
                <a:solidFill>
                  <a:srgbClr val="2B404F"/>
                </a:solidFill>
                <a:latin typeface="Tahoma"/>
                <a:cs typeface="Tahoma"/>
              </a:rPr>
              <a:t>10:00</a:t>
            </a:r>
            <a:r>
              <a:rPr sz="1343" spc="-10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25" dirty="0">
                <a:solidFill>
                  <a:srgbClr val="2B404F"/>
                </a:solidFill>
                <a:latin typeface="Tahoma"/>
                <a:cs typeface="Tahoma"/>
              </a:rPr>
              <a:t>AM</a:t>
            </a:r>
            <a:endParaRPr sz="1343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73330" y="2310855"/>
            <a:ext cx="365270" cy="269587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3677110" y="2653995"/>
            <a:ext cx="2890961" cy="18958"/>
          </a:xfrm>
          <a:custGeom>
            <a:avLst/>
            <a:gdLst/>
            <a:ahLst/>
            <a:cxnLst/>
            <a:rect l="l" t="t" r="r" b="b"/>
            <a:pathLst>
              <a:path w="2905125" h="19050">
                <a:moveTo>
                  <a:pt x="2905125" y="0"/>
                </a:moveTo>
                <a:lnTo>
                  <a:pt x="0" y="0"/>
                </a:lnTo>
                <a:lnTo>
                  <a:pt x="0" y="19050"/>
                </a:lnTo>
                <a:lnTo>
                  <a:pt x="2905125" y="19050"/>
                </a:lnTo>
                <a:lnTo>
                  <a:pt x="2905125" y="0"/>
                </a:lnTo>
                <a:close/>
              </a:path>
            </a:pathLst>
          </a:custGeom>
          <a:solidFill>
            <a:srgbClr val="315F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668326" y="2759840"/>
            <a:ext cx="1642950" cy="269587"/>
          </a:xfrm>
          <a:prstGeom prst="rect">
            <a:avLst/>
          </a:prstGeom>
        </p:spPr>
        <p:txBody>
          <a:bodyPr vert="horz" wrap="square" lIns="0" tIns="17062" rIns="0" bIns="0" rtlCol="0">
            <a:spAutoFit/>
          </a:bodyPr>
          <a:lstStyle/>
          <a:p>
            <a:pPr marL="12638">
              <a:spcBef>
                <a:spcPts val="135"/>
              </a:spcBef>
            </a:pPr>
            <a:r>
              <a:rPr sz="1642" spc="114" dirty="0">
                <a:solidFill>
                  <a:srgbClr val="2B404F"/>
                </a:solidFill>
                <a:latin typeface="Microsoft Sans Serif"/>
                <a:cs typeface="Microsoft Sans Serif"/>
              </a:rPr>
              <a:t>Afternoon</a:t>
            </a:r>
            <a:r>
              <a:rPr sz="1642" spc="35" dirty="0">
                <a:solidFill>
                  <a:srgbClr val="2B404F"/>
                </a:solidFill>
                <a:latin typeface="Microsoft Sans Serif"/>
                <a:cs typeface="Microsoft Sans Serif"/>
              </a:rPr>
              <a:t> </a:t>
            </a:r>
            <a:r>
              <a:rPr sz="1642" spc="65" dirty="0">
                <a:solidFill>
                  <a:srgbClr val="2B404F"/>
                </a:solidFill>
                <a:latin typeface="Microsoft Sans Serif"/>
                <a:cs typeface="Microsoft Sans Serif"/>
              </a:rPr>
              <a:t>Peak</a:t>
            </a:r>
            <a:endParaRPr sz="1642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68326" y="3158888"/>
            <a:ext cx="1938050" cy="517798"/>
          </a:xfrm>
          <a:prstGeom prst="rect">
            <a:avLst/>
          </a:prstGeom>
        </p:spPr>
        <p:txBody>
          <a:bodyPr vert="horz" wrap="square" lIns="0" tIns="12638" rIns="0" bIns="0" rtlCol="0">
            <a:spAutoFit/>
          </a:bodyPr>
          <a:lstStyle/>
          <a:p>
            <a:pPr marL="12638" marR="5055">
              <a:lnSpc>
                <a:spcPct val="129600"/>
              </a:lnSpc>
              <a:spcBef>
                <a:spcPts val="100"/>
              </a:spcBef>
            </a:pPr>
            <a:r>
              <a:rPr sz="1343" spc="-90" dirty="0">
                <a:solidFill>
                  <a:srgbClr val="2B404F"/>
                </a:solidFill>
                <a:latin typeface="Tahoma"/>
                <a:cs typeface="Tahoma"/>
              </a:rPr>
              <a:t>1:00-</a:t>
            </a:r>
            <a:r>
              <a:rPr sz="1343" spc="-95" dirty="0">
                <a:solidFill>
                  <a:srgbClr val="2B404F"/>
                </a:solidFill>
                <a:latin typeface="Tahoma"/>
                <a:cs typeface="Tahoma"/>
              </a:rPr>
              <a:t>3:00</a:t>
            </a:r>
            <a:r>
              <a:rPr sz="1343" spc="-12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35" dirty="0">
                <a:solidFill>
                  <a:srgbClr val="2B404F"/>
                </a:solidFill>
                <a:latin typeface="Tahoma"/>
                <a:cs typeface="Tahoma"/>
              </a:rPr>
              <a:t>PM</a:t>
            </a:r>
            <a:r>
              <a:rPr sz="1343" spc="-11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35" dirty="0">
                <a:solidFill>
                  <a:srgbClr val="2B404F"/>
                </a:solidFill>
                <a:latin typeface="Tahoma"/>
                <a:cs typeface="Tahoma"/>
              </a:rPr>
              <a:t>highest</a:t>
            </a:r>
            <a:r>
              <a:rPr sz="1343" spc="-11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40" dirty="0">
                <a:solidFill>
                  <a:srgbClr val="2B404F"/>
                </a:solidFill>
                <a:latin typeface="Tahoma"/>
                <a:cs typeface="Tahoma"/>
              </a:rPr>
              <a:t>usage </a:t>
            </a:r>
            <a:r>
              <a:rPr sz="1343" spc="-80" dirty="0">
                <a:solidFill>
                  <a:srgbClr val="2B404F"/>
                </a:solidFill>
                <a:latin typeface="Tahoma"/>
                <a:cs typeface="Tahoma"/>
              </a:rPr>
              <a:t>110</a:t>
            </a:r>
            <a:r>
              <a:rPr sz="1343" spc="-13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30" dirty="0">
                <a:solidFill>
                  <a:srgbClr val="2B404F"/>
                </a:solidFill>
                <a:latin typeface="Tahoma"/>
                <a:cs typeface="Tahoma"/>
              </a:rPr>
              <a:t>rentals</a:t>
            </a:r>
            <a:r>
              <a:rPr sz="1343" spc="-13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20" dirty="0">
                <a:solidFill>
                  <a:srgbClr val="2B404F"/>
                </a:solidFill>
                <a:latin typeface="Tahoma"/>
                <a:cs typeface="Tahoma"/>
              </a:rPr>
              <a:t>on</a:t>
            </a:r>
            <a:r>
              <a:rPr sz="1343" spc="-13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dirty="0">
                <a:solidFill>
                  <a:srgbClr val="2B404F"/>
                </a:solidFill>
                <a:latin typeface="Tahoma"/>
                <a:cs typeface="Tahoma"/>
              </a:rPr>
              <a:t>Jan</a:t>
            </a:r>
            <a:r>
              <a:rPr sz="1343" spc="-13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80" dirty="0">
                <a:solidFill>
                  <a:srgbClr val="2B404F"/>
                </a:solidFill>
                <a:latin typeface="Tahoma"/>
                <a:cs typeface="Tahoma"/>
              </a:rPr>
              <a:t>1</a:t>
            </a:r>
            <a:r>
              <a:rPr sz="1343" spc="-13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10" dirty="0">
                <a:solidFill>
                  <a:srgbClr val="2B404F"/>
                </a:solidFill>
                <a:latin typeface="Tahoma"/>
                <a:cs typeface="Tahoma"/>
              </a:rPr>
              <a:t>(Sat)</a:t>
            </a:r>
            <a:endParaRPr sz="1343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5014" y="3922398"/>
            <a:ext cx="517986" cy="308210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625014" y="4331701"/>
            <a:ext cx="5943058" cy="18958"/>
          </a:xfrm>
          <a:custGeom>
            <a:avLst/>
            <a:gdLst/>
            <a:ahLst/>
            <a:cxnLst/>
            <a:rect l="l" t="t" r="r" b="b"/>
            <a:pathLst>
              <a:path w="5972175" h="19050">
                <a:moveTo>
                  <a:pt x="5972175" y="0"/>
                </a:moveTo>
                <a:lnTo>
                  <a:pt x="0" y="0"/>
                </a:lnTo>
                <a:lnTo>
                  <a:pt x="0" y="19050"/>
                </a:lnTo>
                <a:lnTo>
                  <a:pt x="5972175" y="19050"/>
                </a:lnTo>
                <a:lnTo>
                  <a:pt x="5972175" y="0"/>
                </a:lnTo>
                <a:close/>
              </a:path>
            </a:pathLst>
          </a:custGeom>
          <a:solidFill>
            <a:srgbClr val="315F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12376" y="4437546"/>
            <a:ext cx="2216719" cy="680560"/>
          </a:xfrm>
          <a:prstGeom prst="rect">
            <a:avLst/>
          </a:prstGeom>
        </p:spPr>
        <p:txBody>
          <a:bodyPr vert="horz" wrap="square" lIns="0" tIns="17062" rIns="0" bIns="0" rtlCol="0">
            <a:spAutoFit/>
          </a:bodyPr>
          <a:lstStyle/>
          <a:p>
            <a:pPr marL="12638">
              <a:spcBef>
                <a:spcPts val="135"/>
              </a:spcBef>
            </a:pPr>
            <a:r>
              <a:rPr sz="1642" spc="65" dirty="0">
                <a:solidFill>
                  <a:srgbClr val="2B404F"/>
                </a:solidFill>
                <a:latin typeface="Microsoft Sans Serif"/>
                <a:cs typeface="Microsoft Sans Serif"/>
              </a:rPr>
              <a:t>Evening</a:t>
            </a:r>
            <a:r>
              <a:rPr sz="1642" spc="35" dirty="0">
                <a:solidFill>
                  <a:srgbClr val="2B404F"/>
                </a:solidFill>
                <a:latin typeface="Microsoft Sans Serif"/>
                <a:cs typeface="Microsoft Sans Serif"/>
              </a:rPr>
              <a:t> </a:t>
            </a:r>
            <a:r>
              <a:rPr sz="1642" spc="-10" dirty="0">
                <a:solidFill>
                  <a:srgbClr val="2B404F"/>
                </a:solidFill>
                <a:latin typeface="Microsoft Sans Serif"/>
                <a:cs typeface="Microsoft Sans Serif"/>
              </a:rPr>
              <a:t>Decline</a:t>
            </a:r>
            <a:endParaRPr sz="1642">
              <a:latin typeface="Microsoft Sans Serif"/>
              <a:cs typeface="Microsoft Sans Serif"/>
            </a:endParaRPr>
          </a:p>
          <a:p>
            <a:pPr marL="12638">
              <a:spcBef>
                <a:spcPts val="1537"/>
              </a:spcBef>
            </a:pPr>
            <a:r>
              <a:rPr sz="1343" spc="-35" dirty="0">
                <a:solidFill>
                  <a:srgbClr val="2B404F"/>
                </a:solidFill>
                <a:latin typeface="Tahoma"/>
                <a:cs typeface="Tahoma"/>
              </a:rPr>
              <a:t>Gradual</a:t>
            </a:r>
            <a:r>
              <a:rPr sz="1343" spc="-11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45" dirty="0">
                <a:solidFill>
                  <a:srgbClr val="2B404F"/>
                </a:solidFill>
                <a:latin typeface="Tahoma"/>
                <a:cs typeface="Tahoma"/>
              </a:rPr>
              <a:t>decrease</a:t>
            </a:r>
            <a:r>
              <a:rPr sz="1343" spc="-10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40" dirty="0">
                <a:solidFill>
                  <a:srgbClr val="2B404F"/>
                </a:solidFill>
                <a:latin typeface="Tahoma"/>
                <a:cs typeface="Tahoma"/>
              </a:rPr>
              <a:t>after</a:t>
            </a:r>
            <a:r>
              <a:rPr sz="1343" spc="-10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95" dirty="0">
                <a:solidFill>
                  <a:srgbClr val="2B404F"/>
                </a:solidFill>
                <a:latin typeface="Tahoma"/>
                <a:cs typeface="Tahoma"/>
              </a:rPr>
              <a:t>6:00</a:t>
            </a:r>
            <a:r>
              <a:rPr sz="1343" spc="-10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25" dirty="0">
                <a:solidFill>
                  <a:srgbClr val="2B404F"/>
                </a:solidFill>
                <a:latin typeface="Tahoma"/>
                <a:cs typeface="Tahoma"/>
              </a:rPr>
              <a:t>PM</a:t>
            </a:r>
            <a:endParaRPr sz="1343">
              <a:latin typeface="Tahoma"/>
              <a:cs typeface="Tahoma"/>
            </a:endParaRPr>
          </a:p>
        </p:txBody>
      </p:sp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15934" y="744065"/>
            <a:ext cx="3819859" cy="3819860"/>
          </a:xfrm>
          <a:prstGeom prst="rect">
            <a:avLst/>
          </a:prstGeom>
        </p:spPr>
      </p:pic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CD3BE01F-956B-E5D7-D921-7309D321F8A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92619937"/>
              </p:ext>
            </p:extLst>
          </p:nvPr>
        </p:nvGraphicFramePr>
        <p:xfrm>
          <a:off x="395870" y="5325044"/>
          <a:ext cx="9510130" cy="38009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864" y="0"/>
            <a:ext cx="11374272" cy="9498806"/>
          </a:xfrm>
          <a:custGeom>
            <a:avLst/>
            <a:gdLst/>
            <a:ahLst/>
            <a:cxnLst/>
            <a:rect l="l" t="t" r="r" b="b"/>
            <a:pathLst>
              <a:path w="11430000" h="7096125">
                <a:moveTo>
                  <a:pt x="11430000" y="0"/>
                </a:moveTo>
                <a:lnTo>
                  <a:pt x="0" y="0"/>
                </a:lnTo>
                <a:lnTo>
                  <a:pt x="0" y="7096125"/>
                </a:lnTo>
                <a:lnTo>
                  <a:pt x="11430000" y="7096125"/>
                </a:lnTo>
                <a:lnTo>
                  <a:pt x="11430000" y="0"/>
                </a:lnTo>
                <a:close/>
              </a:path>
            </a:pathLst>
          </a:custGeom>
          <a:solidFill>
            <a:srgbClr val="FFFCF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864" y="1"/>
            <a:ext cx="4265352" cy="614600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12376" y="451280"/>
            <a:ext cx="10205250" cy="528326"/>
          </a:xfrm>
          <a:prstGeom prst="rect">
            <a:avLst/>
          </a:prstGeom>
        </p:spPr>
        <p:txBody>
          <a:bodyPr vert="horz" wrap="square" lIns="0" tIns="15797" rIns="0" bIns="0" rtlCol="0">
            <a:spAutoFit/>
          </a:bodyPr>
          <a:lstStyle/>
          <a:p>
            <a:pPr marL="4277904">
              <a:spcBef>
                <a:spcPts val="125"/>
              </a:spcBef>
            </a:pPr>
            <a:r>
              <a:rPr spc="228" dirty="0"/>
              <a:t>Weather's</a:t>
            </a:r>
            <a:r>
              <a:rPr spc="20" dirty="0"/>
              <a:t> </a:t>
            </a:r>
            <a:r>
              <a:rPr spc="224" dirty="0"/>
              <a:t>Powerful</a:t>
            </a:r>
            <a:r>
              <a:rPr spc="25" dirty="0"/>
              <a:t> </a:t>
            </a:r>
            <a:r>
              <a:rPr spc="304" dirty="0"/>
              <a:t>Impact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877728" y="1187348"/>
            <a:ext cx="5772443" cy="532219"/>
          </a:xfrm>
          <a:prstGeom prst="rect">
            <a:avLst/>
          </a:prstGeom>
        </p:spPr>
        <p:txBody>
          <a:bodyPr vert="horz" wrap="square" lIns="0" tIns="12638" rIns="0" bIns="0" rtlCol="0">
            <a:spAutoFit/>
          </a:bodyPr>
          <a:lstStyle/>
          <a:p>
            <a:pPr marL="12638" marR="5055">
              <a:lnSpc>
                <a:spcPct val="134300"/>
              </a:lnSpc>
              <a:spcBef>
                <a:spcPts val="100"/>
              </a:spcBef>
            </a:pPr>
            <a:r>
              <a:rPr sz="1343" spc="-60" dirty="0">
                <a:solidFill>
                  <a:srgbClr val="2B404F"/>
                </a:solidFill>
                <a:latin typeface="Tahoma"/>
                <a:cs typeface="Tahoma"/>
              </a:rPr>
              <a:t>Weather</a:t>
            </a:r>
            <a:r>
              <a:rPr sz="1343" spc="-11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10" dirty="0">
                <a:solidFill>
                  <a:srgbClr val="2B404F"/>
                </a:solidFill>
                <a:latin typeface="Tahoma"/>
                <a:cs typeface="Tahoma"/>
              </a:rPr>
              <a:t>conditions</a:t>
            </a:r>
            <a:r>
              <a:rPr sz="1343" spc="-11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25" dirty="0">
                <a:solidFill>
                  <a:srgbClr val="2B404F"/>
                </a:solidFill>
                <a:latin typeface="Tahoma"/>
                <a:cs typeface="Tahoma"/>
              </a:rPr>
              <a:t>significantly</a:t>
            </a:r>
            <a:r>
              <a:rPr sz="1343" spc="-10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30" dirty="0">
                <a:solidFill>
                  <a:srgbClr val="2B404F"/>
                </a:solidFill>
                <a:latin typeface="Tahoma"/>
                <a:cs typeface="Tahoma"/>
              </a:rPr>
              <a:t>influence</a:t>
            </a:r>
            <a:r>
              <a:rPr sz="1343" spc="-11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30" dirty="0">
                <a:solidFill>
                  <a:srgbClr val="2B404F"/>
                </a:solidFill>
                <a:latin typeface="Tahoma"/>
                <a:cs typeface="Tahoma"/>
              </a:rPr>
              <a:t>rental</a:t>
            </a:r>
            <a:r>
              <a:rPr sz="1343" spc="-10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35" dirty="0">
                <a:solidFill>
                  <a:srgbClr val="2B404F"/>
                </a:solidFill>
                <a:latin typeface="Tahoma"/>
                <a:cs typeface="Tahoma"/>
              </a:rPr>
              <a:t>demand,</a:t>
            </a:r>
            <a:r>
              <a:rPr sz="1343" spc="-11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10" dirty="0">
                <a:solidFill>
                  <a:srgbClr val="2B404F"/>
                </a:solidFill>
                <a:latin typeface="Tahoma"/>
                <a:cs typeface="Tahoma"/>
              </a:rPr>
              <a:t>with</a:t>
            </a:r>
            <a:r>
              <a:rPr sz="1343" spc="-10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30" dirty="0">
                <a:solidFill>
                  <a:srgbClr val="2B404F"/>
                </a:solidFill>
                <a:latin typeface="Tahoma"/>
                <a:cs typeface="Tahoma"/>
              </a:rPr>
              <a:t>clear</a:t>
            </a:r>
            <a:r>
              <a:rPr sz="1343" spc="-11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30" dirty="0">
                <a:solidFill>
                  <a:srgbClr val="2B404F"/>
                </a:solidFill>
                <a:latin typeface="Tahoma"/>
                <a:cs typeface="Tahoma"/>
              </a:rPr>
              <a:t>skies</a:t>
            </a:r>
            <a:r>
              <a:rPr sz="1343" spc="-10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10" dirty="0">
                <a:solidFill>
                  <a:srgbClr val="2B404F"/>
                </a:solidFill>
                <a:latin typeface="Tahoma"/>
                <a:cs typeface="Tahoma"/>
              </a:rPr>
              <a:t>driving </a:t>
            </a:r>
            <a:r>
              <a:rPr sz="1343" spc="-25" dirty="0">
                <a:solidFill>
                  <a:srgbClr val="2B404F"/>
                </a:solidFill>
                <a:latin typeface="Tahoma"/>
                <a:cs typeface="Tahoma"/>
              </a:rPr>
              <a:t>the</a:t>
            </a:r>
            <a:r>
              <a:rPr sz="1343" spc="-12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35" dirty="0">
                <a:solidFill>
                  <a:srgbClr val="2B404F"/>
                </a:solidFill>
                <a:latin typeface="Tahoma"/>
                <a:cs typeface="Tahoma"/>
              </a:rPr>
              <a:t>highest</a:t>
            </a:r>
            <a:r>
              <a:rPr sz="1343" spc="-12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10" dirty="0">
                <a:solidFill>
                  <a:srgbClr val="2B404F"/>
                </a:solidFill>
                <a:latin typeface="Tahoma"/>
                <a:cs typeface="Tahoma"/>
              </a:rPr>
              <a:t>usage.</a:t>
            </a:r>
            <a:endParaRPr sz="1343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890366" y="1999978"/>
            <a:ext cx="2872003" cy="2208504"/>
            <a:chOff x="4886325" y="2009775"/>
            <a:chExt cx="2886075" cy="2219325"/>
          </a:xfrm>
        </p:grpSpPr>
        <p:sp>
          <p:nvSpPr>
            <p:cNvPr id="7" name="object 7"/>
            <p:cNvSpPr/>
            <p:nvPr/>
          </p:nvSpPr>
          <p:spPr>
            <a:xfrm>
              <a:off x="4886325" y="2009775"/>
              <a:ext cx="2886075" cy="2219325"/>
            </a:xfrm>
            <a:custGeom>
              <a:avLst/>
              <a:gdLst/>
              <a:ahLst/>
              <a:cxnLst/>
              <a:rect l="l" t="t" r="r" b="b"/>
              <a:pathLst>
                <a:path w="2886075" h="2219325">
                  <a:moveTo>
                    <a:pt x="2867482" y="0"/>
                  </a:moveTo>
                  <a:lnTo>
                    <a:pt x="18592" y="0"/>
                  </a:lnTo>
                  <a:lnTo>
                    <a:pt x="15849" y="546"/>
                  </a:lnTo>
                  <a:lnTo>
                    <a:pt x="0" y="18592"/>
                  </a:lnTo>
                  <a:lnTo>
                    <a:pt x="0" y="2197887"/>
                  </a:lnTo>
                  <a:lnTo>
                    <a:pt x="0" y="2200732"/>
                  </a:lnTo>
                  <a:lnTo>
                    <a:pt x="18592" y="2219325"/>
                  </a:lnTo>
                  <a:lnTo>
                    <a:pt x="2867482" y="2219325"/>
                  </a:lnTo>
                  <a:lnTo>
                    <a:pt x="2886075" y="2200732"/>
                  </a:lnTo>
                  <a:lnTo>
                    <a:pt x="2886075" y="18592"/>
                  </a:lnTo>
                  <a:lnTo>
                    <a:pt x="2870225" y="546"/>
                  </a:lnTo>
                  <a:lnTo>
                    <a:pt x="2867482" y="0"/>
                  </a:lnTo>
                  <a:close/>
                </a:path>
              </a:pathLst>
            </a:custGeom>
            <a:solidFill>
              <a:srgbClr val="F3EE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57775" y="2181225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5" y="0"/>
                  </a:moveTo>
                  <a:lnTo>
                    <a:pt x="248754" y="0"/>
                  </a:lnTo>
                  <a:lnTo>
                    <a:pt x="240347" y="419"/>
                  </a:lnTo>
                  <a:lnTo>
                    <a:pt x="198742" y="6591"/>
                  </a:lnTo>
                  <a:lnTo>
                    <a:pt x="150977" y="22796"/>
                  </a:lnTo>
                  <a:lnTo>
                    <a:pt x="107289" y="48018"/>
                  </a:lnTo>
                  <a:lnTo>
                    <a:pt x="69367" y="81280"/>
                  </a:lnTo>
                  <a:lnTo>
                    <a:pt x="38658" y="121297"/>
                  </a:lnTo>
                  <a:lnTo>
                    <a:pt x="16357" y="166547"/>
                  </a:lnTo>
                  <a:lnTo>
                    <a:pt x="3302" y="215265"/>
                  </a:lnTo>
                  <a:lnTo>
                    <a:pt x="0" y="248754"/>
                  </a:lnTo>
                  <a:lnTo>
                    <a:pt x="0" y="257175"/>
                  </a:lnTo>
                  <a:lnTo>
                    <a:pt x="0" y="265595"/>
                  </a:lnTo>
                  <a:lnTo>
                    <a:pt x="6578" y="315607"/>
                  </a:lnTo>
                  <a:lnTo>
                    <a:pt x="22796" y="363372"/>
                  </a:lnTo>
                  <a:lnTo>
                    <a:pt x="48018" y="407060"/>
                  </a:lnTo>
                  <a:lnTo>
                    <a:pt x="81280" y="444982"/>
                  </a:lnTo>
                  <a:lnTo>
                    <a:pt x="121297" y="475691"/>
                  </a:lnTo>
                  <a:lnTo>
                    <a:pt x="166535" y="497992"/>
                  </a:lnTo>
                  <a:lnTo>
                    <a:pt x="215265" y="511048"/>
                  </a:lnTo>
                  <a:lnTo>
                    <a:pt x="248754" y="514350"/>
                  </a:lnTo>
                  <a:lnTo>
                    <a:pt x="265595" y="514350"/>
                  </a:lnTo>
                  <a:lnTo>
                    <a:pt x="315607" y="507758"/>
                  </a:lnTo>
                  <a:lnTo>
                    <a:pt x="363372" y="491553"/>
                  </a:lnTo>
                  <a:lnTo>
                    <a:pt x="407060" y="466331"/>
                  </a:lnTo>
                  <a:lnTo>
                    <a:pt x="444982" y="433070"/>
                  </a:lnTo>
                  <a:lnTo>
                    <a:pt x="475691" y="393052"/>
                  </a:lnTo>
                  <a:lnTo>
                    <a:pt x="498005" y="347814"/>
                  </a:lnTo>
                  <a:lnTo>
                    <a:pt x="511048" y="299085"/>
                  </a:lnTo>
                  <a:lnTo>
                    <a:pt x="514350" y="265595"/>
                  </a:lnTo>
                  <a:lnTo>
                    <a:pt x="514350" y="248754"/>
                  </a:lnTo>
                  <a:lnTo>
                    <a:pt x="507771" y="198742"/>
                  </a:lnTo>
                  <a:lnTo>
                    <a:pt x="491553" y="150977"/>
                  </a:lnTo>
                  <a:lnTo>
                    <a:pt x="466331" y="107289"/>
                  </a:lnTo>
                  <a:lnTo>
                    <a:pt x="433070" y="69367"/>
                  </a:lnTo>
                  <a:lnTo>
                    <a:pt x="393052" y="38658"/>
                  </a:lnTo>
                  <a:lnTo>
                    <a:pt x="347814" y="16357"/>
                  </a:lnTo>
                  <a:lnTo>
                    <a:pt x="299085" y="3302"/>
                  </a:lnTo>
                  <a:lnTo>
                    <a:pt x="274002" y="419"/>
                  </a:lnTo>
                  <a:lnTo>
                    <a:pt x="265595" y="0"/>
                  </a:lnTo>
                  <a:close/>
                </a:path>
              </a:pathLst>
            </a:custGeom>
            <a:solidFill>
              <a:srgbClr val="315F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02097" y="2324100"/>
              <a:ext cx="228536" cy="231419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5048341" y="2835669"/>
            <a:ext cx="2157321" cy="1154489"/>
          </a:xfrm>
          <a:prstGeom prst="rect">
            <a:avLst/>
          </a:prstGeom>
        </p:spPr>
        <p:txBody>
          <a:bodyPr vert="horz" wrap="square" lIns="0" tIns="17062" rIns="0" bIns="0" rtlCol="0">
            <a:spAutoFit/>
          </a:bodyPr>
          <a:lstStyle/>
          <a:p>
            <a:pPr marL="12638">
              <a:spcBef>
                <a:spcPts val="135"/>
              </a:spcBef>
            </a:pPr>
            <a:r>
              <a:rPr sz="1642" dirty="0">
                <a:solidFill>
                  <a:srgbClr val="2B404F"/>
                </a:solidFill>
                <a:latin typeface="Microsoft Sans Serif"/>
                <a:cs typeface="Microsoft Sans Serif"/>
              </a:rPr>
              <a:t>Clear</a:t>
            </a:r>
            <a:r>
              <a:rPr sz="1642" spc="-35" dirty="0">
                <a:solidFill>
                  <a:srgbClr val="2B404F"/>
                </a:solidFill>
                <a:latin typeface="Microsoft Sans Serif"/>
                <a:cs typeface="Microsoft Sans Serif"/>
              </a:rPr>
              <a:t> </a:t>
            </a:r>
            <a:r>
              <a:rPr sz="1642" spc="90" dirty="0">
                <a:solidFill>
                  <a:srgbClr val="2B404F"/>
                </a:solidFill>
                <a:latin typeface="Microsoft Sans Serif"/>
                <a:cs typeface="Microsoft Sans Serif"/>
              </a:rPr>
              <a:t>Sky</a:t>
            </a:r>
            <a:endParaRPr sz="1642">
              <a:latin typeface="Microsoft Sans Serif"/>
              <a:cs typeface="Microsoft Sans Serif"/>
            </a:endParaRPr>
          </a:p>
          <a:p>
            <a:pPr marL="12638">
              <a:spcBef>
                <a:spcPts val="1014"/>
              </a:spcBef>
            </a:pPr>
            <a:r>
              <a:rPr sz="1343" b="1" spc="-65" dirty="0">
                <a:solidFill>
                  <a:srgbClr val="2B404F"/>
                </a:solidFill>
                <a:latin typeface="Arial"/>
                <a:cs typeface="Arial"/>
              </a:rPr>
              <a:t>Highest</a:t>
            </a:r>
            <a:r>
              <a:rPr sz="1343" b="1" spc="-75" dirty="0">
                <a:solidFill>
                  <a:srgbClr val="2B404F"/>
                </a:solidFill>
                <a:latin typeface="Arial"/>
                <a:cs typeface="Arial"/>
              </a:rPr>
              <a:t> </a:t>
            </a:r>
            <a:r>
              <a:rPr sz="1343" b="1" spc="-10" dirty="0">
                <a:solidFill>
                  <a:srgbClr val="2B404F"/>
                </a:solidFill>
                <a:latin typeface="Arial"/>
                <a:cs typeface="Arial"/>
              </a:rPr>
              <a:t>volume</a:t>
            </a:r>
            <a:endParaRPr sz="1343">
              <a:latin typeface="Arial"/>
              <a:cs typeface="Arial"/>
            </a:endParaRPr>
          </a:p>
          <a:p>
            <a:pPr marL="12638" marR="5055">
              <a:lnSpc>
                <a:spcPts val="2159"/>
              </a:lnSpc>
              <a:spcBef>
                <a:spcPts val="35"/>
              </a:spcBef>
            </a:pPr>
            <a:r>
              <a:rPr sz="1343" spc="-80" dirty="0">
                <a:solidFill>
                  <a:srgbClr val="2B404F"/>
                </a:solidFill>
                <a:latin typeface="Tahoma"/>
                <a:cs typeface="Tahoma"/>
              </a:rPr>
              <a:t>212</a:t>
            </a:r>
            <a:r>
              <a:rPr sz="1343" spc="-13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30" dirty="0">
                <a:solidFill>
                  <a:srgbClr val="2B404F"/>
                </a:solidFill>
                <a:latin typeface="Tahoma"/>
                <a:cs typeface="Tahoma"/>
              </a:rPr>
              <a:t>rentals</a:t>
            </a:r>
            <a:r>
              <a:rPr sz="1343" spc="-12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35" dirty="0">
                <a:solidFill>
                  <a:srgbClr val="2B404F"/>
                </a:solidFill>
                <a:latin typeface="Tahoma"/>
                <a:cs typeface="Tahoma"/>
              </a:rPr>
              <a:t>peak</a:t>
            </a:r>
            <a:r>
              <a:rPr sz="1343" spc="-12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20" dirty="0">
                <a:solidFill>
                  <a:srgbClr val="2B404F"/>
                </a:solidFill>
                <a:latin typeface="Tahoma"/>
                <a:cs typeface="Tahoma"/>
              </a:rPr>
              <a:t>on</a:t>
            </a:r>
            <a:r>
              <a:rPr sz="1343" spc="-13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dirty="0">
                <a:solidFill>
                  <a:srgbClr val="2B404F"/>
                </a:solidFill>
                <a:latin typeface="Tahoma"/>
                <a:cs typeface="Tahoma"/>
              </a:rPr>
              <a:t>Jan</a:t>
            </a:r>
            <a:r>
              <a:rPr sz="1343" spc="-12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50" dirty="0">
                <a:solidFill>
                  <a:srgbClr val="2B404F"/>
                </a:solidFill>
                <a:latin typeface="Tahoma"/>
                <a:cs typeface="Tahoma"/>
              </a:rPr>
              <a:t>5 </a:t>
            </a:r>
            <a:r>
              <a:rPr sz="1343" spc="-20" dirty="0">
                <a:solidFill>
                  <a:srgbClr val="2B404F"/>
                </a:solidFill>
                <a:latin typeface="Tahoma"/>
                <a:cs typeface="Tahoma"/>
              </a:rPr>
              <a:t>Optimal</a:t>
            </a:r>
            <a:r>
              <a:rPr sz="1343" spc="-13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10" dirty="0">
                <a:solidFill>
                  <a:srgbClr val="2B404F"/>
                </a:solidFill>
                <a:latin typeface="Tahoma"/>
                <a:cs typeface="Tahoma"/>
              </a:rPr>
              <a:t>conditions</a:t>
            </a:r>
            <a:r>
              <a:rPr sz="1343" spc="-13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35" dirty="0">
                <a:solidFill>
                  <a:srgbClr val="2B404F"/>
                </a:solidFill>
                <a:latin typeface="Tahoma"/>
                <a:cs typeface="Tahoma"/>
              </a:rPr>
              <a:t>for</a:t>
            </a:r>
            <a:r>
              <a:rPr sz="1343" spc="-13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10" dirty="0">
                <a:solidFill>
                  <a:srgbClr val="2B404F"/>
                </a:solidFill>
                <a:latin typeface="Tahoma"/>
                <a:cs typeface="Tahoma"/>
              </a:rPr>
              <a:t>cycling</a:t>
            </a:r>
            <a:endParaRPr sz="1343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932984" y="1999978"/>
            <a:ext cx="2872003" cy="2208504"/>
            <a:chOff x="7943850" y="2009775"/>
            <a:chExt cx="2886075" cy="2219325"/>
          </a:xfrm>
        </p:grpSpPr>
        <p:sp>
          <p:nvSpPr>
            <p:cNvPr id="12" name="object 12"/>
            <p:cNvSpPr/>
            <p:nvPr/>
          </p:nvSpPr>
          <p:spPr>
            <a:xfrm>
              <a:off x="7943850" y="2009775"/>
              <a:ext cx="2886075" cy="2219325"/>
            </a:xfrm>
            <a:custGeom>
              <a:avLst/>
              <a:gdLst/>
              <a:ahLst/>
              <a:cxnLst/>
              <a:rect l="l" t="t" r="r" b="b"/>
              <a:pathLst>
                <a:path w="2886075" h="2219325">
                  <a:moveTo>
                    <a:pt x="2867482" y="0"/>
                  </a:moveTo>
                  <a:lnTo>
                    <a:pt x="18592" y="0"/>
                  </a:lnTo>
                  <a:lnTo>
                    <a:pt x="15849" y="546"/>
                  </a:lnTo>
                  <a:lnTo>
                    <a:pt x="0" y="18592"/>
                  </a:lnTo>
                  <a:lnTo>
                    <a:pt x="0" y="2197887"/>
                  </a:lnTo>
                  <a:lnTo>
                    <a:pt x="0" y="2200732"/>
                  </a:lnTo>
                  <a:lnTo>
                    <a:pt x="18592" y="2219325"/>
                  </a:lnTo>
                  <a:lnTo>
                    <a:pt x="2867482" y="2219325"/>
                  </a:lnTo>
                  <a:lnTo>
                    <a:pt x="2886075" y="2200732"/>
                  </a:lnTo>
                  <a:lnTo>
                    <a:pt x="2886075" y="18592"/>
                  </a:lnTo>
                  <a:lnTo>
                    <a:pt x="2870225" y="546"/>
                  </a:lnTo>
                  <a:lnTo>
                    <a:pt x="2867482" y="0"/>
                  </a:lnTo>
                  <a:close/>
                </a:path>
              </a:pathLst>
            </a:custGeom>
            <a:solidFill>
              <a:srgbClr val="F3EE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115300" y="2181225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5" y="0"/>
                  </a:moveTo>
                  <a:lnTo>
                    <a:pt x="248754" y="0"/>
                  </a:lnTo>
                  <a:lnTo>
                    <a:pt x="240347" y="419"/>
                  </a:lnTo>
                  <a:lnTo>
                    <a:pt x="198742" y="6591"/>
                  </a:lnTo>
                  <a:lnTo>
                    <a:pt x="150977" y="22796"/>
                  </a:lnTo>
                  <a:lnTo>
                    <a:pt x="107289" y="48018"/>
                  </a:lnTo>
                  <a:lnTo>
                    <a:pt x="69367" y="81280"/>
                  </a:lnTo>
                  <a:lnTo>
                    <a:pt x="38658" y="121297"/>
                  </a:lnTo>
                  <a:lnTo>
                    <a:pt x="16357" y="166547"/>
                  </a:lnTo>
                  <a:lnTo>
                    <a:pt x="3302" y="215265"/>
                  </a:lnTo>
                  <a:lnTo>
                    <a:pt x="0" y="248754"/>
                  </a:lnTo>
                  <a:lnTo>
                    <a:pt x="0" y="257175"/>
                  </a:lnTo>
                  <a:lnTo>
                    <a:pt x="0" y="265595"/>
                  </a:lnTo>
                  <a:lnTo>
                    <a:pt x="6578" y="315607"/>
                  </a:lnTo>
                  <a:lnTo>
                    <a:pt x="22796" y="363372"/>
                  </a:lnTo>
                  <a:lnTo>
                    <a:pt x="48018" y="407060"/>
                  </a:lnTo>
                  <a:lnTo>
                    <a:pt x="81280" y="444982"/>
                  </a:lnTo>
                  <a:lnTo>
                    <a:pt x="121297" y="475691"/>
                  </a:lnTo>
                  <a:lnTo>
                    <a:pt x="166535" y="497992"/>
                  </a:lnTo>
                  <a:lnTo>
                    <a:pt x="215265" y="511048"/>
                  </a:lnTo>
                  <a:lnTo>
                    <a:pt x="248754" y="514350"/>
                  </a:lnTo>
                  <a:lnTo>
                    <a:pt x="265595" y="514350"/>
                  </a:lnTo>
                  <a:lnTo>
                    <a:pt x="315607" y="507758"/>
                  </a:lnTo>
                  <a:lnTo>
                    <a:pt x="363372" y="491553"/>
                  </a:lnTo>
                  <a:lnTo>
                    <a:pt x="407060" y="466331"/>
                  </a:lnTo>
                  <a:lnTo>
                    <a:pt x="444982" y="433070"/>
                  </a:lnTo>
                  <a:lnTo>
                    <a:pt x="475678" y="393052"/>
                  </a:lnTo>
                  <a:lnTo>
                    <a:pt x="497992" y="347814"/>
                  </a:lnTo>
                  <a:lnTo>
                    <a:pt x="511048" y="299085"/>
                  </a:lnTo>
                  <a:lnTo>
                    <a:pt x="514350" y="265595"/>
                  </a:lnTo>
                  <a:lnTo>
                    <a:pt x="514350" y="248754"/>
                  </a:lnTo>
                  <a:lnTo>
                    <a:pt x="507758" y="198742"/>
                  </a:lnTo>
                  <a:lnTo>
                    <a:pt x="491553" y="150977"/>
                  </a:lnTo>
                  <a:lnTo>
                    <a:pt x="466331" y="107289"/>
                  </a:lnTo>
                  <a:lnTo>
                    <a:pt x="433070" y="69367"/>
                  </a:lnTo>
                  <a:lnTo>
                    <a:pt x="393052" y="38658"/>
                  </a:lnTo>
                  <a:lnTo>
                    <a:pt x="347802" y="16357"/>
                  </a:lnTo>
                  <a:lnTo>
                    <a:pt x="299085" y="3302"/>
                  </a:lnTo>
                  <a:lnTo>
                    <a:pt x="274002" y="419"/>
                  </a:lnTo>
                  <a:lnTo>
                    <a:pt x="265595" y="0"/>
                  </a:lnTo>
                  <a:close/>
                </a:path>
              </a:pathLst>
            </a:custGeom>
            <a:solidFill>
              <a:srgbClr val="315F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52834" y="2360212"/>
              <a:ext cx="242024" cy="159068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8090959" y="2835669"/>
            <a:ext cx="1819884" cy="1154489"/>
          </a:xfrm>
          <a:prstGeom prst="rect">
            <a:avLst/>
          </a:prstGeom>
        </p:spPr>
        <p:txBody>
          <a:bodyPr vert="horz" wrap="square" lIns="0" tIns="17062" rIns="0" bIns="0" rtlCol="0">
            <a:spAutoFit/>
          </a:bodyPr>
          <a:lstStyle/>
          <a:p>
            <a:pPr marL="12638">
              <a:spcBef>
                <a:spcPts val="135"/>
              </a:spcBef>
            </a:pPr>
            <a:r>
              <a:rPr sz="1642" spc="169" dirty="0">
                <a:solidFill>
                  <a:srgbClr val="2B404F"/>
                </a:solidFill>
                <a:latin typeface="Microsoft Sans Serif"/>
                <a:cs typeface="Microsoft Sans Serif"/>
              </a:rPr>
              <a:t>Mist</a:t>
            </a:r>
            <a:endParaRPr sz="1642">
              <a:latin typeface="Microsoft Sans Serif"/>
              <a:cs typeface="Microsoft Sans Serif"/>
            </a:endParaRPr>
          </a:p>
          <a:p>
            <a:pPr marL="12638">
              <a:spcBef>
                <a:spcPts val="1014"/>
              </a:spcBef>
            </a:pPr>
            <a:r>
              <a:rPr sz="1343" b="1" spc="-60" dirty="0">
                <a:solidFill>
                  <a:srgbClr val="2B404F"/>
                </a:solidFill>
                <a:latin typeface="Arial"/>
                <a:cs typeface="Arial"/>
              </a:rPr>
              <a:t>Moderate</a:t>
            </a:r>
            <a:r>
              <a:rPr sz="1343" b="1" spc="-40" dirty="0">
                <a:solidFill>
                  <a:srgbClr val="2B404F"/>
                </a:solidFill>
                <a:latin typeface="Arial"/>
                <a:cs typeface="Arial"/>
              </a:rPr>
              <a:t> </a:t>
            </a:r>
            <a:r>
              <a:rPr sz="1343" b="1" spc="-10" dirty="0">
                <a:solidFill>
                  <a:srgbClr val="2B404F"/>
                </a:solidFill>
                <a:latin typeface="Arial"/>
                <a:cs typeface="Arial"/>
              </a:rPr>
              <a:t>volume</a:t>
            </a:r>
            <a:endParaRPr sz="1343">
              <a:latin typeface="Arial"/>
              <a:cs typeface="Arial"/>
            </a:endParaRPr>
          </a:p>
          <a:p>
            <a:pPr marL="12638" marR="5055">
              <a:lnSpc>
                <a:spcPts val="2159"/>
              </a:lnSpc>
              <a:spcBef>
                <a:spcPts val="35"/>
              </a:spcBef>
            </a:pPr>
            <a:r>
              <a:rPr sz="1343" spc="-80" dirty="0">
                <a:solidFill>
                  <a:srgbClr val="2B404F"/>
                </a:solidFill>
                <a:latin typeface="Tahoma"/>
                <a:cs typeface="Tahoma"/>
              </a:rPr>
              <a:t>110</a:t>
            </a:r>
            <a:r>
              <a:rPr sz="1343" spc="-13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30" dirty="0">
                <a:solidFill>
                  <a:srgbClr val="2B404F"/>
                </a:solidFill>
                <a:latin typeface="Tahoma"/>
                <a:cs typeface="Tahoma"/>
              </a:rPr>
              <a:t>rentals</a:t>
            </a:r>
            <a:r>
              <a:rPr sz="1343" spc="-12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35" dirty="0">
                <a:solidFill>
                  <a:srgbClr val="2B404F"/>
                </a:solidFill>
                <a:latin typeface="Tahoma"/>
                <a:cs typeface="Tahoma"/>
              </a:rPr>
              <a:t>peak</a:t>
            </a:r>
            <a:r>
              <a:rPr sz="1343" spc="-12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20" dirty="0">
                <a:solidFill>
                  <a:srgbClr val="2B404F"/>
                </a:solidFill>
                <a:latin typeface="Tahoma"/>
                <a:cs typeface="Tahoma"/>
              </a:rPr>
              <a:t>on</a:t>
            </a:r>
            <a:r>
              <a:rPr sz="1343" spc="-13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dirty="0">
                <a:solidFill>
                  <a:srgbClr val="2B404F"/>
                </a:solidFill>
                <a:latin typeface="Tahoma"/>
                <a:cs typeface="Tahoma"/>
              </a:rPr>
              <a:t>Jan</a:t>
            </a:r>
            <a:r>
              <a:rPr sz="1343" spc="-12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50" dirty="0">
                <a:solidFill>
                  <a:srgbClr val="2B404F"/>
                </a:solidFill>
                <a:latin typeface="Tahoma"/>
                <a:cs typeface="Tahoma"/>
              </a:rPr>
              <a:t>1 </a:t>
            </a:r>
            <a:r>
              <a:rPr sz="1343" spc="-45" dirty="0">
                <a:solidFill>
                  <a:srgbClr val="2B404F"/>
                </a:solidFill>
                <a:latin typeface="Tahoma"/>
                <a:cs typeface="Tahoma"/>
              </a:rPr>
              <a:t>Users</a:t>
            </a:r>
            <a:r>
              <a:rPr sz="1343" spc="-13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dirty="0">
                <a:solidFill>
                  <a:srgbClr val="2B404F"/>
                </a:solidFill>
                <a:latin typeface="Tahoma"/>
                <a:cs typeface="Tahoma"/>
              </a:rPr>
              <a:t>still</a:t>
            </a:r>
            <a:r>
              <a:rPr sz="1343" spc="-12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10" dirty="0">
                <a:solidFill>
                  <a:srgbClr val="2B404F"/>
                </a:solidFill>
                <a:latin typeface="Tahoma"/>
                <a:cs typeface="Tahoma"/>
              </a:rPr>
              <a:t>willing</a:t>
            </a:r>
            <a:r>
              <a:rPr sz="1343" spc="-12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20" dirty="0">
                <a:solidFill>
                  <a:srgbClr val="2B404F"/>
                </a:solidFill>
                <a:latin typeface="Tahoma"/>
                <a:cs typeface="Tahoma"/>
              </a:rPr>
              <a:t>to</a:t>
            </a:r>
            <a:r>
              <a:rPr sz="1343" spc="-12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20" dirty="0">
                <a:solidFill>
                  <a:srgbClr val="2B404F"/>
                </a:solidFill>
                <a:latin typeface="Tahoma"/>
                <a:cs typeface="Tahoma"/>
              </a:rPr>
              <a:t>ride</a:t>
            </a:r>
            <a:endParaRPr sz="1343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890366" y="4379096"/>
            <a:ext cx="5914621" cy="2208504"/>
            <a:chOff x="4886325" y="4400550"/>
            <a:chExt cx="5943600" cy="2219325"/>
          </a:xfrm>
        </p:grpSpPr>
        <p:sp>
          <p:nvSpPr>
            <p:cNvPr id="17" name="object 17"/>
            <p:cNvSpPr/>
            <p:nvPr/>
          </p:nvSpPr>
          <p:spPr>
            <a:xfrm>
              <a:off x="4886325" y="4400550"/>
              <a:ext cx="5943600" cy="2219325"/>
            </a:xfrm>
            <a:custGeom>
              <a:avLst/>
              <a:gdLst/>
              <a:ahLst/>
              <a:cxnLst/>
              <a:rect l="l" t="t" r="r" b="b"/>
              <a:pathLst>
                <a:path w="5943600" h="2219325">
                  <a:moveTo>
                    <a:pt x="5925007" y="0"/>
                  </a:moveTo>
                  <a:lnTo>
                    <a:pt x="18592" y="0"/>
                  </a:lnTo>
                  <a:lnTo>
                    <a:pt x="15849" y="546"/>
                  </a:lnTo>
                  <a:lnTo>
                    <a:pt x="0" y="18592"/>
                  </a:lnTo>
                  <a:lnTo>
                    <a:pt x="0" y="2197891"/>
                  </a:lnTo>
                  <a:lnTo>
                    <a:pt x="0" y="2200734"/>
                  </a:lnTo>
                  <a:lnTo>
                    <a:pt x="18592" y="2219322"/>
                  </a:lnTo>
                  <a:lnTo>
                    <a:pt x="5925007" y="2219322"/>
                  </a:lnTo>
                  <a:lnTo>
                    <a:pt x="5943600" y="2200734"/>
                  </a:lnTo>
                  <a:lnTo>
                    <a:pt x="5943600" y="18592"/>
                  </a:lnTo>
                  <a:lnTo>
                    <a:pt x="5927750" y="546"/>
                  </a:lnTo>
                  <a:lnTo>
                    <a:pt x="5925007" y="0"/>
                  </a:lnTo>
                  <a:close/>
                </a:path>
              </a:pathLst>
            </a:custGeom>
            <a:solidFill>
              <a:srgbClr val="F3EE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057775" y="4572000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5" y="0"/>
                  </a:moveTo>
                  <a:lnTo>
                    <a:pt x="248754" y="0"/>
                  </a:lnTo>
                  <a:lnTo>
                    <a:pt x="240347" y="419"/>
                  </a:lnTo>
                  <a:lnTo>
                    <a:pt x="198742" y="6591"/>
                  </a:lnTo>
                  <a:lnTo>
                    <a:pt x="150977" y="22796"/>
                  </a:lnTo>
                  <a:lnTo>
                    <a:pt x="107289" y="48018"/>
                  </a:lnTo>
                  <a:lnTo>
                    <a:pt x="69367" y="81280"/>
                  </a:lnTo>
                  <a:lnTo>
                    <a:pt x="38658" y="121297"/>
                  </a:lnTo>
                  <a:lnTo>
                    <a:pt x="16357" y="166547"/>
                  </a:lnTo>
                  <a:lnTo>
                    <a:pt x="3302" y="215265"/>
                  </a:lnTo>
                  <a:lnTo>
                    <a:pt x="0" y="248754"/>
                  </a:lnTo>
                  <a:lnTo>
                    <a:pt x="0" y="257175"/>
                  </a:lnTo>
                  <a:lnTo>
                    <a:pt x="0" y="265595"/>
                  </a:lnTo>
                  <a:lnTo>
                    <a:pt x="6578" y="315607"/>
                  </a:lnTo>
                  <a:lnTo>
                    <a:pt x="22796" y="363372"/>
                  </a:lnTo>
                  <a:lnTo>
                    <a:pt x="48018" y="407060"/>
                  </a:lnTo>
                  <a:lnTo>
                    <a:pt x="81280" y="444982"/>
                  </a:lnTo>
                  <a:lnTo>
                    <a:pt x="121297" y="475691"/>
                  </a:lnTo>
                  <a:lnTo>
                    <a:pt x="166535" y="497992"/>
                  </a:lnTo>
                  <a:lnTo>
                    <a:pt x="215265" y="511048"/>
                  </a:lnTo>
                  <a:lnTo>
                    <a:pt x="248754" y="514350"/>
                  </a:lnTo>
                  <a:lnTo>
                    <a:pt x="265595" y="514350"/>
                  </a:lnTo>
                  <a:lnTo>
                    <a:pt x="315607" y="507758"/>
                  </a:lnTo>
                  <a:lnTo>
                    <a:pt x="363372" y="491553"/>
                  </a:lnTo>
                  <a:lnTo>
                    <a:pt x="407060" y="466331"/>
                  </a:lnTo>
                  <a:lnTo>
                    <a:pt x="444982" y="433070"/>
                  </a:lnTo>
                  <a:lnTo>
                    <a:pt x="475691" y="393052"/>
                  </a:lnTo>
                  <a:lnTo>
                    <a:pt x="498005" y="347814"/>
                  </a:lnTo>
                  <a:lnTo>
                    <a:pt x="511048" y="299085"/>
                  </a:lnTo>
                  <a:lnTo>
                    <a:pt x="514350" y="265595"/>
                  </a:lnTo>
                  <a:lnTo>
                    <a:pt x="514350" y="248754"/>
                  </a:lnTo>
                  <a:lnTo>
                    <a:pt x="507771" y="198742"/>
                  </a:lnTo>
                  <a:lnTo>
                    <a:pt x="491553" y="150977"/>
                  </a:lnTo>
                  <a:lnTo>
                    <a:pt x="466331" y="107289"/>
                  </a:lnTo>
                  <a:lnTo>
                    <a:pt x="433070" y="69367"/>
                  </a:lnTo>
                  <a:lnTo>
                    <a:pt x="393052" y="38658"/>
                  </a:lnTo>
                  <a:lnTo>
                    <a:pt x="347814" y="16357"/>
                  </a:lnTo>
                  <a:lnTo>
                    <a:pt x="299085" y="3302"/>
                  </a:lnTo>
                  <a:lnTo>
                    <a:pt x="274002" y="419"/>
                  </a:lnTo>
                  <a:lnTo>
                    <a:pt x="265595" y="0"/>
                  </a:lnTo>
                  <a:close/>
                </a:path>
              </a:pathLst>
            </a:custGeom>
            <a:solidFill>
              <a:srgbClr val="315F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95441" y="4709934"/>
              <a:ext cx="241721" cy="241403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5048342" y="5214787"/>
            <a:ext cx="1923515" cy="1163967"/>
          </a:xfrm>
          <a:prstGeom prst="rect">
            <a:avLst/>
          </a:prstGeom>
        </p:spPr>
        <p:txBody>
          <a:bodyPr vert="horz" wrap="square" lIns="0" tIns="17062" rIns="0" bIns="0" rtlCol="0">
            <a:spAutoFit/>
          </a:bodyPr>
          <a:lstStyle/>
          <a:p>
            <a:pPr marL="12638">
              <a:spcBef>
                <a:spcPts val="135"/>
              </a:spcBef>
            </a:pPr>
            <a:r>
              <a:rPr sz="1642" spc="95" dirty="0">
                <a:solidFill>
                  <a:srgbClr val="2B404F"/>
                </a:solidFill>
                <a:latin typeface="Microsoft Sans Serif"/>
                <a:cs typeface="Microsoft Sans Serif"/>
              </a:rPr>
              <a:t>Dark</a:t>
            </a:r>
            <a:r>
              <a:rPr sz="1642" spc="5" dirty="0">
                <a:solidFill>
                  <a:srgbClr val="2B404F"/>
                </a:solidFill>
                <a:latin typeface="Microsoft Sans Serif"/>
                <a:cs typeface="Microsoft Sans Serif"/>
              </a:rPr>
              <a:t> </a:t>
            </a:r>
            <a:r>
              <a:rPr sz="1642" spc="-10" dirty="0">
                <a:solidFill>
                  <a:srgbClr val="2B404F"/>
                </a:solidFill>
                <a:latin typeface="Microsoft Sans Serif"/>
                <a:cs typeface="Microsoft Sans Serif"/>
              </a:rPr>
              <a:t>Cloud</a:t>
            </a:r>
            <a:endParaRPr sz="1642">
              <a:latin typeface="Microsoft Sans Serif"/>
              <a:cs typeface="Microsoft Sans Serif"/>
            </a:endParaRPr>
          </a:p>
          <a:p>
            <a:pPr marL="12638">
              <a:spcBef>
                <a:spcPts val="1014"/>
              </a:spcBef>
            </a:pPr>
            <a:r>
              <a:rPr sz="1343" b="1" spc="-85" dirty="0">
                <a:solidFill>
                  <a:srgbClr val="2B404F"/>
                </a:solidFill>
                <a:latin typeface="Arial"/>
                <a:cs typeface="Arial"/>
              </a:rPr>
              <a:t>Lowest</a:t>
            </a:r>
            <a:r>
              <a:rPr sz="1343" b="1" spc="-55" dirty="0">
                <a:solidFill>
                  <a:srgbClr val="2B404F"/>
                </a:solidFill>
                <a:latin typeface="Arial"/>
                <a:cs typeface="Arial"/>
              </a:rPr>
              <a:t> </a:t>
            </a:r>
            <a:r>
              <a:rPr sz="1343" b="1" spc="-10" dirty="0">
                <a:solidFill>
                  <a:srgbClr val="2B404F"/>
                </a:solidFill>
                <a:latin typeface="Arial"/>
                <a:cs typeface="Arial"/>
              </a:rPr>
              <a:t>volume</a:t>
            </a:r>
            <a:endParaRPr sz="1343">
              <a:latin typeface="Arial"/>
              <a:cs typeface="Arial"/>
            </a:endParaRPr>
          </a:p>
          <a:p>
            <a:pPr marL="12638" marR="5055">
              <a:lnSpc>
                <a:spcPct val="134300"/>
              </a:lnSpc>
            </a:pPr>
            <a:r>
              <a:rPr sz="1343" spc="-80" dirty="0">
                <a:solidFill>
                  <a:srgbClr val="2B404F"/>
                </a:solidFill>
                <a:latin typeface="Tahoma"/>
                <a:cs typeface="Tahoma"/>
              </a:rPr>
              <a:t>95</a:t>
            </a:r>
            <a:r>
              <a:rPr sz="1343" spc="-13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30" dirty="0">
                <a:solidFill>
                  <a:srgbClr val="2B404F"/>
                </a:solidFill>
                <a:latin typeface="Tahoma"/>
                <a:cs typeface="Tahoma"/>
              </a:rPr>
              <a:t>rentals</a:t>
            </a:r>
            <a:r>
              <a:rPr sz="1343" spc="-13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35" dirty="0">
                <a:solidFill>
                  <a:srgbClr val="2B404F"/>
                </a:solidFill>
                <a:latin typeface="Tahoma"/>
                <a:cs typeface="Tahoma"/>
              </a:rPr>
              <a:t>peak</a:t>
            </a:r>
            <a:r>
              <a:rPr sz="1343" spc="-12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20" dirty="0">
                <a:solidFill>
                  <a:srgbClr val="2B404F"/>
                </a:solidFill>
                <a:latin typeface="Tahoma"/>
                <a:cs typeface="Tahoma"/>
              </a:rPr>
              <a:t>on</a:t>
            </a:r>
            <a:r>
              <a:rPr sz="1343" spc="-13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dirty="0">
                <a:solidFill>
                  <a:srgbClr val="2B404F"/>
                </a:solidFill>
                <a:latin typeface="Tahoma"/>
                <a:cs typeface="Tahoma"/>
              </a:rPr>
              <a:t>Jan</a:t>
            </a:r>
            <a:r>
              <a:rPr sz="1343" spc="-12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25" dirty="0">
                <a:solidFill>
                  <a:srgbClr val="2B404F"/>
                </a:solidFill>
                <a:latin typeface="Tahoma"/>
                <a:cs typeface="Tahoma"/>
              </a:rPr>
              <a:t>11 Significant</a:t>
            </a:r>
            <a:r>
              <a:rPr sz="1343" spc="-6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35" dirty="0">
                <a:solidFill>
                  <a:srgbClr val="2B404F"/>
                </a:solidFill>
                <a:latin typeface="Tahoma"/>
                <a:cs typeface="Tahoma"/>
              </a:rPr>
              <a:t>deterrent</a:t>
            </a:r>
            <a:r>
              <a:rPr sz="1343" spc="-6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35" dirty="0">
                <a:solidFill>
                  <a:srgbClr val="2B404F"/>
                </a:solidFill>
                <a:latin typeface="Tahoma"/>
                <a:cs typeface="Tahoma"/>
              </a:rPr>
              <a:t>effect</a:t>
            </a:r>
            <a:endParaRPr sz="1343">
              <a:latin typeface="Tahoma"/>
              <a:cs typeface="Tahoma"/>
            </a:endParaRPr>
          </a:p>
        </p:txBody>
      </p:sp>
      <p:graphicFrame>
        <p:nvGraphicFramePr>
          <p:cNvPr id="21" name="Chart 20">
            <a:extLst>
              <a:ext uri="{FF2B5EF4-FFF2-40B4-BE49-F238E27FC236}">
                <a16:creationId xmlns:a16="http://schemas.microsoft.com/office/drawing/2014/main" id="{72AD6A10-80EA-4148-BC0C-82185442D5A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37652240"/>
              </p:ext>
            </p:extLst>
          </p:nvPr>
        </p:nvGraphicFramePr>
        <p:xfrm>
          <a:off x="152400" y="6703680"/>
          <a:ext cx="108966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2376" y="451280"/>
            <a:ext cx="10205250" cy="528326"/>
          </a:xfrm>
          <a:prstGeom prst="rect">
            <a:avLst/>
          </a:prstGeom>
        </p:spPr>
        <p:txBody>
          <a:bodyPr vert="horz" wrap="square" lIns="0" tIns="15797" rIns="0" bIns="0" rtlCol="0">
            <a:spAutoFit/>
          </a:bodyPr>
          <a:lstStyle/>
          <a:p>
            <a:pPr marL="12638">
              <a:spcBef>
                <a:spcPts val="125"/>
              </a:spcBef>
            </a:pPr>
            <a:r>
              <a:rPr spc="154" dirty="0"/>
              <a:t>Temperature</a:t>
            </a:r>
            <a:r>
              <a:rPr spc="-194" dirty="0"/>
              <a:t> </a:t>
            </a:r>
            <a:r>
              <a:rPr spc="532" dirty="0"/>
              <a:t>&amp;</a:t>
            </a:r>
            <a:r>
              <a:rPr spc="-194" dirty="0"/>
              <a:t> </a:t>
            </a:r>
            <a:r>
              <a:rPr spc="169" dirty="0"/>
              <a:t>Environmental</a:t>
            </a:r>
            <a:r>
              <a:rPr spc="5" dirty="0"/>
              <a:t> </a:t>
            </a:r>
            <a:r>
              <a:rPr spc="55" dirty="0"/>
              <a:t>Factors</a:t>
            </a:r>
          </a:p>
        </p:txBody>
      </p:sp>
      <p:sp>
        <p:nvSpPr>
          <p:cNvPr id="3" name="object 3"/>
          <p:cNvSpPr/>
          <p:nvPr/>
        </p:nvSpPr>
        <p:spPr>
          <a:xfrm>
            <a:off x="653449" y="3137403"/>
            <a:ext cx="56872" cy="56872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2B40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53449" y="3469152"/>
            <a:ext cx="56872" cy="56872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2B40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12376" y="1409147"/>
            <a:ext cx="4234388" cy="2192075"/>
          </a:xfrm>
          <a:prstGeom prst="rect">
            <a:avLst/>
          </a:prstGeom>
        </p:spPr>
        <p:txBody>
          <a:bodyPr vert="horz" wrap="square" lIns="0" tIns="15797" rIns="0" bIns="0" rtlCol="0">
            <a:spAutoFit/>
          </a:bodyPr>
          <a:lstStyle/>
          <a:p>
            <a:pPr marL="12638">
              <a:spcBef>
                <a:spcPts val="125"/>
              </a:spcBef>
            </a:pPr>
            <a:r>
              <a:rPr sz="1991" spc="90" dirty="0">
                <a:solidFill>
                  <a:srgbClr val="114E72"/>
                </a:solidFill>
                <a:latin typeface="Microsoft Sans Serif"/>
                <a:cs typeface="Microsoft Sans Serif"/>
              </a:rPr>
              <a:t>Temperature</a:t>
            </a:r>
            <a:r>
              <a:rPr sz="1991" spc="40" dirty="0">
                <a:solidFill>
                  <a:srgbClr val="114E72"/>
                </a:solidFill>
                <a:latin typeface="Microsoft Sans Serif"/>
                <a:cs typeface="Microsoft Sans Serif"/>
              </a:rPr>
              <a:t> </a:t>
            </a:r>
            <a:r>
              <a:rPr sz="1991" spc="50" dirty="0">
                <a:solidFill>
                  <a:srgbClr val="114E72"/>
                </a:solidFill>
                <a:latin typeface="Microsoft Sans Serif"/>
                <a:cs typeface="Microsoft Sans Serif"/>
              </a:rPr>
              <a:t>Correlation</a:t>
            </a:r>
            <a:endParaRPr sz="1991">
              <a:latin typeface="Microsoft Sans Serif"/>
              <a:cs typeface="Microsoft Sans Serif"/>
            </a:endParaRPr>
          </a:p>
          <a:p>
            <a:pPr marL="12638">
              <a:spcBef>
                <a:spcPts val="1617"/>
              </a:spcBef>
            </a:pPr>
            <a:r>
              <a:rPr sz="1343" b="1" spc="-90" dirty="0">
                <a:solidFill>
                  <a:srgbClr val="2B404F"/>
                </a:solidFill>
                <a:latin typeface="Arial"/>
                <a:cs typeface="Arial"/>
              </a:rPr>
              <a:t>Range:</a:t>
            </a:r>
            <a:r>
              <a:rPr sz="1343" b="1" spc="-80" dirty="0">
                <a:solidFill>
                  <a:srgbClr val="2B404F"/>
                </a:solidFill>
                <a:latin typeface="Arial"/>
                <a:cs typeface="Arial"/>
              </a:rPr>
              <a:t> </a:t>
            </a:r>
            <a:r>
              <a:rPr sz="1343" spc="-95" dirty="0">
                <a:solidFill>
                  <a:srgbClr val="2B404F"/>
                </a:solidFill>
                <a:latin typeface="Tahoma"/>
                <a:cs typeface="Tahoma"/>
              </a:rPr>
              <a:t>3.28°C</a:t>
            </a:r>
            <a:r>
              <a:rPr sz="1343" spc="-12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20" dirty="0">
                <a:solidFill>
                  <a:srgbClr val="2B404F"/>
                </a:solidFill>
                <a:latin typeface="Tahoma"/>
                <a:cs typeface="Tahoma"/>
              </a:rPr>
              <a:t>to</a:t>
            </a:r>
            <a:r>
              <a:rPr sz="1343" spc="-12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10" dirty="0">
                <a:solidFill>
                  <a:srgbClr val="2B404F"/>
                </a:solidFill>
                <a:latin typeface="Tahoma"/>
                <a:cs typeface="Tahoma"/>
              </a:rPr>
              <a:t>18.86°C</a:t>
            </a:r>
            <a:endParaRPr sz="1343">
              <a:latin typeface="Tahoma"/>
              <a:cs typeface="Tahoma"/>
            </a:endParaRPr>
          </a:p>
          <a:p>
            <a:pPr marL="12638" marR="5055">
              <a:lnSpc>
                <a:spcPct val="134300"/>
              </a:lnSpc>
              <a:spcBef>
                <a:spcPts val="1120"/>
              </a:spcBef>
            </a:pPr>
            <a:r>
              <a:rPr sz="1343" b="1" spc="-60" dirty="0">
                <a:solidFill>
                  <a:srgbClr val="2B404F"/>
                </a:solidFill>
                <a:latin typeface="Arial"/>
                <a:cs typeface="Arial"/>
              </a:rPr>
              <a:t>Positive</a:t>
            </a:r>
            <a:r>
              <a:rPr sz="1343" b="1" spc="-65" dirty="0">
                <a:solidFill>
                  <a:srgbClr val="2B404F"/>
                </a:solidFill>
                <a:latin typeface="Arial"/>
                <a:cs typeface="Arial"/>
              </a:rPr>
              <a:t> </a:t>
            </a:r>
            <a:r>
              <a:rPr sz="1343" b="1" spc="-45" dirty="0">
                <a:solidFill>
                  <a:srgbClr val="2B404F"/>
                </a:solidFill>
                <a:latin typeface="Arial"/>
                <a:cs typeface="Arial"/>
              </a:rPr>
              <a:t>correlation:</a:t>
            </a:r>
            <a:r>
              <a:rPr sz="1343" b="1" spc="-55" dirty="0">
                <a:solidFill>
                  <a:srgbClr val="2B404F"/>
                </a:solidFill>
                <a:latin typeface="Arial"/>
                <a:cs typeface="Arial"/>
              </a:rPr>
              <a:t> </a:t>
            </a:r>
            <a:r>
              <a:rPr sz="1343" spc="-50" dirty="0">
                <a:solidFill>
                  <a:srgbClr val="2B404F"/>
                </a:solidFill>
                <a:latin typeface="Tahoma"/>
                <a:cs typeface="Tahoma"/>
              </a:rPr>
              <a:t>As</a:t>
            </a:r>
            <a:r>
              <a:rPr sz="1343" spc="-10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40" dirty="0">
                <a:solidFill>
                  <a:srgbClr val="2B404F"/>
                </a:solidFill>
                <a:latin typeface="Tahoma"/>
                <a:cs typeface="Tahoma"/>
              </a:rPr>
              <a:t>temperature</a:t>
            </a:r>
            <a:r>
              <a:rPr sz="1343" spc="-10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45" dirty="0">
                <a:solidFill>
                  <a:srgbClr val="2B404F"/>
                </a:solidFill>
                <a:latin typeface="Tahoma"/>
                <a:cs typeface="Tahoma"/>
              </a:rPr>
              <a:t>rises,</a:t>
            </a:r>
            <a:r>
              <a:rPr sz="1343" spc="-10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30" dirty="0">
                <a:solidFill>
                  <a:srgbClr val="2B404F"/>
                </a:solidFill>
                <a:latin typeface="Tahoma"/>
                <a:cs typeface="Tahoma"/>
              </a:rPr>
              <a:t>rentals</a:t>
            </a:r>
            <a:r>
              <a:rPr sz="1343" spc="-10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10" dirty="0">
                <a:solidFill>
                  <a:srgbClr val="2B404F"/>
                </a:solidFill>
                <a:latin typeface="Tahoma"/>
                <a:cs typeface="Tahoma"/>
              </a:rPr>
              <a:t>increase significantly.</a:t>
            </a:r>
            <a:endParaRPr sz="1343">
              <a:latin typeface="Tahoma"/>
              <a:cs typeface="Tahoma"/>
            </a:endParaRPr>
          </a:p>
          <a:p>
            <a:pPr>
              <a:spcBef>
                <a:spcPts val="120"/>
              </a:spcBef>
            </a:pPr>
            <a:endParaRPr sz="1343">
              <a:latin typeface="Tahoma"/>
              <a:cs typeface="Tahoma"/>
            </a:endParaRPr>
          </a:p>
          <a:p>
            <a:pPr marL="284983">
              <a:spcBef>
                <a:spcPts val="5"/>
              </a:spcBef>
            </a:pPr>
            <a:r>
              <a:rPr sz="1343" spc="-10" dirty="0">
                <a:solidFill>
                  <a:srgbClr val="2B404F"/>
                </a:solidFill>
                <a:latin typeface="Tahoma"/>
                <a:cs typeface="Tahoma"/>
              </a:rPr>
              <a:t>Cold</a:t>
            </a:r>
            <a:r>
              <a:rPr sz="1343" spc="-12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40" dirty="0">
                <a:solidFill>
                  <a:srgbClr val="2B404F"/>
                </a:solidFill>
                <a:latin typeface="Tahoma"/>
                <a:cs typeface="Tahoma"/>
              </a:rPr>
              <a:t>days</a:t>
            </a:r>
            <a:r>
              <a:rPr sz="1343" spc="-12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149" dirty="0">
                <a:solidFill>
                  <a:srgbClr val="2B404F"/>
                </a:solidFill>
                <a:latin typeface="Tahoma"/>
                <a:cs typeface="Tahoma"/>
              </a:rPr>
              <a:t>(&lt;5°C):</a:t>
            </a:r>
            <a:r>
              <a:rPr sz="1343" spc="-12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164" dirty="0">
                <a:solidFill>
                  <a:srgbClr val="2B404F"/>
                </a:solidFill>
                <a:latin typeface="Tahoma"/>
                <a:cs typeface="Tahoma"/>
              </a:rPr>
              <a:t>&lt;50</a:t>
            </a:r>
            <a:r>
              <a:rPr sz="1343" spc="-12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10" dirty="0">
                <a:solidFill>
                  <a:srgbClr val="2B404F"/>
                </a:solidFill>
                <a:latin typeface="Tahoma"/>
                <a:cs typeface="Tahoma"/>
              </a:rPr>
              <a:t>rentals/hour</a:t>
            </a:r>
            <a:endParaRPr sz="1343">
              <a:latin typeface="Tahoma"/>
              <a:cs typeface="Tahoma"/>
            </a:endParaRPr>
          </a:p>
          <a:p>
            <a:pPr marL="284983">
              <a:spcBef>
                <a:spcPts val="1000"/>
              </a:spcBef>
            </a:pPr>
            <a:r>
              <a:rPr sz="1343" spc="-25" dirty="0">
                <a:solidFill>
                  <a:srgbClr val="2B404F"/>
                </a:solidFill>
                <a:latin typeface="Tahoma"/>
                <a:cs typeface="Tahoma"/>
              </a:rPr>
              <a:t>Milder</a:t>
            </a:r>
            <a:r>
              <a:rPr sz="1343" spc="-11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40" dirty="0">
                <a:solidFill>
                  <a:srgbClr val="2B404F"/>
                </a:solidFill>
                <a:latin typeface="Tahoma"/>
                <a:cs typeface="Tahoma"/>
              </a:rPr>
              <a:t>days</a:t>
            </a:r>
            <a:r>
              <a:rPr sz="1343" spc="-10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135" dirty="0">
                <a:solidFill>
                  <a:srgbClr val="2B404F"/>
                </a:solidFill>
                <a:latin typeface="Tahoma"/>
                <a:cs typeface="Tahoma"/>
              </a:rPr>
              <a:t>(&gt;10°C):</a:t>
            </a:r>
            <a:r>
              <a:rPr sz="1343" spc="-10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144" dirty="0">
                <a:solidFill>
                  <a:srgbClr val="2B404F"/>
                </a:solidFill>
                <a:latin typeface="Tahoma"/>
                <a:cs typeface="Tahoma"/>
              </a:rPr>
              <a:t>&gt;150</a:t>
            </a:r>
            <a:r>
              <a:rPr sz="1343" spc="-10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30" dirty="0">
                <a:solidFill>
                  <a:srgbClr val="2B404F"/>
                </a:solidFill>
                <a:latin typeface="Tahoma"/>
                <a:cs typeface="Tahoma"/>
              </a:rPr>
              <a:t>rentals/hour</a:t>
            </a:r>
            <a:r>
              <a:rPr sz="1343" spc="-10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25" dirty="0">
                <a:solidFill>
                  <a:srgbClr val="2B404F"/>
                </a:solidFill>
                <a:latin typeface="Tahoma"/>
                <a:cs typeface="Tahoma"/>
              </a:rPr>
              <a:t>during</a:t>
            </a:r>
            <a:r>
              <a:rPr sz="1343" spc="-11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10" dirty="0">
                <a:solidFill>
                  <a:srgbClr val="2B404F"/>
                </a:solidFill>
                <a:latin typeface="Tahoma"/>
                <a:cs typeface="Tahoma"/>
              </a:rPr>
              <a:t>peaks</a:t>
            </a:r>
            <a:endParaRPr sz="1343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5015" y="3838817"/>
            <a:ext cx="3489786" cy="367879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919927" y="1409146"/>
            <a:ext cx="4882723" cy="2135204"/>
          </a:xfrm>
          <a:prstGeom prst="rect">
            <a:avLst/>
          </a:prstGeom>
        </p:spPr>
        <p:txBody>
          <a:bodyPr vert="horz" wrap="square" lIns="0" tIns="15797" rIns="0" bIns="0" rtlCol="0">
            <a:spAutoFit/>
          </a:bodyPr>
          <a:lstStyle/>
          <a:p>
            <a:pPr marL="12638">
              <a:spcBef>
                <a:spcPts val="125"/>
              </a:spcBef>
            </a:pPr>
            <a:r>
              <a:rPr sz="1991" spc="154" dirty="0">
                <a:solidFill>
                  <a:srgbClr val="114E72"/>
                </a:solidFill>
                <a:latin typeface="Microsoft Sans Serif"/>
                <a:cs typeface="Microsoft Sans Serif"/>
              </a:rPr>
              <a:t>Humidity</a:t>
            </a:r>
            <a:r>
              <a:rPr sz="1991" spc="-120" dirty="0">
                <a:solidFill>
                  <a:srgbClr val="114E72"/>
                </a:solidFill>
                <a:latin typeface="Microsoft Sans Serif"/>
                <a:cs typeface="Microsoft Sans Serif"/>
              </a:rPr>
              <a:t> </a:t>
            </a:r>
            <a:r>
              <a:rPr sz="1991" spc="329" dirty="0">
                <a:solidFill>
                  <a:srgbClr val="114E72"/>
                </a:solidFill>
                <a:latin typeface="Microsoft Sans Serif"/>
                <a:cs typeface="Microsoft Sans Serif"/>
              </a:rPr>
              <a:t>&amp;</a:t>
            </a:r>
            <a:r>
              <a:rPr sz="1991" spc="-114" dirty="0">
                <a:solidFill>
                  <a:srgbClr val="114E72"/>
                </a:solidFill>
                <a:latin typeface="Microsoft Sans Serif"/>
                <a:cs typeface="Microsoft Sans Serif"/>
              </a:rPr>
              <a:t> </a:t>
            </a:r>
            <a:r>
              <a:rPr sz="1991" spc="169" dirty="0">
                <a:solidFill>
                  <a:srgbClr val="114E72"/>
                </a:solidFill>
                <a:latin typeface="Microsoft Sans Serif"/>
                <a:cs typeface="Microsoft Sans Serif"/>
              </a:rPr>
              <a:t>Wind</a:t>
            </a:r>
            <a:r>
              <a:rPr sz="1991" spc="10" dirty="0">
                <a:solidFill>
                  <a:srgbClr val="114E72"/>
                </a:solidFill>
                <a:latin typeface="Microsoft Sans Serif"/>
                <a:cs typeface="Microsoft Sans Serif"/>
              </a:rPr>
              <a:t> </a:t>
            </a:r>
            <a:r>
              <a:rPr sz="1991" spc="45" dirty="0">
                <a:solidFill>
                  <a:srgbClr val="114E72"/>
                </a:solidFill>
                <a:latin typeface="Microsoft Sans Serif"/>
                <a:cs typeface="Microsoft Sans Serif"/>
              </a:rPr>
              <a:t>Effects</a:t>
            </a:r>
            <a:endParaRPr sz="1991">
              <a:latin typeface="Microsoft Sans Serif"/>
              <a:cs typeface="Microsoft Sans Serif"/>
            </a:endParaRPr>
          </a:p>
          <a:p>
            <a:pPr marL="12638">
              <a:spcBef>
                <a:spcPts val="1617"/>
              </a:spcBef>
            </a:pPr>
            <a:r>
              <a:rPr sz="1343" b="1" spc="-35" dirty="0">
                <a:solidFill>
                  <a:srgbClr val="2B404F"/>
                </a:solidFill>
                <a:latin typeface="Arial"/>
                <a:cs typeface="Arial"/>
              </a:rPr>
              <a:t>Humidity</a:t>
            </a:r>
            <a:r>
              <a:rPr sz="1343" b="1" spc="-45" dirty="0">
                <a:solidFill>
                  <a:srgbClr val="2B404F"/>
                </a:solidFill>
                <a:latin typeface="Arial"/>
                <a:cs typeface="Arial"/>
              </a:rPr>
              <a:t> </a:t>
            </a:r>
            <a:r>
              <a:rPr sz="1343" b="1" spc="-70" dirty="0">
                <a:solidFill>
                  <a:srgbClr val="2B404F"/>
                </a:solidFill>
                <a:latin typeface="Arial"/>
                <a:cs typeface="Arial"/>
              </a:rPr>
              <a:t>range:</a:t>
            </a:r>
            <a:r>
              <a:rPr sz="1343" b="1" spc="-40" dirty="0">
                <a:solidFill>
                  <a:srgbClr val="2B404F"/>
                </a:solidFill>
                <a:latin typeface="Arial"/>
                <a:cs typeface="Arial"/>
              </a:rPr>
              <a:t> </a:t>
            </a:r>
            <a:r>
              <a:rPr sz="1343" spc="-105" dirty="0">
                <a:solidFill>
                  <a:srgbClr val="2B404F"/>
                </a:solidFill>
                <a:latin typeface="Tahoma"/>
                <a:cs typeface="Tahoma"/>
              </a:rPr>
              <a:t>30%-</a:t>
            </a:r>
            <a:r>
              <a:rPr sz="1343" spc="-20" dirty="0">
                <a:solidFill>
                  <a:srgbClr val="2B404F"/>
                </a:solidFill>
                <a:latin typeface="Tahoma"/>
                <a:cs typeface="Tahoma"/>
              </a:rPr>
              <a:t>100%</a:t>
            </a:r>
            <a:endParaRPr sz="1343">
              <a:latin typeface="Tahoma"/>
              <a:cs typeface="Tahoma"/>
            </a:endParaRPr>
          </a:p>
          <a:p>
            <a:pPr marL="12638" marR="395564">
              <a:lnSpc>
                <a:spcPct val="134300"/>
              </a:lnSpc>
              <a:spcBef>
                <a:spcPts val="1120"/>
              </a:spcBef>
            </a:pPr>
            <a:r>
              <a:rPr sz="1343" spc="-20" dirty="0">
                <a:solidFill>
                  <a:srgbClr val="2B404F"/>
                </a:solidFill>
                <a:latin typeface="Tahoma"/>
                <a:cs typeface="Tahoma"/>
              </a:rPr>
              <a:t>Optimal</a:t>
            </a:r>
            <a:r>
              <a:rPr sz="1343" spc="-114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60" dirty="0">
                <a:solidFill>
                  <a:srgbClr val="2B404F"/>
                </a:solidFill>
                <a:latin typeface="Tahoma"/>
                <a:cs typeface="Tahoma"/>
              </a:rPr>
              <a:t>range</a:t>
            </a:r>
            <a:r>
              <a:rPr sz="1343" spc="-114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30" dirty="0">
                <a:solidFill>
                  <a:srgbClr val="2B404F"/>
                </a:solidFill>
                <a:latin typeface="Tahoma"/>
                <a:cs typeface="Tahoma"/>
              </a:rPr>
              <a:t>of</a:t>
            </a:r>
            <a:r>
              <a:rPr sz="1343" spc="-114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85" dirty="0">
                <a:solidFill>
                  <a:srgbClr val="2B404F"/>
                </a:solidFill>
                <a:latin typeface="Tahoma"/>
                <a:cs typeface="Tahoma"/>
              </a:rPr>
              <a:t>40-</a:t>
            </a:r>
            <a:r>
              <a:rPr sz="1343" spc="-120" dirty="0">
                <a:solidFill>
                  <a:srgbClr val="2B404F"/>
                </a:solidFill>
                <a:latin typeface="Tahoma"/>
                <a:cs typeface="Tahoma"/>
              </a:rPr>
              <a:t>60%</a:t>
            </a:r>
            <a:r>
              <a:rPr sz="1343" spc="-114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35" dirty="0">
                <a:solidFill>
                  <a:srgbClr val="2B404F"/>
                </a:solidFill>
                <a:latin typeface="Tahoma"/>
                <a:cs typeface="Tahoma"/>
              </a:rPr>
              <a:t>shows</a:t>
            </a:r>
            <a:r>
              <a:rPr sz="1343" spc="-114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30" dirty="0">
                <a:solidFill>
                  <a:srgbClr val="2B404F"/>
                </a:solidFill>
                <a:latin typeface="Tahoma"/>
                <a:cs typeface="Tahoma"/>
              </a:rPr>
              <a:t>consistent</a:t>
            </a:r>
            <a:r>
              <a:rPr sz="1343" spc="-114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30" dirty="0">
                <a:solidFill>
                  <a:srgbClr val="2B404F"/>
                </a:solidFill>
                <a:latin typeface="Tahoma"/>
                <a:cs typeface="Tahoma"/>
              </a:rPr>
              <a:t>high</a:t>
            </a:r>
            <a:r>
              <a:rPr sz="1343" spc="-114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60" dirty="0">
                <a:solidFill>
                  <a:srgbClr val="2B404F"/>
                </a:solidFill>
                <a:latin typeface="Tahoma"/>
                <a:cs typeface="Tahoma"/>
              </a:rPr>
              <a:t>usage.</a:t>
            </a:r>
            <a:r>
              <a:rPr sz="1343" spc="-114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30" dirty="0">
                <a:solidFill>
                  <a:srgbClr val="2B404F"/>
                </a:solidFill>
                <a:latin typeface="Tahoma"/>
                <a:cs typeface="Tahoma"/>
              </a:rPr>
              <a:t>Extreme </a:t>
            </a:r>
            <a:r>
              <a:rPr sz="1343" spc="-10" dirty="0">
                <a:solidFill>
                  <a:srgbClr val="2B404F"/>
                </a:solidFill>
                <a:latin typeface="Tahoma"/>
                <a:cs typeface="Tahoma"/>
              </a:rPr>
              <a:t>humidity</a:t>
            </a:r>
            <a:r>
              <a:rPr sz="1343" spc="-12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149" dirty="0">
                <a:solidFill>
                  <a:srgbClr val="2B404F"/>
                </a:solidFill>
                <a:latin typeface="Tahoma"/>
                <a:cs typeface="Tahoma"/>
              </a:rPr>
              <a:t>(&gt;90%)</a:t>
            </a:r>
            <a:r>
              <a:rPr sz="1343" spc="-12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20" dirty="0">
                <a:solidFill>
                  <a:srgbClr val="2B404F"/>
                </a:solidFill>
                <a:latin typeface="Tahoma"/>
                <a:cs typeface="Tahoma"/>
              </a:rPr>
              <a:t>slightly</a:t>
            </a:r>
            <a:r>
              <a:rPr sz="1343" spc="-12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40" dirty="0">
                <a:solidFill>
                  <a:srgbClr val="2B404F"/>
                </a:solidFill>
                <a:latin typeface="Tahoma"/>
                <a:cs typeface="Tahoma"/>
              </a:rPr>
              <a:t>reduces</a:t>
            </a:r>
            <a:r>
              <a:rPr sz="1343" spc="-12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10" dirty="0">
                <a:solidFill>
                  <a:srgbClr val="2B404F"/>
                </a:solidFill>
                <a:latin typeface="Tahoma"/>
                <a:cs typeface="Tahoma"/>
              </a:rPr>
              <a:t>comfort.</a:t>
            </a:r>
            <a:endParaRPr sz="1343">
              <a:latin typeface="Tahoma"/>
              <a:cs typeface="Tahoma"/>
            </a:endParaRPr>
          </a:p>
          <a:p>
            <a:pPr marL="12638" marR="5055">
              <a:lnSpc>
                <a:spcPct val="134300"/>
              </a:lnSpc>
              <a:spcBef>
                <a:spcPts val="1190"/>
              </a:spcBef>
            </a:pPr>
            <a:r>
              <a:rPr sz="1343" b="1" spc="-85" dirty="0">
                <a:solidFill>
                  <a:srgbClr val="2B404F"/>
                </a:solidFill>
                <a:latin typeface="Arial"/>
                <a:cs typeface="Arial"/>
              </a:rPr>
              <a:t>Windspeed</a:t>
            </a:r>
            <a:r>
              <a:rPr sz="1343" b="1" spc="-65" dirty="0">
                <a:solidFill>
                  <a:srgbClr val="2B404F"/>
                </a:solidFill>
                <a:latin typeface="Arial"/>
                <a:cs typeface="Arial"/>
              </a:rPr>
              <a:t> </a:t>
            </a:r>
            <a:r>
              <a:rPr sz="1343" b="1" spc="-50" dirty="0">
                <a:solidFill>
                  <a:srgbClr val="2B404F"/>
                </a:solidFill>
                <a:latin typeface="Arial"/>
                <a:cs typeface="Arial"/>
              </a:rPr>
              <a:t>impact:</a:t>
            </a:r>
            <a:r>
              <a:rPr sz="1343" b="1" spc="-55" dirty="0">
                <a:solidFill>
                  <a:srgbClr val="2B404F"/>
                </a:solidFill>
                <a:latin typeface="Arial"/>
                <a:cs typeface="Arial"/>
              </a:rPr>
              <a:t> </a:t>
            </a:r>
            <a:r>
              <a:rPr sz="1343" spc="-35" dirty="0">
                <a:solidFill>
                  <a:srgbClr val="2B404F"/>
                </a:solidFill>
                <a:latin typeface="Tahoma"/>
                <a:cs typeface="Tahoma"/>
              </a:rPr>
              <a:t>Higher</a:t>
            </a:r>
            <a:r>
              <a:rPr sz="1343" spc="-10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25" dirty="0">
                <a:solidFill>
                  <a:srgbClr val="2B404F"/>
                </a:solidFill>
                <a:latin typeface="Tahoma"/>
                <a:cs typeface="Tahoma"/>
              </a:rPr>
              <a:t>winds</a:t>
            </a:r>
            <a:r>
              <a:rPr sz="1343" spc="-10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130" dirty="0">
                <a:solidFill>
                  <a:srgbClr val="2B404F"/>
                </a:solidFill>
                <a:latin typeface="Tahoma"/>
                <a:cs typeface="Tahoma"/>
              </a:rPr>
              <a:t>(&gt;0.4)</a:t>
            </a:r>
            <a:r>
              <a:rPr sz="1343" spc="-10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35" dirty="0">
                <a:solidFill>
                  <a:srgbClr val="2B404F"/>
                </a:solidFill>
                <a:latin typeface="Tahoma"/>
                <a:cs typeface="Tahoma"/>
              </a:rPr>
              <a:t>deter</a:t>
            </a:r>
            <a:r>
              <a:rPr sz="1343" spc="-10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30" dirty="0">
                <a:solidFill>
                  <a:srgbClr val="2B404F"/>
                </a:solidFill>
                <a:latin typeface="Tahoma"/>
                <a:cs typeface="Tahoma"/>
              </a:rPr>
              <a:t>casual</a:t>
            </a:r>
            <a:r>
              <a:rPr sz="1343" spc="-10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50" dirty="0">
                <a:solidFill>
                  <a:srgbClr val="2B404F"/>
                </a:solidFill>
                <a:latin typeface="Tahoma"/>
                <a:cs typeface="Tahoma"/>
              </a:rPr>
              <a:t>users.</a:t>
            </a:r>
            <a:r>
              <a:rPr sz="1343" spc="-10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25" dirty="0">
                <a:solidFill>
                  <a:srgbClr val="2B404F"/>
                </a:solidFill>
                <a:latin typeface="Tahoma"/>
                <a:cs typeface="Tahoma"/>
              </a:rPr>
              <a:t>Low </a:t>
            </a:r>
            <a:r>
              <a:rPr sz="1343" spc="-10" dirty="0">
                <a:solidFill>
                  <a:srgbClr val="2B404F"/>
                </a:solidFill>
                <a:latin typeface="Tahoma"/>
                <a:cs typeface="Tahoma"/>
              </a:rPr>
              <a:t>wind</a:t>
            </a:r>
            <a:r>
              <a:rPr sz="1343" spc="-13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90" dirty="0">
                <a:solidFill>
                  <a:srgbClr val="2B404F"/>
                </a:solidFill>
                <a:latin typeface="Tahoma"/>
                <a:cs typeface="Tahoma"/>
              </a:rPr>
              <a:t>(0-0.1)</a:t>
            </a:r>
            <a:r>
              <a:rPr sz="1343" spc="-12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10" dirty="0">
                <a:solidFill>
                  <a:srgbClr val="2B404F"/>
                </a:solidFill>
                <a:latin typeface="Tahoma"/>
                <a:cs typeface="Tahoma"/>
              </a:rPr>
              <a:t>optimal</a:t>
            </a:r>
            <a:r>
              <a:rPr sz="1343" spc="-12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35" dirty="0">
                <a:solidFill>
                  <a:srgbClr val="2B404F"/>
                </a:solidFill>
                <a:latin typeface="Tahoma"/>
                <a:cs typeface="Tahoma"/>
              </a:rPr>
              <a:t>for</a:t>
            </a:r>
            <a:r>
              <a:rPr sz="1343" spc="-12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45" dirty="0">
                <a:solidFill>
                  <a:srgbClr val="2B404F"/>
                </a:solidFill>
                <a:latin typeface="Tahoma"/>
                <a:cs typeface="Tahoma"/>
              </a:rPr>
              <a:t>rentals—</a:t>
            </a:r>
            <a:r>
              <a:rPr sz="1343" spc="-90" dirty="0">
                <a:solidFill>
                  <a:srgbClr val="2B404F"/>
                </a:solidFill>
                <a:latin typeface="Tahoma"/>
                <a:cs typeface="Tahoma"/>
              </a:rPr>
              <a:t>219</a:t>
            </a:r>
            <a:r>
              <a:rPr sz="1343" spc="-12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30" dirty="0">
                <a:solidFill>
                  <a:srgbClr val="2B404F"/>
                </a:solidFill>
                <a:latin typeface="Tahoma"/>
                <a:cs typeface="Tahoma"/>
              </a:rPr>
              <a:t>rentals</a:t>
            </a:r>
            <a:r>
              <a:rPr sz="1343" spc="-12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20" dirty="0">
                <a:solidFill>
                  <a:srgbClr val="2B404F"/>
                </a:solidFill>
                <a:latin typeface="Tahoma"/>
                <a:cs typeface="Tahoma"/>
              </a:rPr>
              <a:t>on</a:t>
            </a:r>
            <a:r>
              <a:rPr sz="1343" spc="-13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dirty="0">
                <a:solidFill>
                  <a:srgbClr val="2B404F"/>
                </a:solidFill>
                <a:latin typeface="Tahoma"/>
                <a:cs typeface="Tahoma"/>
              </a:rPr>
              <a:t>Jan</a:t>
            </a:r>
            <a:r>
              <a:rPr sz="1343" spc="-12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80" dirty="0">
                <a:solidFill>
                  <a:srgbClr val="2B404F"/>
                </a:solidFill>
                <a:latin typeface="Tahoma"/>
                <a:cs typeface="Tahoma"/>
              </a:rPr>
              <a:t>6</a:t>
            </a:r>
            <a:r>
              <a:rPr sz="1343" spc="-12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10" dirty="0">
                <a:solidFill>
                  <a:srgbClr val="2B404F"/>
                </a:solidFill>
                <a:latin typeface="Tahoma"/>
                <a:cs typeface="Tahoma"/>
              </a:rPr>
              <a:t>with</a:t>
            </a:r>
            <a:r>
              <a:rPr sz="1343" spc="-12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40" dirty="0">
                <a:solidFill>
                  <a:srgbClr val="2B404F"/>
                </a:solidFill>
                <a:latin typeface="Tahoma"/>
                <a:cs typeface="Tahoma"/>
              </a:rPr>
              <a:t>zero</a:t>
            </a:r>
            <a:r>
              <a:rPr sz="1343" spc="-12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10" dirty="0">
                <a:solidFill>
                  <a:srgbClr val="2B404F"/>
                </a:solidFill>
                <a:latin typeface="Tahoma"/>
                <a:cs typeface="Tahoma"/>
              </a:rPr>
              <a:t>wind.</a:t>
            </a:r>
            <a:endParaRPr sz="1343">
              <a:latin typeface="Tahoma"/>
              <a:cs typeface="Tahoma"/>
            </a:endParaRP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88B9F7A8-F3A7-4B8C-B4A0-8B3D2E5F718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15660874"/>
              </p:ext>
            </p:extLst>
          </p:nvPr>
        </p:nvGraphicFramePr>
        <p:xfrm>
          <a:off x="4846764" y="4166772"/>
          <a:ext cx="6507035" cy="44938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864" y="0"/>
            <a:ext cx="11374272" cy="9575006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FFCF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36784" y="252"/>
            <a:ext cx="4265352" cy="6407252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12376" y="1162703"/>
            <a:ext cx="5877339" cy="537119"/>
          </a:xfrm>
          <a:prstGeom prst="rect">
            <a:avLst/>
          </a:prstGeom>
        </p:spPr>
        <p:txBody>
          <a:bodyPr vert="horz" wrap="square" lIns="0" tIns="15797" rIns="0" bIns="0" rtlCol="0">
            <a:spAutoFit/>
          </a:bodyPr>
          <a:lstStyle/>
          <a:p>
            <a:pPr marL="12638">
              <a:spcBef>
                <a:spcPts val="125"/>
              </a:spcBef>
            </a:pPr>
            <a:r>
              <a:rPr dirty="0"/>
              <a:t>User</a:t>
            </a:r>
            <a:r>
              <a:rPr spc="70" dirty="0"/>
              <a:t> </a:t>
            </a:r>
            <a:r>
              <a:rPr spc="214" dirty="0"/>
              <a:t>Segmentation</a:t>
            </a:r>
            <a:r>
              <a:rPr spc="75" dirty="0"/>
              <a:t> </a:t>
            </a:r>
            <a:r>
              <a:rPr spc="259" dirty="0"/>
              <a:t>Insights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625014" y="2710868"/>
            <a:ext cx="853070" cy="2516873"/>
            <a:chOff x="600075" y="2724149"/>
            <a:chExt cx="857250" cy="2529205"/>
          </a:xfrm>
        </p:grpSpPr>
        <p:sp>
          <p:nvSpPr>
            <p:cNvPr id="8" name="object 8"/>
            <p:cNvSpPr/>
            <p:nvPr/>
          </p:nvSpPr>
          <p:spPr>
            <a:xfrm>
              <a:off x="600075" y="2724149"/>
              <a:ext cx="857250" cy="1262380"/>
            </a:xfrm>
            <a:custGeom>
              <a:avLst/>
              <a:gdLst/>
              <a:ahLst/>
              <a:cxnLst/>
              <a:rect l="l" t="t" r="r" b="b"/>
              <a:pathLst>
                <a:path w="857250" h="1262379">
                  <a:moveTo>
                    <a:pt x="857250" y="0"/>
                  </a:moveTo>
                  <a:lnTo>
                    <a:pt x="428625" y="171450"/>
                  </a:lnTo>
                  <a:lnTo>
                    <a:pt x="0" y="0"/>
                  </a:lnTo>
                  <a:lnTo>
                    <a:pt x="0" y="1090764"/>
                  </a:lnTo>
                  <a:lnTo>
                    <a:pt x="428625" y="1262214"/>
                  </a:lnTo>
                  <a:lnTo>
                    <a:pt x="857250" y="1090764"/>
                  </a:lnTo>
                  <a:lnTo>
                    <a:pt x="857250" y="0"/>
                  </a:lnTo>
                  <a:close/>
                </a:path>
              </a:pathLst>
            </a:custGeom>
            <a:solidFill>
              <a:srgbClr val="F3EE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9179" y="3234125"/>
              <a:ext cx="268565" cy="24687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00075" y="3990974"/>
              <a:ext cx="857250" cy="1262380"/>
            </a:xfrm>
            <a:custGeom>
              <a:avLst/>
              <a:gdLst/>
              <a:ahLst/>
              <a:cxnLst/>
              <a:rect l="l" t="t" r="r" b="b"/>
              <a:pathLst>
                <a:path w="857250" h="1262379">
                  <a:moveTo>
                    <a:pt x="857250" y="0"/>
                  </a:moveTo>
                  <a:lnTo>
                    <a:pt x="428625" y="171450"/>
                  </a:lnTo>
                  <a:lnTo>
                    <a:pt x="0" y="0"/>
                  </a:lnTo>
                  <a:lnTo>
                    <a:pt x="0" y="1090764"/>
                  </a:lnTo>
                  <a:lnTo>
                    <a:pt x="428625" y="1262212"/>
                  </a:lnTo>
                  <a:lnTo>
                    <a:pt x="857250" y="1090764"/>
                  </a:lnTo>
                  <a:lnTo>
                    <a:pt x="857250" y="0"/>
                  </a:lnTo>
                  <a:close/>
                </a:path>
              </a:pathLst>
            </a:custGeom>
            <a:solidFill>
              <a:srgbClr val="F3EE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9057" y="4537007"/>
              <a:ext cx="268686" cy="155785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612375" y="1898239"/>
            <a:ext cx="5776235" cy="3105808"/>
          </a:xfrm>
          <a:prstGeom prst="rect">
            <a:avLst/>
          </a:prstGeom>
        </p:spPr>
        <p:txBody>
          <a:bodyPr vert="horz" wrap="square" lIns="0" tIns="12638" rIns="0" bIns="0" rtlCol="0">
            <a:spAutoFit/>
          </a:bodyPr>
          <a:lstStyle/>
          <a:p>
            <a:pPr marL="12638" marR="5055">
              <a:lnSpc>
                <a:spcPct val="134300"/>
              </a:lnSpc>
              <a:spcBef>
                <a:spcPts val="100"/>
              </a:spcBef>
            </a:pPr>
            <a:r>
              <a:rPr sz="1343" spc="-50" dirty="0">
                <a:solidFill>
                  <a:srgbClr val="2B404F"/>
                </a:solidFill>
                <a:latin typeface="Tahoma"/>
                <a:cs typeface="Tahoma"/>
              </a:rPr>
              <a:t>Registered</a:t>
            </a:r>
            <a:r>
              <a:rPr sz="1343" spc="-114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30" dirty="0">
                <a:solidFill>
                  <a:srgbClr val="2B404F"/>
                </a:solidFill>
                <a:latin typeface="Tahoma"/>
                <a:cs typeface="Tahoma"/>
              </a:rPr>
              <a:t>and</a:t>
            </a:r>
            <a:r>
              <a:rPr sz="1343" spc="-11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30" dirty="0">
                <a:solidFill>
                  <a:srgbClr val="2B404F"/>
                </a:solidFill>
                <a:latin typeface="Tahoma"/>
                <a:cs typeface="Tahoma"/>
              </a:rPr>
              <a:t>casual</a:t>
            </a:r>
            <a:r>
              <a:rPr sz="1343" spc="-11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40" dirty="0">
                <a:solidFill>
                  <a:srgbClr val="2B404F"/>
                </a:solidFill>
                <a:latin typeface="Tahoma"/>
                <a:cs typeface="Tahoma"/>
              </a:rPr>
              <a:t>users</a:t>
            </a:r>
            <a:r>
              <a:rPr sz="1343" spc="-11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25" dirty="0">
                <a:solidFill>
                  <a:srgbClr val="2B404F"/>
                </a:solidFill>
                <a:latin typeface="Tahoma"/>
                <a:cs typeface="Tahoma"/>
              </a:rPr>
              <a:t>exhibit</a:t>
            </a:r>
            <a:r>
              <a:rPr sz="1343" spc="-11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10" dirty="0">
                <a:solidFill>
                  <a:srgbClr val="2B404F"/>
                </a:solidFill>
                <a:latin typeface="Tahoma"/>
                <a:cs typeface="Tahoma"/>
              </a:rPr>
              <a:t>distinctly</a:t>
            </a:r>
            <a:r>
              <a:rPr sz="1343" spc="-11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30" dirty="0">
                <a:solidFill>
                  <a:srgbClr val="2B404F"/>
                </a:solidFill>
                <a:latin typeface="Tahoma"/>
                <a:cs typeface="Tahoma"/>
              </a:rPr>
              <a:t>different</a:t>
            </a:r>
            <a:r>
              <a:rPr sz="1343" spc="-11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30" dirty="0">
                <a:solidFill>
                  <a:srgbClr val="2B404F"/>
                </a:solidFill>
                <a:latin typeface="Tahoma"/>
                <a:cs typeface="Tahoma"/>
              </a:rPr>
              <a:t>rental</a:t>
            </a:r>
            <a:r>
              <a:rPr sz="1343" spc="-11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40" dirty="0">
                <a:solidFill>
                  <a:srgbClr val="2B404F"/>
                </a:solidFill>
                <a:latin typeface="Tahoma"/>
                <a:cs typeface="Tahoma"/>
              </a:rPr>
              <a:t>patterns</a:t>
            </a:r>
            <a:r>
              <a:rPr sz="1343" spc="-11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10" dirty="0">
                <a:solidFill>
                  <a:srgbClr val="2B404F"/>
                </a:solidFill>
                <a:latin typeface="Tahoma"/>
                <a:cs typeface="Tahoma"/>
              </a:rPr>
              <a:t>throughout </a:t>
            </a:r>
            <a:r>
              <a:rPr sz="1343" spc="-25" dirty="0">
                <a:solidFill>
                  <a:srgbClr val="2B404F"/>
                </a:solidFill>
                <a:latin typeface="Tahoma"/>
                <a:cs typeface="Tahoma"/>
              </a:rPr>
              <a:t>the</a:t>
            </a:r>
            <a:r>
              <a:rPr sz="1343" spc="-139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10" dirty="0">
                <a:solidFill>
                  <a:srgbClr val="2B404F"/>
                </a:solidFill>
                <a:latin typeface="Tahoma"/>
                <a:cs typeface="Tahoma"/>
              </a:rPr>
              <a:t>week.</a:t>
            </a:r>
            <a:endParaRPr sz="1343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343">
              <a:latin typeface="Tahoma"/>
              <a:cs typeface="Tahoma"/>
            </a:endParaRPr>
          </a:p>
          <a:p>
            <a:pPr>
              <a:spcBef>
                <a:spcPts val="70"/>
              </a:spcBef>
            </a:pPr>
            <a:endParaRPr sz="1343">
              <a:latin typeface="Tahoma"/>
              <a:cs typeface="Tahoma"/>
            </a:endParaRPr>
          </a:p>
          <a:p>
            <a:pPr marL="1036301"/>
            <a:r>
              <a:rPr sz="1642" spc="60" dirty="0">
                <a:solidFill>
                  <a:srgbClr val="2B404F"/>
                </a:solidFill>
                <a:latin typeface="Microsoft Sans Serif"/>
                <a:cs typeface="Microsoft Sans Serif"/>
              </a:rPr>
              <a:t>Registered</a:t>
            </a:r>
            <a:r>
              <a:rPr sz="1642" spc="50" dirty="0">
                <a:solidFill>
                  <a:srgbClr val="2B404F"/>
                </a:solidFill>
                <a:latin typeface="Microsoft Sans Serif"/>
                <a:cs typeface="Microsoft Sans Serif"/>
              </a:rPr>
              <a:t> </a:t>
            </a:r>
            <a:r>
              <a:rPr sz="1642" spc="-10" dirty="0">
                <a:solidFill>
                  <a:srgbClr val="2B404F"/>
                </a:solidFill>
                <a:latin typeface="Microsoft Sans Serif"/>
                <a:cs typeface="Microsoft Sans Serif"/>
              </a:rPr>
              <a:t>Users</a:t>
            </a:r>
            <a:endParaRPr sz="1642">
              <a:latin typeface="Microsoft Sans Serif"/>
              <a:cs typeface="Microsoft Sans Serif"/>
            </a:endParaRPr>
          </a:p>
          <a:p>
            <a:pPr marL="1036301" marR="46760">
              <a:lnSpc>
                <a:spcPct val="134300"/>
              </a:lnSpc>
              <a:spcBef>
                <a:spcPts val="461"/>
              </a:spcBef>
            </a:pPr>
            <a:r>
              <a:rPr sz="1343" spc="-45" dirty="0">
                <a:solidFill>
                  <a:srgbClr val="2B404F"/>
                </a:solidFill>
                <a:latin typeface="Tahoma"/>
                <a:cs typeface="Tahoma"/>
              </a:rPr>
              <a:t>Drive</a:t>
            </a:r>
            <a:r>
              <a:rPr sz="1343" spc="-12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35" dirty="0">
                <a:solidFill>
                  <a:srgbClr val="2B404F"/>
                </a:solidFill>
                <a:latin typeface="Tahoma"/>
                <a:cs typeface="Tahoma"/>
              </a:rPr>
              <a:t>commuter</a:t>
            </a:r>
            <a:r>
              <a:rPr sz="1343" spc="-12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35" dirty="0">
                <a:solidFill>
                  <a:srgbClr val="2B404F"/>
                </a:solidFill>
                <a:latin typeface="Tahoma"/>
                <a:cs typeface="Tahoma"/>
              </a:rPr>
              <a:t>peaks</a:t>
            </a:r>
            <a:r>
              <a:rPr sz="1343" spc="-12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45" dirty="0">
                <a:solidFill>
                  <a:srgbClr val="2B404F"/>
                </a:solidFill>
                <a:latin typeface="Tahoma"/>
                <a:cs typeface="Tahoma"/>
              </a:rPr>
              <a:t>Monday-</a:t>
            </a:r>
            <a:r>
              <a:rPr sz="1343" spc="-35" dirty="0">
                <a:solidFill>
                  <a:srgbClr val="2B404F"/>
                </a:solidFill>
                <a:latin typeface="Tahoma"/>
                <a:cs typeface="Tahoma"/>
              </a:rPr>
              <a:t>Friday</a:t>
            </a:r>
            <a:r>
              <a:rPr sz="1343" spc="-12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35" dirty="0">
                <a:solidFill>
                  <a:srgbClr val="2B404F"/>
                </a:solidFill>
                <a:latin typeface="Tahoma"/>
                <a:cs typeface="Tahoma"/>
              </a:rPr>
              <a:t>at</a:t>
            </a:r>
            <a:r>
              <a:rPr sz="1343" spc="-12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80" dirty="0">
                <a:solidFill>
                  <a:srgbClr val="2B404F"/>
                </a:solidFill>
                <a:latin typeface="Tahoma"/>
                <a:cs typeface="Tahoma"/>
              </a:rPr>
              <a:t>8</a:t>
            </a:r>
            <a:r>
              <a:rPr sz="1343" spc="-12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80" dirty="0">
                <a:solidFill>
                  <a:srgbClr val="2B404F"/>
                </a:solidFill>
                <a:latin typeface="Tahoma"/>
                <a:cs typeface="Tahoma"/>
              </a:rPr>
              <a:t>AM</a:t>
            </a:r>
            <a:r>
              <a:rPr sz="1343" spc="-12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30" dirty="0">
                <a:solidFill>
                  <a:srgbClr val="2B404F"/>
                </a:solidFill>
                <a:latin typeface="Tahoma"/>
                <a:cs typeface="Tahoma"/>
              </a:rPr>
              <a:t>and</a:t>
            </a:r>
            <a:r>
              <a:rPr sz="1343" spc="-12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80" dirty="0">
                <a:solidFill>
                  <a:srgbClr val="2B404F"/>
                </a:solidFill>
                <a:latin typeface="Tahoma"/>
                <a:cs typeface="Tahoma"/>
              </a:rPr>
              <a:t>5</a:t>
            </a:r>
            <a:r>
              <a:rPr sz="1343" spc="-12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50" dirty="0">
                <a:solidFill>
                  <a:srgbClr val="2B404F"/>
                </a:solidFill>
                <a:latin typeface="Tahoma"/>
                <a:cs typeface="Tahoma"/>
              </a:rPr>
              <a:t>PM.</a:t>
            </a:r>
            <a:r>
              <a:rPr sz="1343" spc="-12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10" dirty="0">
                <a:solidFill>
                  <a:srgbClr val="2B404F"/>
                </a:solidFill>
                <a:latin typeface="Tahoma"/>
                <a:cs typeface="Tahoma"/>
              </a:rPr>
              <a:t>Comprise </a:t>
            </a:r>
            <a:r>
              <a:rPr sz="1343" spc="-85" dirty="0">
                <a:solidFill>
                  <a:srgbClr val="2B404F"/>
                </a:solidFill>
                <a:latin typeface="Tahoma"/>
                <a:cs typeface="Tahoma"/>
              </a:rPr>
              <a:t>80-</a:t>
            </a:r>
            <a:r>
              <a:rPr sz="1343" spc="-120" dirty="0">
                <a:solidFill>
                  <a:srgbClr val="2B404F"/>
                </a:solidFill>
                <a:latin typeface="Tahoma"/>
                <a:cs typeface="Tahoma"/>
              </a:rPr>
              <a:t>90%</a:t>
            </a:r>
            <a:r>
              <a:rPr sz="1343" spc="-114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30" dirty="0">
                <a:solidFill>
                  <a:srgbClr val="2B404F"/>
                </a:solidFill>
                <a:latin typeface="Tahoma"/>
                <a:cs typeface="Tahoma"/>
              </a:rPr>
              <a:t>of</a:t>
            </a:r>
            <a:r>
              <a:rPr sz="1343" spc="-114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45" dirty="0">
                <a:solidFill>
                  <a:srgbClr val="2B404F"/>
                </a:solidFill>
                <a:latin typeface="Tahoma"/>
                <a:cs typeface="Tahoma"/>
              </a:rPr>
              <a:t>weekday</a:t>
            </a:r>
            <a:r>
              <a:rPr sz="1343" spc="-114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40" dirty="0">
                <a:solidFill>
                  <a:srgbClr val="2B404F"/>
                </a:solidFill>
                <a:latin typeface="Tahoma"/>
                <a:cs typeface="Tahoma"/>
              </a:rPr>
              <a:t>volume.</a:t>
            </a:r>
            <a:r>
              <a:rPr sz="1343" spc="-11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25" dirty="0">
                <a:solidFill>
                  <a:srgbClr val="2B404F"/>
                </a:solidFill>
                <a:latin typeface="Tahoma"/>
                <a:cs typeface="Tahoma"/>
              </a:rPr>
              <a:t>Resilient</a:t>
            </a:r>
            <a:r>
              <a:rPr sz="1343" spc="-114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20" dirty="0">
                <a:solidFill>
                  <a:srgbClr val="2B404F"/>
                </a:solidFill>
                <a:latin typeface="Tahoma"/>
                <a:cs typeface="Tahoma"/>
              </a:rPr>
              <a:t>to</a:t>
            </a:r>
            <a:r>
              <a:rPr sz="1343" spc="-114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40" dirty="0">
                <a:solidFill>
                  <a:srgbClr val="2B404F"/>
                </a:solidFill>
                <a:latin typeface="Tahoma"/>
                <a:cs typeface="Tahoma"/>
              </a:rPr>
              <a:t>weather</a:t>
            </a:r>
            <a:r>
              <a:rPr sz="1343" spc="-11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10" dirty="0">
                <a:solidFill>
                  <a:srgbClr val="2B404F"/>
                </a:solidFill>
                <a:latin typeface="Tahoma"/>
                <a:cs typeface="Tahoma"/>
              </a:rPr>
              <a:t>conditions.</a:t>
            </a:r>
            <a:endParaRPr sz="1343">
              <a:latin typeface="Tahoma"/>
              <a:cs typeface="Tahoma"/>
            </a:endParaRPr>
          </a:p>
          <a:p>
            <a:pPr>
              <a:spcBef>
                <a:spcPts val="1542"/>
              </a:spcBef>
            </a:pPr>
            <a:endParaRPr sz="1343">
              <a:latin typeface="Tahoma"/>
              <a:cs typeface="Tahoma"/>
            </a:endParaRPr>
          </a:p>
          <a:p>
            <a:pPr marL="1036301"/>
            <a:r>
              <a:rPr sz="1642" spc="50" dirty="0">
                <a:solidFill>
                  <a:srgbClr val="2B404F"/>
                </a:solidFill>
                <a:latin typeface="Microsoft Sans Serif"/>
                <a:cs typeface="Microsoft Sans Serif"/>
              </a:rPr>
              <a:t>Casual</a:t>
            </a:r>
            <a:r>
              <a:rPr sz="1642" spc="10" dirty="0">
                <a:solidFill>
                  <a:srgbClr val="2B404F"/>
                </a:solidFill>
                <a:latin typeface="Microsoft Sans Serif"/>
                <a:cs typeface="Microsoft Sans Serif"/>
              </a:rPr>
              <a:t> </a:t>
            </a:r>
            <a:r>
              <a:rPr sz="1642" spc="-20" dirty="0">
                <a:solidFill>
                  <a:srgbClr val="2B404F"/>
                </a:solidFill>
                <a:latin typeface="Microsoft Sans Serif"/>
                <a:cs typeface="Microsoft Sans Serif"/>
              </a:rPr>
              <a:t>Users</a:t>
            </a:r>
            <a:endParaRPr sz="1642">
              <a:latin typeface="Microsoft Sans Serif"/>
              <a:cs typeface="Microsoft Sans Serif"/>
            </a:endParaRPr>
          </a:p>
          <a:p>
            <a:pPr marL="1036301" marR="137752">
              <a:lnSpc>
                <a:spcPct val="134300"/>
              </a:lnSpc>
              <a:spcBef>
                <a:spcPts val="389"/>
              </a:spcBef>
            </a:pPr>
            <a:r>
              <a:rPr sz="1343" spc="-35" dirty="0">
                <a:solidFill>
                  <a:srgbClr val="2B404F"/>
                </a:solidFill>
                <a:latin typeface="Tahoma"/>
                <a:cs typeface="Tahoma"/>
              </a:rPr>
              <a:t>Dominate</a:t>
            </a:r>
            <a:r>
              <a:rPr sz="1343" spc="-12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40" dirty="0">
                <a:solidFill>
                  <a:srgbClr val="2B404F"/>
                </a:solidFill>
                <a:latin typeface="Tahoma"/>
                <a:cs typeface="Tahoma"/>
              </a:rPr>
              <a:t>weekend</a:t>
            </a:r>
            <a:r>
              <a:rPr sz="1343" spc="-114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45" dirty="0">
                <a:solidFill>
                  <a:srgbClr val="2B404F"/>
                </a:solidFill>
                <a:latin typeface="Tahoma"/>
                <a:cs typeface="Tahoma"/>
              </a:rPr>
              <a:t>peaks.</a:t>
            </a:r>
            <a:r>
              <a:rPr sz="1343" spc="-12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45" dirty="0">
                <a:solidFill>
                  <a:srgbClr val="2B404F"/>
                </a:solidFill>
                <a:latin typeface="Tahoma"/>
                <a:cs typeface="Tahoma"/>
              </a:rPr>
              <a:t>More</a:t>
            </a:r>
            <a:r>
              <a:rPr sz="1343" spc="-114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25" dirty="0">
                <a:solidFill>
                  <a:srgbClr val="2B404F"/>
                </a:solidFill>
                <a:latin typeface="Tahoma"/>
                <a:cs typeface="Tahoma"/>
              </a:rPr>
              <a:t>sporadic</a:t>
            </a:r>
            <a:r>
              <a:rPr sz="1343" spc="-114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20" dirty="0">
                <a:solidFill>
                  <a:srgbClr val="2B404F"/>
                </a:solidFill>
                <a:latin typeface="Tahoma"/>
                <a:cs typeface="Tahoma"/>
              </a:rPr>
              <a:t>on</a:t>
            </a:r>
            <a:r>
              <a:rPr sz="1343" spc="-12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45" dirty="0">
                <a:solidFill>
                  <a:srgbClr val="2B404F"/>
                </a:solidFill>
                <a:latin typeface="Tahoma"/>
                <a:cs typeface="Tahoma"/>
              </a:rPr>
              <a:t>weekdays.</a:t>
            </a:r>
            <a:r>
              <a:rPr sz="1343" spc="-114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10" dirty="0">
                <a:solidFill>
                  <a:srgbClr val="2B404F"/>
                </a:solidFill>
                <a:latin typeface="Tahoma"/>
                <a:cs typeface="Tahoma"/>
              </a:rPr>
              <a:t>Highly </a:t>
            </a:r>
            <a:r>
              <a:rPr sz="1343" spc="-45" dirty="0">
                <a:solidFill>
                  <a:srgbClr val="2B404F"/>
                </a:solidFill>
                <a:latin typeface="Tahoma"/>
                <a:cs typeface="Tahoma"/>
              </a:rPr>
              <a:t>weather-</a:t>
            </a:r>
            <a:r>
              <a:rPr sz="1343" spc="-40" dirty="0">
                <a:solidFill>
                  <a:srgbClr val="2B404F"/>
                </a:solidFill>
                <a:latin typeface="Tahoma"/>
                <a:cs typeface="Tahoma"/>
              </a:rPr>
              <a:t>sensitive.</a:t>
            </a:r>
            <a:r>
              <a:rPr sz="1343" spc="-12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40" dirty="0">
                <a:solidFill>
                  <a:srgbClr val="2B404F"/>
                </a:solidFill>
                <a:latin typeface="Tahoma"/>
                <a:cs typeface="Tahoma"/>
              </a:rPr>
              <a:t>Peak</a:t>
            </a:r>
            <a:r>
              <a:rPr sz="1343" spc="-114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25" dirty="0">
                <a:solidFill>
                  <a:srgbClr val="2B404F"/>
                </a:solidFill>
                <a:latin typeface="Tahoma"/>
                <a:cs typeface="Tahoma"/>
              </a:rPr>
              <a:t>during</a:t>
            </a:r>
            <a:r>
              <a:rPr sz="1343" spc="-114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35" dirty="0">
                <a:solidFill>
                  <a:srgbClr val="2B404F"/>
                </a:solidFill>
                <a:latin typeface="Tahoma"/>
                <a:cs typeface="Tahoma"/>
              </a:rPr>
              <a:t>good</a:t>
            </a:r>
            <a:r>
              <a:rPr sz="1343" spc="-114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10" dirty="0">
                <a:solidFill>
                  <a:srgbClr val="2B404F"/>
                </a:solidFill>
                <a:latin typeface="Tahoma"/>
                <a:cs typeface="Tahoma"/>
              </a:rPr>
              <a:t>conditions</a:t>
            </a:r>
            <a:r>
              <a:rPr sz="1343" spc="-12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30" dirty="0">
                <a:solidFill>
                  <a:srgbClr val="2B404F"/>
                </a:solidFill>
                <a:latin typeface="Tahoma"/>
                <a:cs typeface="Tahoma"/>
              </a:rPr>
              <a:t>and</a:t>
            </a:r>
            <a:r>
              <a:rPr sz="1343" spc="-114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10" dirty="0">
                <a:solidFill>
                  <a:srgbClr val="2B404F"/>
                </a:solidFill>
                <a:latin typeface="Tahoma"/>
                <a:cs typeface="Tahoma"/>
              </a:rPr>
              <a:t>lunch</a:t>
            </a:r>
            <a:r>
              <a:rPr sz="1343" spc="-114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10" dirty="0">
                <a:solidFill>
                  <a:srgbClr val="2B404F"/>
                </a:solidFill>
                <a:latin typeface="Tahoma"/>
                <a:cs typeface="Tahoma"/>
              </a:rPr>
              <a:t>hours.</a:t>
            </a:r>
            <a:endParaRPr sz="1343">
              <a:latin typeface="Tahoma"/>
              <a:cs typeface="Tahoma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03EB5D4-11CA-A863-620D-4780C45A49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072" y="5771112"/>
            <a:ext cx="6952928" cy="242032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228600" y="0"/>
            <a:ext cx="11811000" cy="9396413"/>
          </a:xfrm>
          <a:custGeom>
            <a:avLst/>
            <a:gdLst/>
            <a:ahLst/>
            <a:cxnLst/>
            <a:rect l="l" t="t" r="r" b="b"/>
            <a:pathLst>
              <a:path w="11430000" h="7162800">
                <a:moveTo>
                  <a:pt x="11430000" y="0"/>
                </a:moveTo>
                <a:lnTo>
                  <a:pt x="0" y="0"/>
                </a:lnTo>
                <a:lnTo>
                  <a:pt x="0" y="7162800"/>
                </a:lnTo>
                <a:lnTo>
                  <a:pt x="11430000" y="71628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FFCF5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919244" y="523849"/>
            <a:ext cx="726690" cy="177257"/>
          </a:xfrm>
          <a:prstGeom prst="rect">
            <a:avLst/>
          </a:prstGeom>
        </p:spPr>
        <p:txBody>
          <a:bodyPr vert="horz" wrap="square" lIns="0" tIns="16430" rIns="0" bIns="0" rtlCol="0">
            <a:spAutoFit/>
          </a:bodyPr>
          <a:lstStyle/>
          <a:p>
            <a:pPr marL="12638">
              <a:spcBef>
                <a:spcPts val="130"/>
              </a:spcBef>
            </a:pPr>
            <a:r>
              <a:rPr sz="1045" spc="-35" dirty="0">
                <a:solidFill>
                  <a:srgbClr val="2B404F"/>
                </a:solidFill>
                <a:latin typeface="Tahoma"/>
                <a:cs typeface="Tahoma"/>
              </a:rPr>
              <a:t>CA</a:t>
            </a:r>
            <a:r>
              <a:rPr sz="1045" spc="-8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045" spc="-35" dirty="0">
                <a:solidFill>
                  <a:srgbClr val="2B404F"/>
                </a:solidFill>
                <a:latin typeface="Tahoma"/>
                <a:cs typeface="Tahoma"/>
              </a:rPr>
              <a:t>STUDY</a:t>
            </a:r>
            <a:endParaRPr sz="1045" dirty="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12375" y="660341"/>
            <a:ext cx="3740872" cy="1063494"/>
          </a:xfrm>
          <a:prstGeom prst="rect">
            <a:avLst/>
          </a:prstGeom>
        </p:spPr>
        <p:txBody>
          <a:bodyPr vert="horz" wrap="square" lIns="0" tIns="195890" rIns="0" bIns="0" rtlCol="0">
            <a:spAutoFit/>
          </a:bodyPr>
          <a:lstStyle/>
          <a:p>
            <a:pPr marL="12638">
              <a:spcBef>
                <a:spcPts val="1542"/>
              </a:spcBef>
            </a:pPr>
            <a:r>
              <a:rPr dirty="0"/>
              <a:t>The</a:t>
            </a:r>
            <a:r>
              <a:rPr spc="-10" dirty="0"/>
              <a:t> </a:t>
            </a:r>
            <a:r>
              <a:rPr spc="203" dirty="0"/>
              <a:t>Holiday</a:t>
            </a:r>
            <a:r>
              <a:rPr spc="-5" dirty="0"/>
              <a:t> </a:t>
            </a:r>
            <a:r>
              <a:rPr spc="85" dirty="0"/>
              <a:t>Effect</a:t>
            </a:r>
          </a:p>
          <a:p>
            <a:pPr marL="12638">
              <a:spcBef>
                <a:spcPts val="751"/>
              </a:spcBef>
            </a:pPr>
            <a:r>
              <a:rPr sz="1642" spc="169" dirty="0"/>
              <a:t>Monday,</a:t>
            </a:r>
            <a:r>
              <a:rPr sz="1642" spc="20" dirty="0"/>
              <a:t> </a:t>
            </a:r>
            <a:r>
              <a:rPr sz="1642" spc="105" dirty="0"/>
              <a:t>January</a:t>
            </a:r>
            <a:r>
              <a:rPr sz="1642" spc="25" dirty="0"/>
              <a:t> </a:t>
            </a:r>
            <a:r>
              <a:rPr sz="1642" spc="-164" dirty="0"/>
              <a:t>17,</a:t>
            </a:r>
            <a:r>
              <a:rPr sz="1642" spc="25" dirty="0"/>
              <a:t> </a:t>
            </a:r>
            <a:r>
              <a:rPr sz="1642" spc="-20" dirty="0"/>
              <a:t>2011</a:t>
            </a:r>
            <a:endParaRPr sz="1642"/>
          </a:p>
        </p:txBody>
      </p:sp>
      <p:grpSp>
        <p:nvGrpSpPr>
          <p:cNvPr id="9" name="object 9"/>
          <p:cNvGrpSpPr/>
          <p:nvPr/>
        </p:nvGrpSpPr>
        <p:grpSpPr>
          <a:xfrm>
            <a:off x="625014" y="7159388"/>
            <a:ext cx="6537786" cy="1364913"/>
            <a:chOff x="4848225" y="2886075"/>
            <a:chExt cx="5991225" cy="1371600"/>
          </a:xfrm>
        </p:grpSpPr>
        <p:sp>
          <p:nvSpPr>
            <p:cNvPr id="10" name="object 10"/>
            <p:cNvSpPr/>
            <p:nvPr/>
          </p:nvSpPr>
          <p:spPr>
            <a:xfrm>
              <a:off x="4867275" y="2895600"/>
              <a:ext cx="5962650" cy="1352550"/>
            </a:xfrm>
            <a:custGeom>
              <a:avLst/>
              <a:gdLst/>
              <a:ahLst/>
              <a:cxnLst/>
              <a:rect l="l" t="t" r="r" b="b"/>
              <a:pathLst>
                <a:path w="5962650" h="1352550">
                  <a:moveTo>
                    <a:pt x="5954026" y="0"/>
                  </a:moveTo>
                  <a:lnTo>
                    <a:pt x="71196" y="0"/>
                  </a:lnTo>
                  <a:lnTo>
                    <a:pt x="66243" y="431"/>
                  </a:lnTo>
                  <a:lnTo>
                    <a:pt x="29705" y="13665"/>
                  </a:lnTo>
                  <a:lnTo>
                    <a:pt x="3886" y="45199"/>
                  </a:lnTo>
                  <a:lnTo>
                    <a:pt x="0" y="62293"/>
                  </a:lnTo>
                  <a:lnTo>
                    <a:pt x="0" y="1285875"/>
                  </a:lnTo>
                  <a:lnTo>
                    <a:pt x="0" y="1290256"/>
                  </a:lnTo>
                  <a:lnTo>
                    <a:pt x="15621" y="1326553"/>
                  </a:lnTo>
                  <a:lnTo>
                    <a:pt x="51663" y="1349146"/>
                  </a:lnTo>
                  <a:lnTo>
                    <a:pt x="71196" y="1352550"/>
                  </a:lnTo>
                  <a:lnTo>
                    <a:pt x="5954026" y="1352550"/>
                  </a:lnTo>
                  <a:lnTo>
                    <a:pt x="5956833" y="1351394"/>
                  </a:lnTo>
                  <a:lnTo>
                    <a:pt x="5961494" y="1346733"/>
                  </a:lnTo>
                  <a:lnTo>
                    <a:pt x="5962650" y="1343926"/>
                  </a:lnTo>
                  <a:lnTo>
                    <a:pt x="5962650" y="8623"/>
                  </a:lnTo>
                  <a:lnTo>
                    <a:pt x="5961494" y="5803"/>
                  </a:lnTo>
                  <a:lnTo>
                    <a:pt x="5959157" y="3492"/>
                  </a:lnTo>
                  <a:lnTo>
                    <a:pt x="5956833" y="1155"/>
                  </a:lnTo>
                  <a:lnTo>
                    <a:pt x="5954026" y="0"/>
                  </a:lnTo>
                  <a:close/>
                </a:path>
              </a:pathLst>
            </a:custGeom>
            <a:solidFill>
              <a:srgbClr val="FFFCF5"/>
            </a:solidFill>
          </p:spPr>
          <p:txBody>
            <a:bodyPr wrap="square" lIns="0" tIns="0" rIns="0" bIns="0" rtlCol="0"/>
            <a:lstStyle/>
            <a:p>
              <a:pPr marL="259076"/>
              <a:r>
                <a:rPr lang="en-US" sz="2400" spc="130" dirty="0">
                  <a:latin typeface="Microsoft Sans Serif"/>
                  <a:cs typeface="Microsoft Sans Serif"/>
                </a:rPr>
                <a:t>Normal</a:t>
              </a:r>
              <a:r>
                <a:rPr lang="en-US" sz="2400" spc="20" dirty="0">
                  <a:latin typeface="Microsoft Sans Serif"/>
                  <a:cs typeface="Microsoft Sans Serif"/>
                </a:rPr>
                <a:t> </a:t>
              </a:r>
              <a:r>
                <a:rPr lang="en-US" sz="2400" spc="199" dirty="0">
                  <a:latin typeface="Microsoft Sans Serif"/>
                  <a:cs typeface="Microsoft Sans Serif"/>
                </a:rPr>
                <a:t>Day</a:t>
              </a:r>
              <a:endParaRPr lang="en-US" sz="2400" dirty="0">
                <a:latin typeface="Microsoft Sans Serif"/>
                <a:cs typeface="Microsoft Sans Serif"/>
              </a:endParaRPr>
            </a:p>
            <a:p>
              <a:pPr marL="259076" marR="3411581">
                <a:lnSpc>
                  <a:spcPct val="134300"/>
                </a:lnSpc>
                <a:spcBef>
                  <a:spcPts val="985"/>
                </a:spcBef>
              </a:pPr>
              <a:r>
                <a:rPr lang="en-US" sz="1800" spc="-80" dirty="0"/>
                <a:t>Average</a:t>
              </a:r>
              <a:r>
                <a:rPr lang="en-US" sz="1800" spc="-55" dirty="0"/>
                <a:t>:</a:t>
              </a:r>
              <a:r>
                <a:rPr lang="en-US" sz="1800" spc="-125" dirty="0"/>
                <a:t> </a:t>
              </a:r>
              <a:r>
                <a:rPr lang="en-US" sz="1800" spc="-75" dirty="0"/>
                <a:t>8186</a:t>
              </a:r>
              <a:r>
                <a:rPr lang="en-US" sz="1800" spc="-130" dirty="0"/>
                <a:t> </a:t>
              </a:r>
              <a:r>
                <a:rPr lang="en-US" sz="1800" spc="-25" dirty="0"/>
                <a:t>rentals </a:t>
              </a:r>
              <a:r>
                <a:rPr lang="en-US" sz="1800" spc="-40" dirty="0"/>
                <a:t>Strong</a:t>
              </a:r>
              <a:r>
                <a:rPr lang="en-US" sz="1800" spc="-100" dirty="0"/>
                <a:t> </a:t>
              </a:r>
              <a:r>
                <a:rPr lang="en-US" sz="1800" spc="-35" dirty="0"/>
                <a:t>commuter</a:t>
              </a:r>
              <a:r>
                <a:rPr lang="en-US" sz="1800" spc="-100" dirty="0"/>
                <a:t> </a:t>
              </a:r>
              <a:r>
                <a:rPr lang="en-US" sz="1800" spc="-10" dirty="0"/>
                <a:t>pattern</a:t>
              </a:r>
            </a:p>
            <a:p>
              <a:endParaRPr dirty="0"/>
            </a:p>
          </p:txBody>
        </p:sp>
        <p:sp>
          <p:nvSpPr>
            <p:cNvPr id="11" name="object 11"/>
            <p:cNvSpPr/>
            <p:nvPr/>
          </p:nvSpPr>
          <p:spPr>
            <a:xfrm>
              <a:off x="4868113" y="2886087"/>
              <a:ext cx="5971540" cy="1371600"/>
            </a:xfrm>
            <a:custGeom>
              <a:avLst/>
              <a:gdLst/>
              <a:ahLst/>
              <a:cxnLst/>
              <a:rect l="l" t="t" r="r" b="b"/>
              <a:pathLst>
                <a:path w="5971540" h="1371600">
                  <a:moveTo>
                    <a:pt x="5971324" y="15506"/>
                  </a:moveTo>
                  <a:lnTo>
                    <a:pt x="5969228" y="10464"/>
                  </a:lnTo>
                  <a:lnTo>
                    <a:pt x="5965520" y="6756"/>
                  </a:lnTo>
                  <a:lnTo>
                    <a:pt x="5965050" y="6273"/>
                  </a:lnTo>
                  <a:lnTo>
                    <a:pt x="5960859" y="2095"/>
                  </a:lnTo>
                  <a:lnTo>
                    <a:pt x="5955817" y="0"/>
                  </a:lnTo>
                  <a:lnTo>
                    <a:pt x="75349" y="0"/>
                  </a:lnTo>
                  <a:lnTo>
                    <a:pt x="67843" y="355"/>
                  </a:lnTo>
                  <a:lnTo>
                    <a:pt x="27038" y="17259"/>
                  </a:lnTo>
                  <a:lnTo>
                    <a:pt x="2413" y="54102"/>
                  </a:lnTo>
                  <a:lnTo>
                    <a:pt x="0" y="65430"/>
                  </a:lnTo>
                  <a:lnTo>
                    <a:pt x="1079" y="61328"/>
                  </a:lnTo>
                  <a:lnTo>
                    <a:pt x="8813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5951486" y="19050"/>
                  </a:lnTo>
                  <a:lnTo>
                    <a:pt x="5951880" y="19443"/>
                  </a:lnTo>
                  <a:lnTo>
                    <a:pt x="5952274" y="19837"/>
                  </a:lnTo>
                  <a:lnTo>
                    <a:pt x="5952274" y="1351749"/>
                  </a:lnTo>
                  <a:lnTo>
                    <a:pt x="5951880" y="1352143"/>
                  </a:lnTo>
                  <a:lnTo>
                    <a:pt x="5951486" y="1352550"/>
                  </a:lnTo>
                  <a:lnTo>
                    <a:pt x="75349" y="1352550"/>
                  </a:lnTo>
                  <a:lnTo>
                    <a:pt x="33007" y="1342923"/>
                  </a:lnTo>
                  <a:lnTo>
                    <a:pt x="1079" y="1310271"/>
                  </a:lnTo>
                  <a:lnTo>
                    <a:pt x="0" y="1306156"/>
                  </a:lnTo>
                  <a:lnTo>
                    <a:pt x="609" y="1310271"/>
                  </a:lnTo>
                  <a:lnTo>
                    <a:pt x="2413" y="1317485"/>
                  </a:lnTo>
                  <a:lnTo>
                    <a:pt x="4851" y="1324267"/>
                  </a:lnTo>
                  <a:lnTo>
                    <a:pt x="4953" y="1324559"/>
                  </a:lnTo>
                  <a:lnTo>
                    <a:pt x="33007" y="1358760"/>
                  </a:lnTo>
                  <a:lnTo>
                    <a:pt x="75349" y="1371600"/>
                  </a:lnTo>
                  <a:lnTo>
                    <a:pt x="5955817" y="1371600"/>
                  </a:lnTo>
                  <a:lnTo>
                    <a:pt x="5960859" y="1369504"/>
                  </a:lnTo>
                  <a:lnTo>
                    <a:pt x="5965050" y="1365313"/>
                  </a:lnTo>
                  <a:lnTo>
                    <a:pt x="5965520" y="1364843"/>
                  </a:lnTo>
                  <a:lnTo>
                    <a:pt x="5969228" y="1361135"/>
                  </a:lnTo>
                  <a:lnTo>
                    <a:pt x="5971324" y="1356093"/>
                  </a:lnTo>
                  <a:lnTo>
                    <a:pt x="5971324" y="15506"/>
                  </a:lnTo>
                  <a:close/>
                </a:path>
              </a:pathLst>
            </a:custGeom>
            <a:solidFill>
              <a:srgbClr val="D9D4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848225" y="2886075"/>
              <a:ext cx="76200" cy="1371600"/>
            </a:xfrm>
            <a:custGeom>
              <a:avLst/>
              <a:gdLst/>
              <a:ahLst/>
              <a:cxnLst/>
              <a:rect l="l" t="t" r="r" b="b"/>
              <a:pathLst>
                <a:path w="76200" h="1371600">
                  <a:moveTo>
                    <a:pt x="76200" y="0"/>
                  </a:moveTo>
                  <a:lnTo>
                    <a:pt x="18592" y="0"/>
                  </a:lnTo>
                  <a:lnTo>
                    <a:pt x="15849" y="546"/>
                  </a:lnTo>
                  <a:lnTo>
                    <a:pt x="0" y="18592"/>
                  </a:lnTo>
                  <a:lnTo>
                    <a:pt x="0" y="1350162"/>
                  </a:lnTo>
                  <a:lnTo>
                    <a:pt x="0" y="1353007"/>
                  </a:lnTo>
                  <a:lnTo>
                    <a:pt x="18592" y="1371600"/>
                  </a:lnTo>
                  <a:lnTo>
                    <a:pt x="76200" y="13716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315F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body" idx="1"/>
          </p:nvPr>
        </p:nvSpPr>
        <p:spPr>
          <a:xfrm>
            <a:off x="730929" y="6304552"/>
            <a:ext cx="5561386" cy="451728"/>
          </a:xfrm>
          <a:prstGeom prst="rect">
            <a:avLst/>
          </a:prstGeom>
        </p:spPr>
        <p:txBody>
          <a:bodyPr vert="horz" wrap="square" lIns="0" tIns="12638" rIns="0" bIns="0" rtlCol="0">
            <a:spAutoFit/>
          </a:bodyPr>
          <a:lstStyle/>
          <a:p>
            <a:pPr>
              <a:lnSpc>
                <a:spcPct val="100000"/>
              </a:lnSpc>
            </a:pPr>
            <a:endParaRPr spc="-10" dirty="0"/>
          </a:p>
          <a:p>
            <a:pPr>
              <a:spcBef>
                <a:spcPts val="219"/>
              </a:spcBef>
            </a:pPr>
            <a:endParaRPr spc="-10" dirty="0"/>
          </a:p>
        </p:txBody>
      </p:sp>
      <p:grpSp>
        <p:nvGrpSpPr>
          <p:cNvPr id="14" name="object 14"/>
          <p:cNvGrpSpPr/>
          <p:nvPr/>
        </p:nvGrpSpPr>
        <p:grpSpPr>
          <a:xfrm>
            <a:off x="5711046" y="7117942"/>
            <a:ext cx="5121394" cy="1438325"/>
            <a:chOff x="4843596" y="4429125"/>
            <a:chExt cx="5996057" cy="1445372"/>
          </a:xfrm>
        </p:grpSpPr>
        <p:sp>
          <p:nvSpPr>
            <p:cNvPr id="15" name="object 15"/>
            <p:cNvSpPr/>
            <p:nvPr/>
          </p:nvSpPr>
          <p:spPr>
            <a:xfrm>
              <a:off x="4843596" y="4521947"/>
              <a:ext cx="5962650" cy="1352550"/>
            </a:xfrm>
            <a:custGeom>
              <a:avLst/>
              <a:gdLst/>
              <a:ahLst/>
              <a:cxnLst/>
              <a:rect l="l" t="t" r="r" b="b"/>
              <a:pathLst>
                <a:path w="5962650" h="1352550">
                  <a:moveTo>
                    <a:pt x="5954026" y="0"/>
                  </a:moveTo>
                  <a:lnTo>
                    <a:pt x="71196" y="0"/>
                  </a:lnTo>
                  <a:lnTo>
                    <a:pt x="66243" y="431"/>
                  </a:lnTo>
                  <a:lnTo>
                    <a:pt x="29705" y="13665"/>
                  </a:lnTo>
                  <a:lnTo>
                    <a:pt x="3886" y="45199"/>
                  </a:lnTo>
                  <a:lnTo>
                    <a:pt x="0" y="62293"/>
                  </a:lnTo>
                  <a:lnTo>
                    <a:pt x="0" y="1285875"/>
                  </a:lnTo>
                  <a:lnTo>
                    <a:pt x="0" y="1290256"/>
                  </a:lnTo>
                  <a:lnTo>
                    <a:pt x="15621" y="1326553"/>
                  </a:lnTo>
                  <a:lnTo>
                    <a:pt x="51663" y="1349146"/>
                  </a:lnTo>
                  <a:lnTo>
                    <a:pt x="71196" y="1352550"/>
                  </a:lnTo>
                  <a:lnTo>
                    <a:pt x="5954026" y="1352550"/>
                  </a:lnTo>
                  <a:lnTo>
                    <a:pt x="5956833" y="1351381"/>
                  </a:lnTo>
                  <a:lnTo>
                    <a:pt x="5961494" y="1346733"/>
                  </a:lnTo>
                  <a:lnTo>
                    <a:pt x="5962650" y="1343926"/>
                  </a:lnTo>
                  <a:lnTo>
                    <a:pt x="5962650" y="8623"/>
                  </a:lnTo>
                  <a:lnTo>
                    <a:pt x="5961494" y="5803"/>
                  </a:lnTo>
                  <a:lnTo>
                    <a:pt x="5959157" y="3492"/>
                  </a:lnTo>
                  <a:lnTo>
                    <a:pt x="5956833" y="1155"/>
                  </a:lnTo>
                  <a:lnTo>
                    <a:pt x="5954026" y="0"/>
                  </a:lnTo>
                  <a:close/>
                </a:path>
              </a:pathLst>
            </a:custGeom>
            <a:solidFill>
              <a:srgbClr val="FFFCF5"/>
            </a:solidFill>
          </p:spPr>
          <p:txBody>
            <a:bodyPr wrap="square" lIns="0" tIns="0" rIns="0" bIns="0" rtlCol="0"/>
            <a:lstStyle/>
            <a:p>
              <a:pPr marL="259076">
                <a:spcBef>
                  <a:spcPts val="135"/>
                </a:spcBef>
              </a:pPr>
              <a:r>
                <a:rPr lang="en-US" sz="2400" spc="114" dirty="0">
                  <a:solidFill>
                    <a:srgbClr val="2B404F"/>
                  </a:solidFill>
                  <a:latin typeface="Microsoft Sans Serif"/>
                  <a:cs typeface="Microsoft Sans Serif"/>
                </a:rPr>
                <a:t>Holiday</a:t>
              </a:r>
              <a:r>
                <a:rPr lang="en-US" sz="2400" spc="25" dirty="0">
                  <a:solidFill>
                    <a:srgbClr val="2B404F"/>
                  </a:solidFill>
                  <a:latin typeface="Microsoft Sans Serif"/>
                  <a:cs typeface="Microsoft Sans Serif"/>
                </a:rPr>
                <a:t> </a:t>
              </a:r>
              <a:r>
                <a:rPr lang="en-US" sz="1800" spc="-80" dirty="0">
                  <a:solidFill>
                    <a:srgbClr val="2B404F"/>
                  </a:solidFill>
                  <a:latin typeface="Tahoma"/>
                  <a:cs typeface="Tahoma"/>
                </a:rPr>
                <a:t>Monday</a:t>
              </a:r>
              <a:r>
                <a:rPr lang="en-US" sz="1800" spc="-55" dirty="0">
                  <a:solidFill>
                    <a:srgbClr val="2B404F"/>
                  </a:solidFill>
                  <a:latin typeface="Tahoma"/>
                  <a:cs typeface="Tahoma"/>
                </a:rPr>
                <a:t>:</a:t>
              </a:r>
              <a:r>
                <a:rPr lang="en-US" sz="1800" spc="-135" dirty="0">
                  <a:solidFill>
                    <a:srgbClr val="2B404F"/>
                  </a:solidFill>
                  <a:latin typeface="Tahoma"/>
                  <a:cs typeface="Tahoma"/>
                </a:rPr>
                <a:t> </a:t>
              </a:r>
              <a:r>
                <a:rPr lang="en-US" sz="1800" b="1" spc="-45" dirty="0">
                  <a:solidFill>
                    <a:srgbClr val="2B404F"/>
                  </a:solidFill>
                  <a:latin typeface="Arial"/>
                  <a:cs typeface="Arial"/>
                </a:rPr>
                <a:t>1000</a:t>
              </a:r>
              <a:r>
                <a:rPr lang="en-US" sz="1800" b="1" spc="-90" dirty="0">
                  <a:solidFill>
                    <a:srgbClr val="2B404F"/>
                  </a:solidFill>
                  <a:latin typeface="Arial"/>
                  <a:cs typeface="Arial"/>
                </a:rPr>
                <a:t> </a:t>
              </a:r>
              <a:r>
                <a:rPr lang="en-US" sz="1800" b="1" spc="-10" dirty="0">
                  <a:solidFill>
                    <a:srgbClr val="2B404F"/>
                  </a:solidFill>
                  <a:latin typeface="Arial"/>
                  <a:cs typeface="Arial"/>
                </a:rPr>
                <a:t>rentals</a:t>
              </a:r>
              <a:endParaRPr lang="en-US" sz="1800" dirty="0">
                <a:latin typeface="Arial"/>
                <a:cs typeface="Arial"/>
              </a:endParaRPr>
            </a:p>
            <a:p>
              <a:pPr marL="259076">
                <a:spcBef>
                  <a:spcPts val="552"/>
                </a:spcBef>
              </a:pPr>
              <a:r>
                <a:rPr lang="en-US" sz="1800" spc="-35" dirty="0">
                  <a:solidFill>
                    <a:srgbClr val="2B404F"/>
                  </a:solidFill>
                  <a:latin typeface="Tahoma"/>
                  <a:cs typeface="Tahoma"/>
                </a:rPr>
                <a:t>Resembled</a:t>
              </a:r>
              <a:r>
                <a:rPr lang="en-US" sz="1800" spc="-114" dirty="0">
                  <a:solidFill>
                    <a:srgbClr val="2B404F"/>
                  </a:solidFill>
                  <a:latin typeface="Tahoma"/>
                  <a:cs typeface="Tahoma"/>
                </a:rPr>
                <a:t> </a:t>
              </a:r>
              <a:r>
                <a:rPr lang="en-US" sz="1800" spc="-35" dirty="0">
                  <a:solidFill>
                    <a:srgbClr val="2B404F"/>
                  </a:solidFill>
                  <a:latin typeface="Tahoma"/>
                  <a:cs typeface="Tahoma"/>
                </a:rPr>
                <a:t>Sunday</a:t>
              </a:r>
              <a:r>
                <a:rPr lang="en-US" sz="1800" spc="-110" dirty="0">
                  <a:solidFill>
                    <a:srgbClr val="2B404F"/>
                  </a:solidFill>
                  <a:latin typeface="Tahoma"/>
                  <a:cs typeface="Tahoma"/>
                </a:rPr>
                <a:t> </a:t>
              </a:r>
              <a:r>
                <a:rPr lang="en-US" sz="1800" spc="-10" dirty="0">
                  <a:solidFill>
                    <a:srgbClr val="2B404F"/>
                  </a:solidFill>
                  <a:latin typeface="Tahoma"/>
                  <a:cs typeface="Tahoma"/>
                </a:rPr>
                <a:t>pattern</a:t>
              </a:r>
              <a:endParaRPr lang="en-US" sz="1800" dirty="0">
                <a:latin typeface="Tahoma"/>
                <a:cs typeface="Tahoma"/>
              </a:endParaRPr>
            </a:p>
            <a:p>
              <a:pPr>
                <a:spcBef>
                  <a:spcPts val="1363"/>
                </a:spcBef>
              </a:pPr>
              <a:endParaRPr lang="en-US" sz="1800" dirty="0">
                <a:latin typeface="Tahoma"/>
                <a:cs typeface="Tahoma"/>
              </a:endParaRPr>
            </a:p>
            <a:p>
              <a:endParaRPr dirty="0"/>
            </a:p>
          </p:txBody>
        </p:sp>
        <p:sp>
          <p:nvSpPr>
            <p:cNvPr id="16" name="object 16"/>
            <p:cNvSpPr/>
            <p:nvPr/>
          </p:nvSpPr>
          <p:spPr>
            <a:xfrm>
              <a:off x="4868113" y="4429137"/>
              <a:ext cx="5971540" cy="1371600"/>
            </a:xfrm>
            <a:custGeom>
              <a:avLst/>
              <a:gdLst/>
              <a:ahLst/>
              <a:cxnLst/>
              <a:rect l="l" t="t" r="r" b="b"/>
              <a:pathLst>
                <a:path w="5971540" h="1371600">
                  <a:moveTo>
                    <a:pt x="5971324" y="15506"/>
                  </a:moveTo>
                  <a:lnTo>
                    <a:pt x="5969228" y="10464"/>
                  </a:lnTo>
                  <a:lnTo>
                    <a:pt x="5965520" y="6756"/>
                  </a:lnTo>
                  <a:lnTo>
                    <a:pt x="5965050" y="6273"/>
                  </a:lnTo>
                  <a:lnTo>
                    <a:pt x="5960859" y="2095"/>
                  </a:lnTo>
                  <a:lnTo>
                    <a:pt x="5955817" y="0"/>
                  </a:lnTo>
                  <a:lnTo>
                    <a:pt x="75349" y="0"/>
                  </a:lnTo>
                  <a:lnTo>
                    <a:pt x="67843" y="355"/>
                  </a:lnTo>
                  <a:lnTo>
                    <a:pt x="27038" y="17259"/>
                  </a:lnTo>
                  <a:lnTo>
                    <a:pt x="2413" y="54102"/>
                  </a:lnTo>
                  <a:lnTo>
                    <a:pt x="0" y="65430"/>
                  </a:lnTo>
                  <a:lnTo>
                    <a:pt x="1079" y="61328"/>
                  </a:lnTo>
                  <a:lnTo>
                    <a:pt x="8813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5951486" y="19050"/>
                  </a:lnTo>
                  <a:lnTo>
                    <a:pt x="5951880" y="19443"/>
                  </a:lnTo>
                  <a:lnTo>
                    <a:pt x="5952274" y="19837"/>
                  </a:lnTo>
                  <a:lnTo>
                    <a:pt x="5952274" y="1351749"/>
                  </a:lnTo>
                  <a:lnTo>
                    <a:pt x="5951880" y="1352143"/>
                  </a:lnTo>
                  <a:lnTo>
                    <a:pt x="5951486" y="1352550"/>
                  </a:lnTo>
                  <a:lnTo>
                    <a:pt x="75349" y="1352550"/>
                  </a:lnTo>
                  <a:lnTo>
                    <a:pt x="33007" y="1342923"/>
                  </a:lnTo>
                  <a:lnTo>
                    <a:pt x="1079" y="1310271"/>
                  </a:lnTo>
                  <a:lnTo>
                    <a:pt x="0" y="1306144"/>
                  </a:lnTo>
                  <a:lnTo>
                    <a:pt x="609" y="1310271"/>
                  </a:lnTo>
                  <a:lnTo>
                    <a:pt x="2413" y="1317485"/>
                  </a:lnTo>
                  <a:lnTo>
                    <a:pt x="4851" y="1324267"/>
                  </a:lnTo>
                  <a:lnTo>
                    <a:pt x="4953" y="1324559"/>
                  </a:lnTo>
                  <a:lnTo>
                    <a:pt x="33007" y="1358760"/>
                  </a:lnTo>
                  <a:lnTo>
                    <a:pt x="75349" y="1371600"/>
                  </a:lnTo>
                  <a:lnTo>
                    <a:pt x="5955817" y="1371600"/>
                  </a:lnTo>
                  <a:lnTo>
                    <a:pt x="5960859" y="1369504"/>
                  </a:lnTo>
                  <a:lnTo>
                    <a:pt x="5965050" y="1365313"/>
                  </a:lnTo>
                  <a:lnTo>
                    <a:pt x="5965520" y="1364843"/>
                  </a:lnTo>
                  <a:lnTo>
                    <a:pt x="5969228" y="1361135"/>
                  </a:lnTo>
                  <a:lnTo>
                    <a:pt x="5971324" y="1356093"/>
                  </a:lnTo>
                  <a:lnTo>
                    <a:pt x="5971324" y="15506"/>
                  </a:lnTo>
                  <a:close/>
                </a:path>
              </a:pathLst>
            </a:custGeom>
            <a:solidFill>
              <a:srgbClr val="D9D4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848225" y="4429125"/>
              <a:ext cx="76200" cy="1371600"/>
            </a:xfrm>
            <a:custGeom>
              <a:avLst/>
              <a:gdLst/>
              <a:ahLst/>
              <a:cxnLst/>
              <a:rect l="l" t="t" r="r" b="b"/>
              <a:pathLst>
                <a:path w="76200" h="1371600">
                  <a:moveTo>
                    <a:pt x="76200" y="0"/>
                  </a:moveTo>
                  <a:lnTo>
                    <a:pt x="18592" y="0"/>
                  </a:lnTo>
                  <a:lnTo>
                    <a:pt x="15849" y="546"/>
                  </a:lnTo>
                  <a:lnTo>
                    <a:pt x="0" y="18592"/>
                  </a:lnTo>
                  <a:lnTo>
                    <a:pt x="0" y="1350162"/>
                  </a:lnTo>
                  <a:lnTo>
                    <a:pt x="0" y="1353007"/>
                  </a:lnTo>
                  <a:lnTo>
                    <a:pt x="18592" y="1371600"/>
                  </a:lnTo>
                  <a:lnTo>
                    <a:pt x="76200" y="13716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315F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941887" y="6097218"/>
            <a:ext cx="5676394" cy="537307"/>
          </a:xfrm>
          <a:prstGeom prst="rect">
            <a:avLst/>
          </a:prstGeom>
        </p:spPr>
        <p:txBody>
          <a:bodyPr vert="horz" wrap="square" lIns="0" tIns="17062" rIns="0" bIns="0" rtlCol="0">
            <a:spAutoFit/>
          </a:bodyPr>
          <a:lstStyle/>
          <a:p>
            <a:pPr marL="12638" marR="5055">
              <a:lnSpc>
                <a:spcPct val="134300"/>
              </a:lnSpc>
            </a:pPr>
            <a:r>
              <a:rPr sz="1343" b="1" spc="-105" dirty="0">
                <a:solidFill>
                  <a:srgbClr val="2B404F"/>
                </a:solidFill>
                <a:latin typeface="Arial"/>
                <a:cs typeface="Arial"/>
              </a:rPr>
              <a:t>Key</a:t>
            </a:r>
            <a:r>
              <a:rPr sz="1343" b="1" spc="-60" dirty="0">
                <a:solidFill>
                  <a:srgbClr val="2B404F"/>
                </a:solidFill>
                <a:latin typeface="Arial"/>
                <a:cs typeface="Arial"/>
              </a:rPr>
              <a:t> </a:t>
            </a:r>
            <a:r>
              <a:rPr sz="1343" b="1" spc="-70" dirty="0">
                <a:solidFill>
                  <a:srgbClr val="2B404F"/>
                </a:solidFill>
                <a:latin typeface="Arial"/>
                <a:cs typeface="Arial"/>
              </a:rPr>
              <a:t>Takeaway:</a:t>
            </a:r>
            <a:r>
              <a:rPr sz="1343" b="1" spc="-55" dirty="0">
                <a:solidFill>
                  <a:srgbClr val="2B404F"/>
                </a:solidFill>
                <a:latin typeface="Arial"/>
                <a:cs typeface="Arial"/>
              </a:rPr>
              <a:t> </a:t>
            </a:r>
            <a:r>
              <a:rPr sz="1343" spc="-50" dirty="0">
                <a:solidFill>
                  <a:srgbClr val="2B404F"/>
                </a:solidFill>
                <a:latin typeface="Tahoma"/>
                <a:cs typeface="Tahoma"/>
              </a:rPr>
              <a:t>Registered</a:t>
            </a:r>
            <a:r>
              <a:rPr sz="1343" spc="-10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40" dirty="0">
                <a:solidFill>
                  <a:srgbClr val="2B404F"/>
                </a:solidFill>
                <a:latin typeface="Tahoma"/>
                <a:cs typeface="Tahoma"/>
              </a:rPr>
              <a:t>users</a:t>
            </a:r>
            <a:r>
              <a:rPr sz="1343" spc="-10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25" dirty="0">
                <a:solidFill>
                  <a:srgbClr val="2B404F"/>
                </a:solidFill>
                <a:latin typeface="Tahoma"/>
                <a:cs typeface="Tahoma"/>
              </a:rPr>
              <a:t>significantly</a:t>
            </a:r>
            <a:r>
              <a:rPr sz="1343" spc="-10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40" dirty="0">
                <a:solidFill>
                  <a:srgbClr val="2B404F"/>
                </a:solidFill>
                <a:latin typeface="Tahoma"/>
                <a:cs typeface="Tahoma"/>
              </a:rPr>
              <a:t>reduce</a:t>
            </a:r>
            <a:r>
              <a:rPr sz="1343" spc="-10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55" dirty="0">
                <a:solidFill>
                  <a:srgbClr val="2B404F"/>
                </a:solidFill>
                <a:latin typeface="Tahoma"/>
                <a:cs typeface="Tahoma"/>
              </a:rPr>
              <a:t>usage</a:t>
            </a:r>
            <a:r>
              <a:rPr sz="1343" spc="-10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20" dirty="0">
                <a:solidFill>
                  <a:srgbClr val="2B404F"/>
                </a:solidFill>
                <a:latin typeface="Tahoma"/>
                <a:cs typeface="Tahoma"/>
              </a:rPr>
              <a:t>on</a:t>
            </a:r>
            <a:r>
              <a:rPr sz="1343" spc="-10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25" dirty="0">
                <a:solidFill>
                  <a:srgbClr val="2B404F"/>
                </a:solidFill>
                <a:latin typeface="Tahoma"/>
                <a:cs typeface="Tahoma"/>
              </a:rPr>
              <a:t>holidays,</a:t>
            </a:r>
            <a:r>
              <a:rPr sz="1343" spc="-10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10" dirty="0">
                <a:solidFill>
                  <a:srgbClr val="2B404F"/>
                </a:solidFill>
                <a:latin typeface="Tahoma"/>
                <a:cs typeface="Tahoma"/>
              </a:rPr>
              <a:t>shifting </a:t>
            </a:r>
            <a:r>
              <a:rPr sz="1343" spc="-30" dirty="0">
                <a:solidFill>
                  <a:srgbClr val="2B404F"/>
                </a:solidFill>
                <a:latin typeface="Tahoma"/>
                <a:cs typeface="Tahoma"/>
              </a:rPr>
              <a:t>demand</a:t>
            </a:r>
            <a:r>
              <a:rPr sz="1343" spc="-12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20" dirty="0">
                <a:solidFill>
                  <a:srgbClr val="2B404F"/>
                </a:solidFill>
                <a:latin typeface="Tahoma"/>
                <a:cs typeface="Tahoma"/>
              </a:rPr>
              <a:t>to</a:t>
            </a:r>
            <a:r>
              <a:rPr sz="1343" spc="-114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30" dirty="0">
                <a:solidFill>
                  <a:srgbClr val="2B404F"/>
                </a:solidFill>
                <a:latin typeface="Tahoma"/>
                <a:cs typeface="Tahoma"/>
              </a:rPr>
              <a:t>leisure</a:t>
            </a:r>
            <a:r>
              <a:rPr sz="1343" spc="-114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10" dirty="0">
                <a:solidFill>
                  <a:srgbClr val="2B404F"/>
                </a:solidFill>
                <a:latin typeface="Tahoma"/>
                <a:cs typeface="Tahoma"/>
              </a:rPr>
              <a:t>patterns.</a:t>
            </a:r>
            <a:endParaRPr sz="1343" dirty="0">
              <a:latin typeface="Tahoma"/>
              <a:cs typeface="Tahoma"/>
            </a:endParaRPr>
          </a:p>
        </p:txBody>
      </p:sp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B952BCE3-E7A5-D6E3-44DF-959C4B0A8A9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44393697"/>
              </p:ext>
            </p:extLst>
          </p:nvPr>
        </p:nvGraphicFramePr>
        <p:xfrm>
          <a:off x="1179509" y="2610706"/>
          <a:ext cx="9194372" cy="34450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3" name="object 18">
            <a:extLst>
              <a:ext uri="{FF2B5EF4-FFF2-40B4-BE49-F238E27FC236}">
                <a16:creationId xmlns:a16="http://schemas.microsoft.com/office/drawing/2014/main" id="{A1325D15-04D6-50D5-1632-750BE8A8FCC4}"/>
              </a:ext>
            </a:extLst>
          </p:cNvPr>
          <p:cNvSpPr txBox="1"/>
          <p:nvPr/>
        </p:nvSpPr>
        <p:spPr>
          <a:xfrm>
            <a:off x="1020903" y="1919851"/>
            <a:ext cx="9765641" cy="641374"/>
          </a:xfrm>
          <a:prstGeom prst="rect">
            <a:avLst/>
          </a:prstGeom>
        </p:spPr>
        <p:txBody>
          <a:bodyPr vert="horz" wrap="square" lIns="0" tIns="17062" rIns="0" bIns="0" rtlCol="0">
            <a:spAutoFit/>
          </a:bodyPr>
          <a:lstStyle/>
          <a:p>
            <a:pPr marL="12638" marR="5055">
              <a:lnSpc>
                <a:spcPct val="134300"/>
              </a:lnSpc>
              <a:spcBef>
                <a:spcPts val="100"/>
              </a:spcBef>
            </a:pPr>
            <a:r>
              <a:rPr lang="en-US" sz="1600" spc="-45" dirty="0"/>
              <a:t>The</a:t>
            </a:r>
            <a:r>
              <a:rPr lang="en-US" sz="1600" spc="-125" dirty="0"/>
              <a:t> </a:t>
            </a:r>
            <a:r>
              <a:rPr lang="en-US" sz="1600" spc="-10" dirty="0"/>
              <a:t>holiday</a:t>
            </a:r>
            <a:r>
              <a:rPr lang="en-US" sz="1600" spc="-120" dirty="0"/>
              <a:t> </a:t>
            </a:r>
            <a:r>
              <a:rPr lang="en-US" sz="1600" spc="-25" dirty="0"/>
              <a:t>dramatically</a:t>
            </a:r>
            <a:r>
              <a:rPr lang="en-US" sz="1600" spc="-120" dirty="0"/>
              <a:t> </a:t>
            </a:r>
            <a:r>
              <a:rPr lang="en-US" sz="1600" spc="-35" dirty="0"/>
              <a:t>transformed</a:t>
            </a:r>
            <a:r>
              <a:rPr lang="en-US" sz="1600" spc="-120" dirty="0"/>
              <a:t> </a:t>
            </a:r>
            <a:r>
              <a:rPr lang="en-US" sz="1600" spc="-55" dirty="0"/>
              <a:t>usage</a:t>
            </a:r>
            <a:r>
              <a:rPr lang="en-US" sz="1600" spc="-120" dirty="0"/>
              <a:t> </a:t>
            </a:r>
            <a:r>
              <a:rPr lang="en-US" sz="1600" spc="-45" dirty="0"/>
              <a:t>patterns,</a:t>
            </a:r>
            <a:r>
              <a:rPr lang="en-US" sz="1600" spc="-120" dirty="0"/>
              <a:t> </a:t>
            </a:r>
            <a:r>
              <a:rPr lang="en-US" sz="1600" spc="-10" dirty="0"/>
              <a:t>with</a:t>
            </a:r>
            <a:r>
              <a:rPr lang="en-US" sz="1600" spc="-125" dirty="0"/>
              <a:t> </a:t>
            </a:r>
            <a:r>
              <a:rPr lang="en-US" sz="1600" spc="-25" dirty="0"/>
              <a:t>the</a:t>
            </a:r>
            <a:r>
              <a:rPr lang="en-US" sz="1600" spc="-120" dirty="0"/>
              <a:t> </a:t>
            </a:r>
            <a:r>
              <a:rPr lang="en-US" sz="1600" spc="-10" dirty="0"/>
              <a:t>typical</a:t>
            </a:r>
            <a:r>
              <a:rPr lang="en-US" sz="1600" spc="-120" dirty="0"/>
              <a:t> </a:t>
            </a:r>
            <a:r>
              <a:rPr lang="en-US" sz="1600" spc="-10" dirty="0"/>
              <a:t>Monday </a:t>
            </a:r>
            <a:r>
              <a:rPr lang="en-US" sz="1600" spc="-35" dirty="0"/>
              <a:t>commuter</a:t>
            </a:r>
            <a:r>
              <a:rPr lang="en-US" sz="1600" spc="-100" dirty="0"/>
              <a:t> </a:t>
            </a:r>
            <a:r>
              <a:rPr lang="en-US" sz="1600" spc="-35" dirty="0"/>
              <a:t>rush</a:t>
            </a:r>
            <a:r>
              <a:rPr lang="en-US" sz="1600" spc="-100" dirty="0"/>
              <a:t> </a:t>
            </a:r>
            <a:r>
              <a:rPr lang="en-US" sz="1600" spc="-25" dirty="0"/>
              <a:t>completely</a:t>
            </a:r>
            <a:r>
              <a:rPr lang="en-US" sz="1600" spc="-95" dirty="0"/>
              <a:t> </a:t>
            </a:r>
            <a:r>
              <a:rPr lang="en-US" sz="1600" spc="-10" dirty="0"/>
              <a:t>vanishing.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864" y="0"/>
            <a:ext cx="11374272" cy="6407506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6438900"/>
                </a:moveTo>
                <a:lnTo>
                  <a:pt x="0" y="6438900"/>
                </a:lnTo>
                <a:lnTo>
                  <a:pt x="0" y="0"/>
                </a:lnTo>
                <a:lnTo>
                  <a:pt x="11430000" y="0"/>
                </a:lnTo>
                <a:lnTo>
                  <a:pt x="11430000" y="6438900"/>
                </a:lnTo>
                <a:close/>
              </a:path>
            </a:pathLst>
          </a:custGeom>
          <a:solidFill>
            <a:srgbClr val="FFFB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2376" y="1238531"/>
            <a:ext cx="4848600" cy="537119"/>
          </a:xfrm>
          <a:prstGeom prst="rect">
            <a:avLst/>
          </a:prstGeom>
        </p:spPr>
        <p:txBody>
          <a:bodyPr vert="horz" wrap="square" lIns="0" tIns="15797" rIns="0" bIns="0" rtlCol="0">
            <a:spAutoFit/>
          </a:bodyPr>
          <a:lstStyle/>
          <a:p>
            <a:pPr marL="12638">
              <a:spcBef>
                <a:spcPts val="125"/>
              </a:spcBef>
            </a:pPr>
            <a:r>
              <a:rPr spc="169" dirty="0">
                <a:solidFill>
                  <a:srgbClr val="124E73"/>
                </a:solidFill>
              </a:rPr>
              <a:t>Key</a:t>
            </a:r>
            <a:r>
              <a:rPr spc="5" dirty="0">
                <a:solidFill>
                  <a:srgbClr val="124E73"/>
                </a:solidFill>
              </a:rPr>
              <a:t> </a:t>
            </a:r>
            <a:r>
              <a:rPr spc="135" dirty="0">
                <a:solidFill>
                  <a:srgbClr val="124E73"/>
                </a:solidFill>
              </a:rPr>
              <a:t>Findings</a:t>
            </a:r>
            <a:r>
              <a:rPr spc="5" dirty="0">
                <a:solidFill>
                  <a:srgbClr val="124E73"/>
                </a:solidFill>
              </a:rPr>
              <a:t> </a:t>
            </a:r>
            <a:r>
              <a:rPr spc="249" dirty="0">
                <a:solidFill>
                  <a:srgbClr val="124E73"/>
                </a:solidFill>
              </a:rPr>
              <a:t>Summary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651365" y="2130819"/>
            <a:ext cx="459395" cy="534591"/>
            <a:chOff x="626556" y="2141259"/>
            <a:chExt cx="461645" cy="537210"/>
          </a:xfrm>
        </p:grpSpPr>
        <p:sp>
          <p:nvSpPr>
            <p:cNvPr id="5" name="object 5"/>
            <p:cNvSpPr/>
            <p:nvPr/>
          </p:nvSpPr>
          <p:spPr>
            <a:xfrm>
              <a:off x="637991" y="2635716"/>
              <a:ext cx="438784" cy="31750"/>
            </a:xfrm>
            <a:custGeom>
              <a:avLst/>
              <a:gdLst/>
              <a:ahLst/>
              <a:cxnLst/>
              <a:rect l="l" t="t" r="r" b="b"/>
              <a:pathLst>
                <a:path w="438784" h="31750">
                  <a:moveTo>
                    <a:pt x="0" y="10860"/>
                  </a:moveTo>
                  <a:lnTo>
                    <a:pt x="17921" y="31092"/>
                  </a:lnTo>
                  <a:lnTo>
                    <a:pt x="33935" y="31284"/>
                  </a:lnTo>
                </a:path>
                <a:path w="438784" h="31750">
                  <a:moveTo>
                    <a:pt x="413247" y="31274"/>
                  </a:moveTo>
                  <a:lnTo>
                    <a:pt x="438546" y="6726"/>
                  </a:lnTo>
                  <a:lnTo>
                    <a:pt x="438609" y="0"/>
                  </a:lnTo>
                </a:path>
              </a:pathLst>
            </a:custGeom>
            <a:ln w="22783">
              <a:solidFill>
                <a:srgbClr val="325E7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6930" y="2466596"/>
              <a:ext cx="180780" cy="13792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37948" y="2152650"/>
              <a:ext cx="438784" cy="514350"/>
            </a:xfrm>
            <a:custGeom>
              <a:avLst/>
              <a:gdLst/>
              <a:ahLst/>
              <a:cxnLst/>
              <a:rect l="l" t="t" r="r" b="b"/>
              <a:pathLst>
                <a:path w="438784" h="514350">
                  <a:moveTo>
                    <a:pt x="207918" y="344065"/>
                  </a:moveTo>
                  <a:lnTo>
                    <a:pt x="166468" y="336240"/>
                  </a:lnTo>
                  <a:lnTo>
                    <a:pt x="150724" y="331173"/>
                  </a:lnTo>
                  <a:lnTo>
                    <a:pt x="138866" y="327830"/>
                  </a:lnTo>
                  <a:lnTo>
                    <a:pt x="130118" y="325861"/>
                  </a:lnTo>
                  <a:lnTo>
                    <a:pt x="123703" y="324917"/>
                  </a:lnTo>
                  <a:lnTo>
                    <a:pt x="117326" y="325098"/>
                  </a:lnTo>
                  <a:lnTo>
                    <a:pt x="72073" y="336668"/>
                  </a:lnTo>
                  <a:lnTo>
                    <a:pt x="39292" y="359489"/>
                  </a:lnTo>
                  <a:lnTo>
                    <a:pt x="20131" y="381861"/>
                  </a:lnTo>
                  <a:lnTo>
                    <a:pt x="16224" y="387519"/>
                  </a:lnTo>
                </a:path>
                <a:path w="438784" h="514350">
                  <a:moveTo>
                    <a:pt x="16111" y="387455"/>
                  </a:moveTo>
                  <a:lnTo>
                    <a:pt x="8248" y="403965"/>
                  </a:lnTo>
                  <a:lnTo>
                    <a:pt x="2978" y="421066"/>
                  </a:lnTo>
                  <a:lnTo>
                    <a:pt x="302" y="438760"/>
                  </a:lnTo>
                  <a:lnTo>
                    <a:pt x="219" y="457046"/>
                  </a:lnTo>
                </a:path>
                <a:path w="438784" h="514350">
                  <a:moveTo>
                    <a:pt x="362677" y="143274"/>
                  </a:moveTo>
                  <a:lnTo>
                    <a:pt x="356508" y="184866"/>
                  </a:lnTo>
                  <a:lnTo>
                    <a:pt x="338530" y="222874"/>
                  </a:lnTo>
                  <a:lnTo>
                    <a:pt x="310295" y="254029"/>
                  </a:lnTo>
                  <a:lnTo>
                    <a:pt x="274230" y="275644"/>
                  </a:lnTo>
                  <a:lnTo>
                    <a:pt x="233445" y="285861"/>
                  </a:lnTo>
                  <a:lnTo>
                    <a:pt x="219401" y="286549"/>
                  </a:lnTo>
                  <a:lnTo>
                    <a:pt x="212362" y="286377"/>
                  </a:lnTo>
                  <a:lnTo>
                    <a:pt x="171141" y="278178"/>
                  </a:lnTo>
                  <a:lnTo>
                    <a:pt x="134045" y="258350"/>
                  </a:lnTo>
                  <a:lnTo>
                    <a:pt x="104326" y="228631"/>
                  </a:lnTo>
                  <a:lnTo>
                    <a:pt x="84498" y="191535"/>
                  </a:lnTo>
                  <a:lnTo>
                    <a:pt x="76298" y="150313"/>
                  </a:lnTo>
                  <a:lnTo>
                    <a:pt x="76126" y="143274"/>
                  </a:lnTo>
                  <a:lnTo>
                    <a:pt x="76298" y="136236"/>
                  </a:lnTo>
                  <a:lnTo>
                    <a:pt x="84498" y="95014"/>
                  </a:lnTo>
                  <a:lnTo>
                    <a:pt x="104326" y="57918"/>
                  </a:lnTo>
                  <a:lnTo>
                    <a:pt x="134045" y="28199"/>
                  </a:lnTo>
                  <a:lnTo>
                    <a:pt x="171141" y="8371"/>
                  </a:lnTo>
                  <a:lnTo>
                    <a:pt x="212362" y="172"/>
                  </a:lnTo>
                  <a:lnTo>
                    <a:pt x="219401" y="0"/>
                  </a:lnTo>
                  <a:lnTo>
                    <a:pt x="226440" y="172"/>
                  </a:lnTo>
                  <a:lnTo>
                    <a:pt x="267662" y="8371"/>
                  </a:lnTo>
                  <a:lnTo>
                    <a:pt x="304758" y="28199"/>
                  </a:lnTo>
                  <a:lnTo>
                    <a:pt x="334477" y="57918"/>
                  </a:lnTo>
                  <a:lnTo>
                    <a:pt x="354305" y="95014"/>
                  </a:lnTo>
                  <a:lnTo>
                    <a:pt x="362504" y="136236"/>
                  </a:lnTo>
                  <a:lnTo>
                    <a:pt x="362677" y="143274"/>
                  </a:lnTo>
                  <a:close/>
                </a:path>
                <a:path w="438784" h="514350">
                  <a:moveTo>
                    <a:pt x="0" y="457061"/>
                  </a:moveTo>
                  <a:lnTo>
                    <a:pt x="43" y="493926"/>
                  </a:lnTo>
                </a:path>
                <a:path w="438784" h="514350">
                  <a:moveTo>
                    <a:pt x="280373" y="333286"/>
                  </a:moveTo>
                  <a:lnTo>
                    <a:pt x="263171" y="339070"/>
                  </a:lnTo>
                  <a:lnTo>
                    <a:pt x="243619" y="342842"/>
                  </a:lnTo>
                  <a:lnTo>
                    <a:pt x="224330" y="344531"/>
                  </a:lnTo>
                  <a:lnTo>
                    <a:pt x="207918" y="344065"/>
                  </a:lnTo>
                </a:path>
                <a:path w="438784" h="514350">
                  <a:moveTo>
                    <a:pt x="33979" y="514350"/>
                  </a:moveTo>
                  <a:lnTo>
                    <a:pt x="413290" y="514340"/>
                  </a:lnTo>
                </a:path>
                <a:path w="438784" h="514350">
                  <a:moveTo>
                    <a:pt x="438652" y="483065"/>
                  </a:moveTo>
                  <a:lnTo>
                    <a:pt x="438370" y="440474"/>
                  </a:lnTo>
                </a:path>
              </a:pathLst>
            </a:custGeom>
            <a:ln w="22783">
              <a:solidFill>
                <a:srgbClr val="325E7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37485" y="2266956"/>
            <a:ext cx="4067566" cy="1154489"/>
          </a:xfrm>
          <a:prstGeom prst="rect">
            <a:avLst/>
          </a:prstGeom>
        </p:spPr>
        <p:txBody>
          <a:bodyPr vert="horz" wrap="square" lIns="0" tIns="17062" rIns="0" bIns="0" rtlCol="0">
            <a:spAutoFit/>
          </a:bodyPr>
          <a:lstStyle/>
          <a:p>
            <a:pPr marL="12638">
              <a:spcBef>
                <a:spcPts val="135"/>
              </a:spcBef>
            </a:pPr>
            <a:r>
              <a:rPr sz="1642" spc="90" dirty="0">
                <a:solidFill>
                  <a:srgbClr val="2A404F"/>
                </a:solidFill>
                <a:latin typeface="Microsoft Sans Serif"/>
                <a:cs typeface="Microsoft Sans Serif"/>
              </a:rPr>
              <a:t>Commuter</a:t>
            </a:r>
            <a:r>
              <a:rPr sz="1642" spc="30" dirty="0">
                <a:solidFill>
                  <a:srgbClr val="2A404F"/>
                </a:solidFill>
                <a:latin typeface="Microsoft Sans Serif"/>
                <a:cs typeface="Microsoft Sans Serif"/>
              </a:rPr>
              <a:t> </a:t>
            </a:r>
            <a:r>
              <a:rPr sz="1642" spc="75" dirty="0">
                <a:solidFill>
                  <a:srgbClr val="2A404F"/>
                </a:solidFill>
                <a:latin typeface="Microsoft Sans Serif"/>
                <a:cs typeface="Microsoft Sans Serif"/>
              </a:rPr>
              <a:t>Dominance</a:t>
            </a:r>
            <a:endParaRPr sz="1642">
              <a:latin typeface="Microsoft Sans Serif"/>
              <a:cs typeface="Microsoft Sans Serif"/>
            </a:endParaRPr>
          </a:p>
          <a:p>
            <a:pPr marL="12638" marR="5055">
              <a:lnSpc>
                <a:spcPct val="131900"/>
              </a:lnSpc>
              <a:spcBef>
                <a:spcPts val="502"/>
              </a:spcBef>
            </a:pPr>
            <a:r>
              <a:rPr sz="1343" spc="-55" dirty="0">
                <a:solidFill>
                  <a:srgbClr val="2A404F"/>
                </a:solidFill>
                <a:latin typeface="Tahoma"/>
                <a:cs typeface="Tahoma"/>
              </a:rPr>
              <a:t>The</a:t>
            </a:r>
            <a:r>
              <a:rPr sz="1343" spc="-12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43" spc="-35" dirty="0">
                <a:solidFill>
                  <a:srgbClr val="2A404F"/>
                </a:solidFill>
                <a:latin typeface="Tahoma"/>
                <a:cs typeface="Tahoma"/>
              </a:rPr>
              <a:t>service</a:t>
            </a:r>
            <a:r>
              <a:rPr sz="1343" spc="-114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43" spc="-30" dirty="0">
                <a:solidFill>
                  <a:srgbClr val="2A404F"/>
                </a:solidFill>
                <a:latin typeface="Tahoma"/>
                <a:cs typeface="Tahoma"/>
              </a:rPr>
              <a:t>relies</a:t>
            </a:r>
            <a:r>
              <a:rPr sz="1343" spc="-114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43" spc="-30" dirty="0">
                <a:solidFill>
                  <a:srgbClr val="2A404F"/>
                </a:solidFill>
                <a:latin typeface="Tahoma"/>
                <a:cs typeface="Tahoma"/>
              </a:rPr>
              <a:t>heavily</a:t>
            </a:r>
            <a:r>
              <a:rPr sz="1343" spc="-114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43" spc="-20" dirty="0">
                <a:solidFill>
                  <a:srgbClr val="2A404F"/>
                </a:solidFill>
                <a:latin typeface="Tahoma"/>
                <a:cs typeface="Tahoma"/>
              </a:rPr>
              <a:t>on</a:t>
            </a:r>
            <a:r>
              <a:rPr sz="1343" spc="-12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43" spc="-45" dirty="0">
                <a:solidFill>
                  <a:srgbClr val="2A404F"/>
                </a:solidFill>
                <a:latin typeface="Tahoma"/>
                <a:cs typeface="Tahoma"/>
              </a:rPr>
              <a:t>registered</a:t>
            </a:r>
            <a:r>
              <a:rPr sz="1343" spc="-114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43" spc="-40" dirty="0">
                <a:solidFill>
                  <a:srgbClr val="2A404F"/>
                </a:solidFill>
                <a:latin typeface="Tahoma"/>
                <a:cs typeface="Tahoma"/>
              </a:rPr>
              <a:t>users</a:t>
            </a:r>
            <a:r>
              <a:rPr sz="1343" spc="-114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43" spc="-35" dirty="0">
                <a:solidFill>
                  <a:srgbClr val="2A404F"/>
                </a:solidFill>
                <a:latin typeface="Tahoma"/>
                <a:cs typeface="Tahoma"/>
              </a:rPr>
              <a:t>for</a:t>
            </a:r>
            <a:r>
              <a:rPr sz="1343" spc="-114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43" spc="-20" dirty="0">
                <a:solidFill>
                  <a:srgbClr val="2A404F"/>
                </a:solidFill>
                <a:latin typeface="Tahoma"/>
                <a:cs typeface="Tahoma"/>
              </a:rPr>
              <a:t>weekday </a:t>
            </a:r>
            <a:r>
              <a:rPr sz="1343" spc="-35" dirty="0">
                <a:solidFill>
                  <a:srgbClr val="2A404F"/>
                </a:solidFill>
                <a:latin typeface="Tahoma"/>
                <a:cs typeface="Tahoma"/>
              </a:rPr>
              <a:t>commuting,</a:t>
            </a:r>
            <a:r>
              <a:rPr sz="1343" spc="-12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43" spc="-10" dirty="0">
                <a:solidFill>
                  <a:srgbClr val="2A404F"/>
                </a:solidFill>
                <a:latin typeface="Tahoma"/>
                <a:cs typeface="Tahoma"/>
              </a:rPr>
              <a:t>with</a:t>
            </a:r>
            <a:r>
              <a:rPr sz="1343" spc="-12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43" spc="-10" dirty="0">
                <a:solidFill>
                  <a:srgbClr val="2A404F"/>
                </a:solidFill>
                <a:latin typeface="Tahoma"/>
                <a:cs typeface="Tahoma"/>
              </a:rPr>
              <a:t>distinct</a:t>
            </a:r>
            <a:r>
              <a:rPr sz="1343" spc="-12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43" spc="-25" dirty="0">
                <a:solidFill>
                  <a:srgbClr val="2A404F"/>
                </a:solidFill>
                <a:latin typeface="Tahoma"/>
                <a:cs typeface="Tahoma"/>
              </a:rPr>
              <a:t>morning</a:t>
            </a:r>
            <a:r>
              <a:rPr sz="1343" spc="-12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43" spc="-25" dirty="0">
                <a:solidFill>
                  <a:srgbClr val="2A404F"/>
                </a:solidFill>
                <a:latin typeface="Tahoma"/>
                <a:cs typeface="Tahoma"/>
              </a:rPr>
              <a:t>and</a:t>
            </a:r>
            <a:r>
              <a:rPr sz="1343" spc="-12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43" spc="-40" dirty="0">
                <a:solidFill>
                  <a:srgbClr val="2A404F"/>
                </a:solidFill>
                <a:latin typeface="Tahoma"/>
                <a:cs typeface="Tahoma"/>
              </a:rPr>
              <a:t>evening</a:t>
            </a:r>
            <a:r>
              <a:rPr sz="1343" spc="-12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43" spc="-10" dirty="0">
                <a:solidFill>
                  <a:srgbClr val="2A404F"/>
                </a:solidFill>
                <a:latin typeface="Tahoma"/>
                <a:cs typeface="Tahoma"/>
              </a:rPr>
              <a:t>peaks </a:t>
            </a:r>
            <a:r>
              <a:rPr sz="1343" spc="-25" dirty="0">
                <a:solidFill>
                  <a:srgbClr val="2A404F"/>
                </a:solidFill>
                <a:latin typeface="Tahoma"/>
                <a:cs typeface="Tahoma"/>
              </a:rPr>
              <a:t>driving</a:t>
            </a:r>
            <a:r>
              <a:rPr sz="1343" spc="-12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43" spc="-30" dirty="0">
                <a:solidFill>
                  <a:srgbClr val="2A404F"/>
                </a:solidFill>
                <a:latin typeface="Tahoma"/>
                <a:cs typeface="Tahoma"/>
              </a:rPr>
              <a:t>the</a:t>
            </a:r>
            <a:r>
              <a:rPr sz="1343" spc="-12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43" spc="-25" dirty="0">
                <a:solidFill>
                  <a:srgbClr val="2A404F"/>
                </a:solidFill>
                <a:latin typeface="Tahoma"/>
                <a:cs typeface="Tahoma"/>
              </a:rPr>
              <a:t>majority</a:t>
            </a:r>
            <a:r>
              <a:rPr sz="1343" spc="-12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43" spc="-30" dirty="0">
                <a:solidFill>
                  <a:srgbClr val="2A404F"/>
                </a:solidFill>
                <a:latin typeface="Tahoma"/>
                <a:cs typeface="Tahoma"/>
              </a:rPr>
              <a:t>of</a:t>
            </a:r>
            <a:r>
              <a:rPr sz="1343" spc="-12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43" spc="-10" dirty="0">
                <a:solidFill>
                  <a:srgbClr val="2A404F"/>
                </a:solidFill>
                <a:latin typeface="Tahoma"/>
                <a:cs typeface="Tahoma"/>
              </a:rPr>
              <a:t>rentals.</a:t>
            </a:r>
            <a:endParaRPr sz="1343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819035" y="2181655"/>
            <a:ext cx="512473" cy="432854"/>
          </a:xfrm>
          <a:custGeom>
            <a:avLst/>
            <a:gdLst/>
            <a:ahLst/>
            <a:cxnLst/>
            <a:rect l="l" t="t" r="r" b="b"/>
            <a:pathLst>
              <a:path w="514985" h="434975">
                <a:moveTo>
                  <a:pt x="359335" y="261824"/>
                </a:moveTo>
                <a:lnTo>
                  <a:pt x="346208" y="259513"/>
                </a:lnTo>
                <a:lnTo>
                  <a:pt x="334816" y="258092"/>
                </a:lnTo>
                <a:lnTo>
                  <a:pt x="324684" y="257475"/>
                </a:lnTo>
                <a:lnTo>
                  <a:pt x="315338" y="257578"/>
                </a:lnTo>
                <a:lnTo>
                  <a:pt x="301280" y="260615"/>
                </a:lnTo>
              </a:path>
              <a:path w="514985" h="434975">
                <a:moveTo>
                  <a:pt x="359335" y="261824"/>
                </a:moveTo>
                <a:lnTo>
                  <a:pt x="391564" y="286722"/>
                </a:lnTo>
                <a:lnTo>
                  <a:pt x="411246" y="324120"/>
                </a:lnTo>
                <a:lnTo>
                  <a:pt x="414427" y="347354"/>
                </a:lnTo>
                <a:lnTo>
                  <a:pt x="414138" y="354960"/>
                </a:lnTo>
                <a:lnTo>
                  <a:pt x="399310" y="396653"/>
                </a:lnTo>
                <a:lnTo>
                  <a:pt x="367550" y="424956"/>
                </a:lnTo>
                <a:lnTo>
                  <a:pt x="336160" y="434229"/>
                </a:lnTo>
                <a:lnTo>
                  <a:pt x="331350" y="434647"/>
                </a:lnTo>
              </a:path>
              <a:path w="514985" h="434975">
                <a:moveTo>
                  <a:pt x="359335" y="261824"/>
                </a:moveTo>
                <a:lnTo>
                  <a:pt x="397250" y="241957"/>
                </a:lnTo>
                <a:lnTo>
                  <a:pt x="423081" y="207433"/>
                </a:lnTo>
                <a:lnTo>
                  <a:pt x="430823" y="172026"/>
                </a:lnTo>
                <a:lnTo>
                  <a:pt x="430391" y="165012"/>
                </a:lnTo>
                <a:lnTo>
                  <a:pt x="413210" y="122837"/>
                </a:lnTo>
                <a:lnTo>
                  <a:pt x="376859" y="93662"/>
                </a:lnTo>
                <a:lnTo>
                  <a:pt x="339580" y="85966"/>
                </a:lnTo>
                <a:lnTo>
                  <a:pt x="333485" y="86779"/>
                </a:lnTo>
                <a:lnTo>
                  <a:pt x="292738" y="102903"/>
                </a:lnTo>
                <a:lnTo>
                  <a:pt x="267095" y="131564"/>
                </a:lnTo>
                <a:lnTo>
                  <a:pt x="256345" y="175687"/>
                </a:lnTo>
                <a:lnTo>
                  <a:pt x="256361" y="187700"/>
                </a:lnTo>
              </a:path>
              <a:path w="514985" h="434975">
                <a:moveTo>
                  <a:pt x="331350" y="434647"/>
                </a:moveTo>
                <a:lnTo>
                  <a:pt x="295279" y="434964"/>
                </a:lnTo>
              </a:path>
              <a:path w="514985" h="434975">
                <a:moveTo>
                  <a:pt x="87765" y="434855"/>
                </a:moveTo>
                <a:lnTo>
                  <a:pt x="47385" y="428239"/>
                </a:lnTo>
                <a:lnTo>
                  <a:pt x="17233" y="405230"/>
                </a:lnTo>
                <a:lnTo>
                  <a:pt x="13152" y="399876"/>
                </a:lnTo>
              </a:path>
              <a:path w="514985" h="434975">
                <a:moveTo>
                  <a:pt x="343214" y="0"/>
                </a:moveTo>
                <a:lnTo>
                  <a:pt x="343232" y="48394"/>
                </a:lnTo>
              </a:path>
              <a:path w="514985" h="434975">
                <a:moveTo>
                  <a:pt x="224212" y="52763"/>
                </a:moveTo>
                <a:lnTo>
                  <a:pt x="256077" y="84751"/>
                </a:lnTo>
              </a:path>
              <a:path w="514985" h="434975">
                <a:moveTo>
                  <a:pt x="431090" y="84064"/>
                </a:moveTo>
                <a:lnTo>
                  <a:pt x="463565" y="51919"/>
                </a:lnTo>
              </a:path>
              <a:path w="514985" h="434975">
                <a:moveTo>
                  <a:pt x="301229" y="260624"/>
                </a:moveTo>
                <a:lnTo>
                  <a:pt x="287029" y="222329"/>
                </a:lnTo>
                <a:lnTo>
                  <a:pt x="283494" y="216442"/>
                </a:lnTo>
                <a:lnTo>
                  <a:pt x="259899" y="191798"/>
                </a:lnTo>
                <a:lnTo>
                  <a:pt x="254469" y="187596"/>
                </a:lnTo>
                <a:lnTo>
                  <a:pt x="248697" y="183931"/>
                </a:lnTo>
                <a:lnTo>
                  <a:pt x="242584" y="180804"/>
                </a:lnTo>
                <a:lnTo>
                  <a:pt x="236472" y="177677"/>
                </a:lnTo>
                <a:lnTo>
                  <a:pt x="230123" y="175140"/>
                </a:lnTo>
                <a:lnTo>
                  <a:pt x="223538" y="173195"/>
                </a:lnTo>
                <a:lnTo>
                  <a:pt x="216953" y="171250"/>
                </a:lnTo>
                <a:lnTo>
                  <a:pt x="210245" y="169929"/>
                </a:lnTo>
                <a:lnTo>
                  <a:pt x="203414" y="169234"/>
                </a:lnTo>
                <a:lnTo>
                  <a:pt x="196584" y="168538"/>
                </a:lnTo>
                <a:lnTo>
                  <a:pt x="156098" y="174499"/>
                </a:lnTo>
                <a:lnTo>
                  <a:pt x="143540" y="179946"/>
                </a:lnTo>
                <a:lnTo>
                  <a:pt x="137374" y="182966"/>
                </a:lnTo>
                <a:lnTo>
                  <a:pt x="131540" y="186531"/>
                </a:lnTo>
                <a:lnTo>
                  <a:pt x="126038" y="190638"/>
                </a:lnTo>
                <a:lnTo>
                  <a:pt x="120536" y="194746"/>
                </a:lnTo>
                <a:lnTo>
                  <a:pt x="115460" y="199326"/>
                </a:lnTo>
                <a:lnTo>
                  <a:pt x="110811" y="204379"/>
                </a:lnTo>
                <a:lnTo>
                  <a:pt x="106162" y="209432"/>
                </a:lnTo>
                <a:lnTo>
                  <a:pt x="86682" y="245419"/>
                </a:lnTo>
                <a:lnTo>
                  <a:pt x="83521" y="258738"/>
                </a:lnTo>
                <a:lnTo>
                  <a:pt x="82246" y="265484"/>
                </a:lnTo>
                <a:lnTo>
                  <a:pt x="81605" y="272291"/>
                </a:lnTo>
                <a:lnTo>
                  <a:pt x="81598" y="279157"/>
                </a:lnTo>
              </a:path>
              <a:path w="514985" h="434975">
                <a:moveTo>
                  <a:pt x="295279" y="434964"/>
                </a:moveTo>
                <a:lnTo>
                  <a:pt x="87765" y="434855"/>
                </a:lnTo>
              </a:path>
              <a:path w="514985" h="434975">
                <a:moveTo>
                  <a:pt x="468803" y="171697"/>
                </a:moveTo>
                <a:lnTo>
                  <a:pt x="514589" y="172140"/>
                </a:lnTo>
              </a:path>
              <a:path w="514985" h="434975">
                <a:moveTo>
                  <a:pt x="429649" y="257287"/>
                </a:moveTo>
                <a:lnTo>
                  <a:pt x="462488" y="290416"/>
                </a:lnTo>
              </a:path>
              <a:path w="514985" h="434975">
                <a:moveTo>
                  <a:pt x="13636" y="399547"/>
                </a:moveTo>
                <a:lnTo>
                  <a:pt x="313" y="359284"/>
                </a:lnTo>
                <a:lnTo>
                  <a:pt x="0" y="352086"/>
                </a:lnTo>
                <a:lnTo>
                  <a:pt x="10091" y="318016"/>
                </a:lnTo>
                <a:lnTo>
                  <a:pt x="13600" y="311723"/>
                </a:lnTo>
                <a:lnTo>
                  <a:pt x="46353" y="284495"/>
                </a:lnTo>
                <a:lnTo>
                  <a:pt x="60011" y="280234"/>
                </a:lnTo>
                <a:lnTo>
                  <a:pt x="67020" y="278566"/>
                </a:lnTo>
                <a:lnTo>
                  <a:pt x="74124" y="277884"/>
                </a:lnTo>
                <a:lnTo>
                  <a:pt x="81322" y="278189"/>
                </a:lnTo>
              </a:path>
            </a:pathLst>
          </a:custGeom>
          <a:ln w="22757">
            <a:solidFill>
              <a:srgbClr val="325E7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534105" y="2266956"/>
            <a:ext cx="4260297" cy="1154489"/>
          </a:xfrm>
          <a:prstGeom prst="rect">
            <a:avLst/>
          </a:prstGeom>
        </p:spPr>
        <p:txBody>
          <a:bodyPr vert="horz" wrap="square" lIns="0" tIns="17062" rIns="0" bIns="0" rtlCol="0">
            <a:spAutoFit/>
          </a:bodyPr>
          <a:lstStyle/>
          <a:p>
            <a:pPr marL="12638">
              <a:spcBef>
                <a:spcPts val="135"/>
              </a:spcBef>
            </a:pPr>
            <a:r>
              <a:rPr sz="1642" spc="130" dirty="0">
                <a:solidFill>
                  <a:srgbClr val="2A404F"/>
                </a:solidFill>
                <a:latin typeface="Microsoft Sans Serif"/>
                <a:cs typeface="Microsoft Sans Serif"/>
              </a:rPr>
              <a:t>Weather</a:t>
            </a:r>
            <a:r>
              <a:rPr sz="1642" spc="15" dirty="0">
                <a:solidFill>
                  <a:srgbClr val="2A404F"/>
                </a:solidFill>
                <a:latin typeface="Microsoft Sans Serif"/>
                <a:cs typeface="Microsoft Sans Serif"/>
              </a:rPr>
              <a:t> </a:t>
            </a:r>
            <a:r>
              <a:rPr sz="1642" spc="95" dirty="0">
                <a:solidFill>
                  <a:srgbClr val="2A404F"/>
                </a:solidFill>
                <a:latin typeface="Microsoft Sans Serif"/>
                <a:cs typeface="Microsoft Sans Serif"/>
              </a:rPr>
              <a:t>Sensitivity</a:t>
            </a:r>
            <a:endParaRPr sz="1642">
              <a:latin typeface="Microsoft Sans Serif"/>
              <a:cs typeface="Microsoft Sans Serif"/>
            </a:endParaRPr>
          </a:p>
          <a:p>
            <a:pPr marL="12638" marR="5055">
              <a:lnSpc>
                <a:spcPct val="131900"/>
              </a:lnSpc>
              <a:spcBef>
                <a:spcPts val="502"/>
              </a:spcBef>
            </a:pPr>
            <a:r>
              <a:rPr sz="1343" spc="-35" dirty="0">
                <a:solidFill>
                  <a:srgbClr val="2A404F"/>
                </a:solidFill>
                <a:latin typeface="Tahoma"/>
                <a:cs typeface="Tahoma"/>
              </a:rPr>
              <a:t>Clear</a:t>
            </a:r>
            <a:r>
              <a:rPr sz="1343" spc="-12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43" spc="-30" dirty="0">
                <a:solidFill>
                  <a:srgbClr val="2A404F"/>
                </a:solidFill>
                <a:latin typeface="Tahoma"/>
                <a:cs typeface="Tahoma"/>
              </a:rPr>
              <a:t>skies</a:t>
            </a:r>
            <a:r>
              <a:rPr sz="1343" spc="-114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43" spc="-25" dirty="0">
                <a:solidFill>
                  <a:srgbClr val="2A404F"/>
                </a:solidFill>
                <a:latin typeface="Tahoma"/>
                <a:cs typeface="Tahoma"/>
              </a:rPr>
              <a:t>and</a:t>
            </a:r>
            <a:r>
              <a:rPr sz="1343" spc="-114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43" spc="-40" dirty="0">
                <a:solidFill>
                  <a:srgbClr val="2A404F"/>
                </a:solidFill>
                <a:latin typeface="Tahoma"/>
                <a:cs typeface="Tahoma"/>
              </a:rPr>
              <a:t>temperatures</a:t>
            </a:r>
            <a:r>
              <a:rPr sz="1343" spc="-114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43" spc="-40" dirty="0">
                <a:solidFill>
                  <a:srgbClr val="2A404F"/>
                </a:solidFill>
                <a:latin typeface="Tahoma"/>
                <a:cs typeface="Tahoma"/>
              </a:rPr>
              <a:t>above</a:t>
            </a:r>
            <a:r>
              <a:rPr sz="1343" spc="-114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43" spc="-105" dirty="0">
                <a:solidFill>
                  <a:srgbClr val="2A404F"/>
                </a:solidFill>
                <a:latin typeface="Tahoma"/>
                <a:cs typeface="Tahoma"/>
              </a:rPr>
              <a:t>10°C</a:t>
            </a:r>
            <a:r>
              <a:rPr sz="1343" spc="-114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43" spc="-25" dirty="0">
                <a:solidFill>
                  <a:srgbClr val="2A404F"/>
                </a:solidFill>
                <a:latin typeface="Tahoma"/>
                <a:cs typeface="Tahoma"/>
              </a:rPr>
              <a:t>boost</a:t>
            </a:r>
            <a:r>
              <a:rPr sz="1343" spc="-114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43" spc="-10" dirty="0">
                <a:solidFill>
                  <a:srgbClr val="2A404F"/>
                </a:solidFill>
                <a:latin typeface="Tahoma"/>
                <a:cs typeface="Tahoma"/>
              </a:rPr>
              <a:t>ridership </a:t>
            </a:r>
            <a:r>
              <a:rPr sz="1343" spc="-30" dirty="0">
                <a:solidFill>
                  <a:srgbClr val="2A404F"/>
                </a:solidFill>
                <a:latin typeface="Tahoma"/>
                <a:cs typeface="Tahoma"/>
              </a:rPr>
              <a:t>significantly.</a:t>
            </a:r>
            <a:r>
              <a:rPr sz="1343" spc="-114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43" spc="-60" dirty="0">
                <a:solidFill>
                  <a:srgbClr val="2A404F"/>
                </a:solidFill>
                <a:latin typeface="Tahoma"/>
                <a:cs typeface="Tahoma"/>
              </a:rPr>
              <a:t>Weather</a:t>
            </a:r>
            <a:r>
              <a:rPr sz="1343" spc="-11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43" spc="-10" dirty="0">
                <a:solidFill>
                  <a:srgbClr val="2A404F"/>
                </a:solidFill>
                <a:latin typeface="Tahoma"/>
                <a:cs typeface="Tahoma"/>
              </a:rPr>
              <a:t>conditions</a:t>
            </a:r>
            <a:r>
              <a:rPr sz="1343" spc="-11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43" spc="-40" dirty="0">
                <a:solidFill>
                  <a:srgbClr val="2A404F"/>
                </a:solidFill>
                <a:latin typeface="Tahoma"/>
                <a:cs typeface="Tahoma"/>
              </a:rPr>
              <a:t>are</a:t>
            </a:r>
            <a:r>
              <a:rPr sz="1343" spc="-114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43" spc="-30" dirty="0">
                <a:solidFill>
                  <a:srgbClr val="2A404F"/>
                </a:solidFill>
                <a:latin typeface="Tahoma"/>
                <a:cs typeface="Tahoma"/>
              </a:rPr>
              <a:t>the</a:t>
            </a:r>
            <a:r>
              <a:rPr sz="1343" spc="-11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43" spc="-45" dirty="0">
                <a:solidFill>
                  <a:srgbClr val="2A404F"/>
                </a:solidFill>
                <a:latin typeface="Tahoma"/>
                <a:cs typeface="Tahoma"/>
              </a:rPr>
              <a:t>strongest</a:t>
            </a:r>
            <a:r>
              <a:rPr sz="1343" spc="-11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43" spc="-10" dirty="0">
                <a:solidFill>
                  <a:srgbClr val="2A404F"/>
                </a:solidFill>
                <a:latin typeface="Tahoma"/>
                <a:cs typeface="Tahoma"/>
              </a:rPr>
              <a:t>predictor </a:t>
            </a:r>
            <a:r>
              <a:rPr sz="1343" spc="-30" dirty="0">
                <a:solidFill>
                  <a:srgbClr val="2A404F"/>
                </a:solidFill>
                <a:latin typeface="Tahoma"/>
                <a:cs typeface="Tahoma"/>
              </a:rPr>
              <a:t>of</a:t>
            </a:r>
            <a:r>
              <a:rPr sz="1343" spc="-12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43" spc="-30" dirty="0">
                <a:solidFill>
                  <a:srgbClr val="2A404F"/>
                </a:solidFill>
                <a:latin typeface="Tahoma"/>
                <a:cs typeface="Tahoma"/>
              </a:rPr>
              <a:t>casual</a:t>
            </a:r>
            <a:r>
              <a:rPr sz="1343" spc="-12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43" spc="-40" dirty="0">
                <a:solidFill>
                  <a:srgbClr val="2A404F"/>
                </a:solidFill>
                <a:latin typeface="Tahoma"/>
                <a:cs typeface="Tahoma"/>
              </a:rPr>
              <a:t>user</a:t>
            </a:r>
            <a:r>
              <a:rPr sz="1343" spc="-12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43" spc="-10" dirty="0">
                <a:solidFill>
                  <a:srgbClr val="2A404F"/>
                </a:solidFill>
                <a:latin typeface="Tahoma"/>
                <a:cs typeface="Tahoma"/>
              </a:rPr>
              <a:t>demand.</a:t>
            </a:r>
            <a:endParaRPr sz="1343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41022" y="3810394"/>
            <a:ext cx="480247" cy="511843"/>
          </a:xfrm>
          <a:custGeom>
            <a:avLst/>
            <a:gdLst/>
            <a:ahLst/>
            <a:cxnLst/>
            <a:rect l="l" t="t" r="r" b="b"/>
            <a:pathLst>
              <a:path w="482600" h="514350">
                <a:moveTo>
                  <a:pt x="393761" y="67912"/>
                </a:moveTo>
                <a:lnTo>
                  <a:pt x="408553" y="67467"/>
                </a:lnTo>
                <a:lnTo>
                  <a:pt x="424251" y="67406"/>
                </a:lnTo>
                <a:lnTo>
                  <a:pt x="437882" y="67680"/>
                </a:lnTo>
                <a:lnTo>
                  <a:pt x="475351" y="87874"/>
                </a:lnTo>
                <a:lnTo>
                  <a:pt x="481910" y="107258"/>
                </a:lnTo>
                <a:lnTo>
                  <a:pt x="482175" y="125212"/>
                </a:lnTo>
              </a:path>
              <a:path w="482600" h="514350">
                <a:moveTo>
                  <a:pt x="87880" y="74042"/>
                </a:moveTo>
                <a:lnTo>
                  <a:pt x="94080" y="114121"/>
                </a:lnTo>
                <a:lnTo>
                  <a:pt x="118077" y="126570"/>
                </a:lnTo>
                <a:lnTo>
                  <a:pt x="125815" y="125894"/>
                </a:lnTo>
                <a:lnTo>
                  <a:pt x="150550" y="99969"/>
                </a:lnTo>
                <a:lnTo>
                  <a:pt x="151077" y="91857"/>
                </a:lnTo>
              </a:path>
              <a:path w="482600" h="514350">
                <a:moveTo>
                  <a:pt x="330236" y="74250"/>
                </a:moveTo>
                <a:lnTo>
                  <a:pt x="336136" y="113069"/>
                </a:lnTo>
                <a:lnTo>
                  <a:pt x="360542" y="126547"/>
                </a:lnTo>
                <a:lnTo>
                  <a:pt x="367437" y="125849"/>
                </a:lnTo>
                <a:lnTo>
                  <a:pt x="393314" y="93951"/>
                </a:lnTo>
                <a:lnTo>
                  <a:pt x="393448" y="73057"/>
                </a:lnTo>
                <a:lnTo>
                  <a:pt x="393215" y="51930"/>
                </a:lnTo>
                <a:lnTo>
                  <a:pt x="385432" y="11574"/>
                </a:lnTo>
                <a:lnTo>
                  <a:pt x="361440" y="0"/>
                </a:lnTo>
                <a:lnTo>
                  <a:pt x="356934" y="413"/>
                </a:lnTo>
                <a:lnTo>
                  <a:pt x="330549" y="30947"/>
                </a:lnTo>
                <a:lnTo>
                  <a:pt x="330245" y="48249"/>
                </a:lnTo>
                <a:lnTo>
                  <a:pt x="329953" y="60173"/>
                </a:lnTo>
                <a:lnTo>
                  <a:pt x="329881" y="68310"/>
                </a:lnTo>
                <a:lnTo>
                  <a:pt x="330236" y="74250"/>
                </a:lnTo>
              </a:path>
              <a:path w="482600" h="514350">
                <a:moveTo>
                  <a:pt x="371298" y="441089"/>
                </a:moveTo>
                <a:lnTo>
                  <a:pt x="364581" y="441477"/>
                </a:lnTo>
                <a:lnTo>
                  <a:pt x="352133" y="441756"/>
                </a:lnTo>
                <a:lnTo>
                  <a:pt x="333954" y="441924"/>
                </a:lnTo>
                <a:lnTo>
                  <a:pt x="310044" y="441982"/>
                </a:lnTo>
              </a:path>
              <a:path w="482600" h="514350">
                <a:moveTo>
                  <a:pt x="116566" y="441950"/>
                </a:moveTo>
                <a:lnTo>
                  <a:pt x="91010" y="416190"/>
                </a:lnTo>
                <a:lnTo>
                  <a:pt x="90936" y="413211"/>
                </a:lnTo>
              </a:path>
              <a:path w="482600" h="514350">
                <a:moveTo>
                  <a:pt x="482130" y="466323"/>
                </a:moveTo>
                <a:lnTo>
                  <a:pt x="468193" y="501906"/>
                </a:lnTo>
                <a:lnTo>
                  <a:pt x="436993" y="514281"/>
                </a:lnTo>
                <a:lnTo>
                  <a:pt x="419040" y="514347"/>
                </a:lnTo>
              </a:path>
              <a:path w="482600" h="514350">
                <a:moveTo>
                  <a:pt x="49944" y="514281"/>
                </a:moveTo>
                <a:lnTo>
                  <a:pt x="13720" y="501745"/>
                </a:lnTo>
                <a:lnTo>
                  <a:pt x="109" y="461126"/>
                </a:lnTo>
                <a:lnTo>
                  <a:pt x="3" y="453166"/>
                </a:lnTo>
              </a:path>
              <a:path w="482600" h="514350">
                <a:moveTo>
                  <a:pt x="0" y="114298"/>
                </a:moveTo>
                <a:lnTo>
                  <a:pt x="18511" y="75817"/>
                </a:lnTo>
                <a:lnTo>
                  <a:pt x="49502" y="67072"/>
                </a:lnTo>
                <a:lnTo>
                  <a:pt x="87851" y="67025"/>
                </a:lnTo>
              </a:path>
              <a:path w="482600" h="514350">
                <a:moveTo>
                  <a:pt x="150917" y="32478"/>
                </a:moveTo>
                <a:lnTo>
                  <a:pt x="125471" y="939"/>
                </a:lnTo>
                <a:lnTo>
                  <a:pt x="117598" y="440"/>
                </a:lnTo>
                <a:lnTo>
                  <a:pt x="110492" y="1795"/>
                </a:lnTo>
                <a:lnTo>
                  <a:pt x="88506" y="33096"/>
                </a:lnTo>
                <a:lnTo>
                  <a:pt x="88001" y="57126"/>
                </a:lnTo>
                <a:lnTo>
                  <a:pt x="87880" y="74042"/>
                </a:lnTo>
              </a:path>
              <a:path w="482600" h="514350">
                <a:moveTo>
                  <a:pt x="391144" y="415533"/>
                </a:moveTo>
                <a:lnTo>
                  <a:pt x="380897" y="436095"/>
                </a:lnTo>
                <a:lnTo>
                  <a:pt x="373637" y="440597"/>
                </a:lnTo>
              </a:path>
              <a:path w="482600" h="514350">
                <a:moveTo>
                  <a:pt x="329385" y="67089"/>
                </a:moveTo>
                <a:lnTo>
                  <a:pt x="151058" y="67035"/>
                </a:lnTo>
              </a:path>
              <a:path w="482600" h="514350">
                <a:moveTo>
                  <a:pt x="371298" y="441089"/>
                </a:moveTo>
                <a:lnTo>
                  <a:pt x="373637" y="440597"/>
                </a:lnTo>
              </a:path>
              <a:path w="482600" h="514350">
                <a:moveTo>
                  <a:pt x="482175" y="125212"/>
                </a:moveTo>
                <a:lnTo>
                  <a:pt x="482130" y="466323"/>
                </a:lnTo>
              </a:path>
              <a:path w="482600" h="514350">
                <a:moveTo>
                  <a:pt x="419040" y="514347"/>
                </a:moveTo>
                <a:lnTo>
                  <a:pt x="49944" y="514281"/>
                </a:lnTo>
              </a:path>
              <a:path w="482600" h="514350">
                <a:moveTo>
                  <a:pt x="3" y="453166"/>
                </a:moveTo>
                <a:lnTo>
                  <a:pt x="0" y="114298"/>
                </a:lnTo>
              </a:path>
              <a:path w="482600" h="514350">
                <a:moveTo>
                  <a:pt x="310044" y="441982"/>
                </a:moveTo>
                <a:lnTo>
                  <a:pt x="116566" y="441950"/>
                </a:lnTo>
              </a:path>
              <a:path w="482600" h="514350">
                <a:moveTo>
                  <a:pt x="151077" y="91857"/>
                </a:moveTo>
                <a:lnTo>
                  <a:pt x="150917" y="32478"/>
                </a:lnTo>
              </a:path>
              <a:path w="482600" h="514350">
                <a:moveTo>
                  <a:pt x="90936" y="413211"/>
                </a:moveTo>
                <a:lnTo>
                  <a:pt x="90911" y="230246"/>
                </a:lnTo>
              </a:path>
              <a:path w="482600" h="514350">
                <a:moveTo>
                  <a:pt x="91113" y="230221"/>
                </a:moveTo>
                <a:lnTo>
                  <a:pt x="90842" y="228106"/>
                </a:lnTo>
                <a:lnTo>
                  <a:pt x="90819" y="225989"/>
                </a:lnTo>
                <a:lnTo>
                  <a:pt x="91044" y="223869"/>
                </a:lnTo>
                <a:lnTo>
                  <a:pt x="91270" y="221749"/>
                </a:lnTo>
                <a:lnTo>
                  <a:pt x="91737" y="219684"/>
                </a:lnTo>
                <a:lnTo>
                  <a:pt x="92447" y="217674"/>
                </a:lnTo>
                <a:lnTo>
                  <a:pt x="93157" y="215664"/>
                </a:lnTo>
                <a:lnTo>
                  <a:pt x="94090" y="213763"/>
                </a:lnTo>
                <a:lnTo>
                  <a:pt x="95246" y="211972"/>
                </a:lnTo>
                <a:lnTo>
                  <a:pt x="96402" y="210181"/>
                </a:lnTo>
                <a:lnTo>
                  <a:pt x="97749" y="208548"/>
                </a:lnTo>
                <a:lnTo>
                  <a:pt x="99288" y="207073"/>
                </a:lnTo>
                <a:lnTo>
                  <a:pt x="100827" y="205598"/>
                </a:lnTo>
                <a:lnTo>
                  <a:pt x="110170" y="200688"/>
                </a:lnTo>
                <a:lnTo>
                  <a:pt x="112208" y="200064"/>
                </a:lnTo>
                <a:lnTo>
                  <a:pt x="114292" y="199685"/>
                </a:lnTo>
                <a:lnTo>
                  <a:pt x="116419" y="199550"/>
                </a:lnTo>
                <a:lnTo>
                  <a:pt x="118547" y="199414"/>
                </a:lnTo>
                <a:lnTo>
                  <a:pt x="120661" y="199527"/>
                </a:lnTo>
                <a:lnTo>
                  <a:pt x="122762" y="199888"/>
                </a:lnTo>
              </a:path>
              <a:path w="482600" h="514350">
                <a:moveTo>
                  <a:pt x="122812" y="199599"/>
                </a:moveTo>
                <a:lnTo>
                  <a:pt x="360692" y="199624"/>
                </a:lnTo>
              </a:path>
              <a:path w="482600" h="514350">
                <a:moveTo>
                  <a:pt x="360700" y="199715"/>
                </a:moveTo>
                <a:lnTo>
                  <a:pt x="362994" y="199493"/>
                </a:lnTo>
                <a:lnTo>
                  <a:pt x="365280" y="199552"/>
                </a:lnTo>
                <a:lnTo>
                  <a:pt x="367559" y="199890"/>
                </a:lnTo>
                <a:lnTo>
                  <a:pt x="380146" y="205091"/>
                </a:lnTo>
                <a:lnTo>
                  <a:pt x="382000" y="206458"/>
                </a:lnTo>
                <a:lnTo>
                  <a:pt x="383661" y="208030"/>
                </a:lnTo>
                <a:lnTo>
                  <a:pt x="385129" y="209806"/>
                </a:lnTo>
                <a:lnTo>
                  <a:pt x="386597" y="211582"/>
                </a:lnTo>
                <a:lnTo>
                  <a:pt x="387829" y="213509"/>
                </a:lnTo>
                <a:lnTo>
                  <a:pt x="388824" y="215586"/>
                </a:lnTo>
                <a:lnTo>
                  <a:pt x="389820" y="217664"/>
                </a:lnTo>
                <a:lnTo>
                  <a:pt x="390549" y="219831"/>
                </a:lnTo>
                <a:lnTo>
                  <a:pt x="391014" y="222088"/>
                </a:lnTo>
                <a:lnTo>
                  <a:pt x="391477" y="224345"/>
                </a:lnTo>
                <a:lnTo>
                  <a:pt x="391662" y="226624"/>
                </a:lnTo>
                <a:lnTo>
                  <a:pt x="391566" y="228926"/>
                </a:lnTo>
                <a:lnTo>
                  <a:pt x="391471" y="231228"/>
                </a:lnTo>
                <a:lnTo>
                  <a:pt x="391099" y="233484"/>
                </a:lnTo>
                <a:lnTo>
                  <a:pt x="390450" y="235695"/>
                </a:lnTo>
              </a:path>
              <a:path w="482600" h="514350">
                <a:moveTo>
                  <a:pt x="391226" y="235923"/>
                </a:moveTo>
                <a:lnTo>
                  <a:pt x="391144" y="415533"/>
                </a:lnTo>
              </a:path>
            </a:pathLst>
          </a:custGeom>
          <a:ln w="22781">
            <a:solidFill>
              <a:srgbClr val="325E7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337485" y="3935182"/>
            <a:ext cx="4228702" cy="1163967"/>
          </a:xfrm>
          <a:prstGeom prst="rect">
            <a:avLst/>
          </a:prstGeom>
        </p:spPr>
        <p:txBody>
          <a:bodyPr vert="horz" wrap="square" lIns="0" tIns="17062" rIns="0" bIns="0" rtlCol="0">
            <a:spAutoFit/>
          </a:bodyPr>
          <a:lstStyle/>
          <a:p>
            <a:pPr marL="12638" algn="just">
              <a:spcBef>
                <a:spcPts val="135"/>
              </a:spcBef>
            </a:pPr>
            <a:r>
              <a:rPr sz="1642" spc="120" dirty="0">
                <a:solidFill>
                  <a:srgbClr val="2A404F"/>
                </a:solidFill>
                <a:latin typeface="Microsoft Sans Serif"/>
                <a:cs typeface="Microsoft Sans Serif"/>
              </a:rPr>
              <a:t>Weekend</a:t>
            </a:r>
            <a:r>
              <a:rPr sz="1642" spc="35" dirty="0">
                <a:solidFill>
                  <a:srgbClr val="2A404F"/>
                </a:solidFill>
                <a:latin typeface="Microsoft Sans Serif"/>
                <a:cs typeface="Microsoft Sans Serif"/>
              </a:rPr>
              <a:t> </a:t>
            </a:r>
            <a:r>
              <a:rPr sz="1642" spc="50" dirty="0">
                <a:solidFill>
                  <a:srgbClr val="2A404F"/>
                </a:solidFill>
                <a:latin typeface="Microsoft Sans Serif"/>
                <a:cs typeface="Microsoft Sans Serif"/>
              </a:rPr>
              <a:t>Profile</a:t>
            </a:r>
            <a:endParaRPr sz="1642">
              <a:latin typeface="Microsoft Sans Serif"/>
              <a:cs typeface="Microsoft Sans Serif"/>
            </a:endParaRPr>
          </a:p>
          <a:p>
            <a:pPr marL="12638" marR="5055" algn="just">
              <a:lnSpc>
                <a:spcPct val="134300"/>
              </a:lnSpc>
              <a:spcBef>
                <a:spcPts val="462"/>
              </a:spcBef>
            </a:pPr>
            <a:r>
              <a:rPr sz="1343" spc="-25" dirty="0">
                <a:solidFill>
                  <a:srgbClr val="2A404F"/>
                </a:solidFill>
                <a:latin typeface="Tahoma"/>
                <a:cs typeface="Tahoma"/>
              </a:rPr>
              <a:t>Casual</a:t>
            </a:r>
            <a:r>
              <a:rPr sz="1343" spc="-154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43" spc="-35" dirty="0">
                <a:solidFill>
                  <a:srgbClr val="2A404F"/>
                </a:solidFill>
                <a:latin typeface="Tahoma"/>
                <a:cs typeface="Tahoma"/>
              </a:rPr>
              <a:t>users</a:t>
            </a:r>
            <a:r>
              <a:rPr sz="1343" spc="-154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43" spc="-20" dirty="0">
                <a:solidFill>
                  <a:srgbClr val="2A404F"/>
                </a:solidFill>
                <a:latin typeface="Tahoma"/>
                <a:cs typeface="Tahoma"/>
              </a:rPr>
              <a:t>dominate</a:t>
            </a:r>
            <a:r>
              <a:rPr sz="1343" spc="-154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43" spc="-35" dirty="0">
                <a:solidFill>
                  <a:srgbClr val="2A404F"/>
                </a:solidFill>
                <a:latin typeface="Tahoma"/>
                <a:cs typeface="Tahoma"/>
              </a:rPr>
              <a:t>weekends</a:t>
            </a:r>
            <a:r>
              <a:rPr sz="1343" spc="-154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43" spc="-10" dirty="0">
                <a:solidFill>
                  <a:srgbClr val="2A404F"/>
                </a:solidFill>
                <a:latin typeface="Tahoma"/>
                <a:cs typeface="Tahoma"/>
              </a:rPr>
              <a:t>with</a:t>
            </a:r>
            <a:r>
              <a:rPr sz="1343" spc="-154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43" spc="-30" dirty="0">
                <a:solidFill>
                  <a:srgbClr val="2A404F"/>
                </a:solidFill>
                <a:latin typeface="Tahoma"/>
                <a:cs typeface="Tahoma"/>
              </a:rPr>
              <a:t>peak</a:t>
            </a:r>
            <a:r>
              <a:rPr sz="1343" spc="-154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43" spc="-15" dirty="0">
                <a:solidFill>
                  <a:srgbClr val="2A404F"/>
                </a:solidFill>
                <a:latin typeface="Tahoma"/>
                <a:cs typeface="Tahoma"/>
              </a:rPr>
              <a:t>activity</a:t>
            </a:r>
            <a:r>
              <a:rPr sz="1343" spc="-154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43" spc="-25" dirty="0">
                <a:solidFill>
                  <a:srgbClr val="2A404F"/>
                </a:solidFill>
                <a:latin typeface="Tahoma"/>
                <a:cs typeface="Tahoma"/>
              </a:rPr>
              <a:t>shifted</a:t>
            </a:r>
            <a:r>
              <a:rPr sz="1343" spc="-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43" spc="-15" dirty="0">
                <a:solidFill>
                  <a:srgbClr val="2A404F"/>
                </a:solidFill>
                <a:latin typeface="Tahoma"/>
                <a:cs typeface="Tahoma"/>
              </a:rPr>
              <a:t>to</a:t>
            </a:r>
            <a:r>
              <a:rPr sz="1343" spc="-154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43" spc="-20" dirty="0">
                <a:solidFill>
                  <a:srgbClr val="2A404F"/>
                </a:solidFill>
                <a:latin typeface="Tahoma"/>
                <a:cs typeface="Tahoma"/>
              </a:rPr>
              <a:t>mid-</a:t>
            </a:r>
            <a:r>
              <a:rPr sz="1343" spc="-35" dirty="0">
                <a:solidFill>
                  <a:srgbClr val="2A404F"/>
                </a:solidFill>
                <a:latin typeface="Tahoma"/>
                <a:cs typeface="Tahoma"/>
              </a:rPr>
              <a:t>day</a:t>
            </a:r>
            <a:r>
              <a:rPr sz="1343" spc="-154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43" spc="-90" dirty="0">
                <a:solidFill>
                  <a:srgbClr val="2A404F"/>
                </a:solidFill>
                <a:latin typeface="Tahoma"/>
                <a:cs typeface="Tahoma"/>
              </a:rPr>
              <a:t>(12:00-</a:t>
            </a:r>
            <a:r>
              <a:rPr sz="1343" spc="-95" dirty="0">
                <a:solidFill>
                  <a:srgbClr val="2A404F"/>
                </a:solidFill>
                <a:latin typeface="Tahoma"/>
                <a:cs typeface="Tahoma"/>
              </a:rPr>
              <a:t>4:00</a:t>
            </a:r>
            <a:r>
              <a:rPr sz="1343" spc="-154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43" spc="-65" dirty="0">
                <a:solidFill>
                  <a:srgbClr val="2A404F"/>
                </a:solidFill>
                <a:latin typeface="Tahoma"/>
                <a:cs typeface="Tahoma"/>
              </a:rPr>
              <a:t>PM),</a:t>
            </a:r>
            <a:r>
              <a:rPr sz="1343" spc="-154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43" spc="-30" dirty="0">
                <a:solidFill>
                  <a:srgbClr val="2A404F"/>
                </a:solidFill>
                <a:latin typeface="Tahoma"/>
                <a:cs typeface="Tahoma"/>
              </a:rPr>
              <a:t>creating</a:t>
            </a:r>
            <a:r>
              <a:rPr sz="1343" spc="-154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43" spc="-40" dirty="0">
                <a:solidFill>
                  <a:srgbClr val="2A404F"/>
                </a:solidFill>
                <a:latin typeface="Tahoma"/>
                <a:cs typeface="Tahoma"/>
              </a:rPr>
              <a:t>a</a:t>
            </a:r>
            <a:r>
              <a:rPr sz="1343" spc="-154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43" spc="-10" dirty="0">
                <a:solidFill>
                  <a:srgbClr val="2A404F"/>
                </a:solidFill>
                <a:latin typeface="Tahoma"/>
                <a:cs typeface="Tahoma"/>
              </a:rPr>
              <a:t>distinct</a:t>
            </a:r>
            <a:r>
              <a:rPr sz="1343" spc="-154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43" spc="-25" dirty="0">
                <a:solidFill>
                  <a:srgbClr val="2A404F"/>
                </a:solidFill>
                <a:latin typeface="Tahoma"/>
                <a:cs typeface="Tahoma"/>
              </a:rPr>
              <a:t>leisure</a:t>
            </a:r>
            <a:r>
              <a:rPr sz="1343" spc="-154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43" spc="-50" dirty="0">
                <a:solidFill>
                  <a:srgbClr val="2A404F"/>
                </a:solidFill>
                <a:latin typeface="Tahoma"/>
                <a:cs typeface="Tahoma"/>
              </a:rPr>
              <a:t>usage</a:t>
            </a:r>
            <a:r>
              <a:rPr sz="1343" spc="-3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43" spc="-40" dirty="0">
                <a:solidFill>
                  <a:srgbClr val="2A404F"/>
                </a:solidFill>
                <a:latin typeface="Tahoma"/>
                <a:cs typeface="Tahoma"/>
              </a:rPr>
              <a:t>pattern.</a:t>
            </a:r>
            <a:endParaRPr sz="1343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807712" y="3829528"/>
            <a:ext cx="535223" cy="473928"/>
            <a:chOff x="5808166" y="3848291"/>
            <a:chExt cx="537845" cy="476250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96158" y="3848291"/>
              <a:ext cx="134980" cy="128147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819561" y="3884474"/>
              <a:ext cx="514984" cy="428625"/>
            </a:xfrm>
            <a:custGeom>
              <a:avLst/>
              <a:gdLst/>
              <a:ahLst/>
              <a:cxnLst/>
              <a:rect l="l" t="t" r="r" b="b"/>
              <a:pathLst>
                <a:path w="514985" h="428625">
                  <a:moveTo>
                    <a:pt x="400181" y="80569"/>
                  </a:moveTo>
                  <a:lnTo>
                    <a:pt x="411527" y="118908"/>
                  </a:lnTo>
                  <a:lnTo>
                    <a:pt x="420997" y="160623"/>
                  </a:lnTo>
                  <a:lnTo>
                    <a:pt x="426893" y="199021"/>
                  </a:lnTo>
                  <a:lnTo>
                    <a:pt x="430162" y="242595"/>
                  </a:lnTo>
                  <a:lnTo>
                    <a:pt x="430973" y="275046"/>
                  </a:lnTo>
                  <a:lnTo>
                    <a:pt x="430907" y="292215"/>
                  </a:lnTo>
                  <a:lnTo>
                    <a:pt x="429385" y="338046"/>
                  </a:lnTo>
                  <a:lnTo>
                    <a:pt x="426901" y="367679"/>
                  </a:lnTo>
                  <a:lnTo>
                    <a:pt x="425204" y="385614"/>
                  </a:lnTo>
                </a:path>
                <a:path w="514985" h="428625">
                  <a:moveTo>
                    <a:pt x="398626" y="75915"/>
                  </a:moveTo>
                  <a:lnTo>
                    <a:pt x="423605" y="42168"/>
                  </a:lnTo>
                  <a:lnTo>
                    <a:pt x="464360" y="22172"/>
                  </a:lnTo>
                  <a:lnTo>
                    <a:pt x="472066" y="21735"/>
                  </a:lnTo>
                  <a:lnTo>
                    <a:pt x="478592" y="22121"/>
                  </a:lnTo>
                  <a:lnTo>
                    <a:pt x="509606" y="29901"/>
                  </a:lnTo>
                  <a:lnTo>
                    <a:pt x="514554" y="32301"/>
                  </a:lnTo>
                </a:path>
                <a:path w="514985" h="428625">
                  <a:moveTo>
                    <a:pt x="340673" y="343024"/>
                  </a:moveTo>
                  <a:lnTo>
                    <a:pt x="303720" y="330566"/>
                  </a:lnTo>
                  <a:lnTo>
                    <a:pt x="280340" y="330676"/>
                  </a:lnTo>
                </a:path>
                <a:path w="514985" h="428625">
                  <a:moveTo>
                    <a:pt x="314154" y="154652"/>
                  </a:moveTo>
                  <a:lnTo>
                    <a:pt x="313715" y="151847"/>
                  </a:lnTo>
                  <a:lnTo>
                    <a:pt x="313456" y="149026"/>
                  </a:lnTo>
                  <a:lnTo>
                    <a:pt x="313376" y="146188"/>
                  </a:lnTo>
                  <a:lnTo>
                    <a:pt x="313295" y="143350"/>
                  </a:lnTo>
                  <a:lnTo>
                    <a:pt x="313394" y="140518"/>
                  </a:lnTo>
                  <a:lnTo>
                    <a:pt x="313672" y="137692"/>
                  </a:lnTo>
                  <a:lnTo>
                    <a:pt x="313950" y="134867"/>
                  </a:lnTo>
                  <a:lnTo>
                    <a:pt x="314405" y="132070"/>
                  </a:lnTo>
                  <a:lnTo>
                    <a:pt x="315038" y="129302"/>
                  </a:lnTo>
                  <a:lnTo>
                    <a:pt x="315670" y="126535"/>
                  </a:lnTo>
                  <a:lnTo>
                    <a:pt x="316475" y="123818"/>
                  </a:lnTo>
                  <a:lnTo>
                    <a:pt x="317451" y="121152"/>
                  </a:lnTo>
                  <a:lnTo>
                    <a:pt x="318428" y="118486"/>
                  </a:lnTo>
                  <a:lnTo>
                    <a:pt x="319569" y="115893"/>
                  </a:lnTo>
                  <a:lnTo>
                    <a:pt x="320874" y="113371"/>
                  </a:lnTo>
                  <a:lnTo>
                    <a:pt x="322178" y="110850"/>
                  </a:lnTo>
                  <a:lnTo>
                    <a:pt x="336573" y="93448"/>
                  </a:lnTo>
                  <a:lnTo>
                    <a:pt x="338719" y="91589"/>
                  </a:lnTo>
                  <a:lnTo>
                    <a:pt x="350698" y="84048"/>
                  </a:lnTo>
                  <a:lnTo>
                    <a:pt x="353241" y="82786"/>
                  </a:lnTo>
                  <a:lnTo>
                    <a:pt x="366726" y="78483"/>
                  </a:lnTo>
                  <a:lnTo>
                    <a:pt x="369504" y="77898"/>
                  </a:lnTo>
                  <a:lnTo>
                    <a:pt x="372308" y="77490"/>
                  </a:lnTo>
                  <a:lnTo>
                    <a:pt x="375138" y="77260"/>
                  </a:lnTo>
                  <a:lnTo>
                    <a:pt x="377968" y="77029"/>
                  </a:lnTo>
                  <a:lnTo>
                    <a:pt x="380800" y="76979"/>
                  </a:lnTo>
                  <a:lnTo>
                    <a:pt x="383637" y="77107"/>
                  </a:lnTo>
                  <a:lnTo>
                    <a:pt x="386473" y="77236"/>
                  </a:lnTo>
                  <a:lnTo>
                    <a:pt x="389290" y="77543"/>
                  </a:lnTo>
                  <a:lnTo>
                    <a:pt x="392087" y="78029"/>
                  </a:lnTo>
                  <a:lnTo>
                    <a:pt x="394884" y="78514"/>
                  </a:lnTo>
                  <a:lnTo>
                    <a:pt x="397640" y="79174"/>
                  </a:lnTo>
                  <a:lnTo>
                    <a:pt x="400353" y="80008"/>
                  </a:lnTo>
                </a:path>
                <a:path w="514985" h="428625">
                  <a:moveTo>
                    <a:pt x="400655" y="81219"/>
                  </a:moveTo>
                  <a:lnTo>
                    <a:pt x="441022" y="68914"/>
                  </a:lnTo>
                  <a:lnTo>
                    <a:pt x="449477" y="69791"/>
                  </a:lnTo>
                  <a:lnTo>
                    <a:pt x="486281" y="90159"/>
                  </a:lnTo>
                  <a:lnTo>
                    <a:pt x="501502" y="120489"/>
                  </a:lnTo>
                  <a:lnTo>
                    <a:pt x="502605" y="129076"/>
                  </a:lnTo>
                </a:path>
                <a:path w="514985" h="428625">
                  <a:moveTo>
                    <a:pt x="257184" y="105447"/>
                  </a:moveTo>
                  <a:lnTo>
                    <a:pt x="255627" y="97344"/>
                  </a:lnTo>
                  <a:lnTo>
                    <a:pt x="253318" y="89461"/>
                  </a:lnTo>
                  <a:lnTo>
                    <a:pt x="250257" y="81799"/>
                  </a:lnTo>
                  <a:lnTo>
                    <a:pt x="247196" y="74136"/>
                  </a:lnTo>
                  <a:lnTo>
                    <a:pt x="223764" y="40506"/>
                  </a:lnTo>
                  <a:lnTo>
                    <a:pt x="191328" y="15448"/>
                  </a:lnTo>
                  <a:lnTo>
                    <a:pt x="183826" y="12014"/>
                  </a:lnTo>
                  <a:lnTo>
                    <a:pt x="176323" y="8579"/>
                  </a:lnTo>
                  <a:lnTo>
                    <a:pt x="136159" y="401"/>
                  </a:lnTo>
                  <a:lnTo>
                    <a:pt x="127918" y="0"/>
                  </a:lnTo>
                  <a:lnTo>
                    <a:pt x="119713" y="381"/>
                  </a:lnTo>
                  <a:lnTo>
                    <a:pt x="111544" y="1547"/>
                  </a:lnTo>
                  <a:lnTo>
                    <a:pt x="103376" y="2713"/>
                  </a:lnTo>
                  <a:lnTo>
                    <a:pt x="95391" y="4640"/>
                  </a:lnTo>
                  <a:lnTo>
                    <a:pt x="87590" y="7330"/>
                  </a:lnTo>
                  <a:lnTo>
                    <a:pt x="79790" y="10020"/>
                  </a:lnTo>
                  <a:lnTo>
                    <a:pt x="45073" y="31810"/>
                  </a:lnTo>
                  <a:lnTo>
                    <a:pt x="38831" y="37206"/>
                  </a:lnTo>
                  <a:lnTo>
                    <a:pt x="33155" y="43143"/>
                  </a:lnTo>
                  <a:lnTo>
                    <a:pt x="28046" y="49622"/>
                  </a:lnTo>
                  <a:lnTo>
                    <a:pt x="22937" y="56101"/>
                  </a:lnTo>
                  <a:lnTo>
                    <a:pt x="18487" y="63006"/>
                  </a:lnTo>
                  <a:lnTo>
                    <a:pt x="14696" y="70335"/>
                  </a:lnTo>
                  <a:lnTo>
                    <a:pt x="10905" y="77664"/>
                  </a:lnTo>
                  <a:lnTo>
                    <a:pt x="808" y="117388"/>
                  </a:lnTo>
                  <a:lnTo>
                    <a:pt x="0" y="133815"/>
                  </a:lnTo>
                  <a:lnTo>
                    <a:pt x="771" y="142030"/>
                  </a:lnTo>
                </a:path>
                <a:path w="514985" h="428625">
                  <a:moveTo>
                    <a:pt x="256682" y="105543"/>
                  </a:moveTo>
                  <a:lnTo>
                    <a:pt x="368" y="142068"/>
                  </a:lnTo>
                </a:path>
                <a:path w="514985" h="428625">
                  <a:moveTo>
                    <a:pt x="131063" y="123877"/>
                  </a:moveTo>
                  <a:lnTo>
                    <a:pt x="155125" y="301448"/>
                  </a:lnTo>
                </a:path>
                <a:path w="514985" h="428625">
                  <a:moveTo>
                    <a:pt x="412750" y="428293"/>
                  </a:moveTo>
                  <a:lnTo>
                    <a:pt x="340673" y="343024"/>
                  </a:lnTo>
                </a:path>
                <a:path w="514985" h="428625">
                  <a:moveTo>
                    <a:pt x="280340" y="330676"/>
                  </a:moveTo>
                  <a:lnTo>
                    <a:pt x="142682" y="330919"/>
                  </a:lnTo>
                </a:path>
                <a:path w="514985" h="428625">
                  <a:moveTo>
                    <a:pt x="31949" y="428293"/>
                  </a:moveTo>
                  <a:lnTo>
                    <a:pt x="475879" y="428302"/>
                  </a:lnTo>
                </a:path>
                <a:path w="514985" h="428625">
                  <a:moveTo>
                    <a:pt x="142682" y="330919"/>
                  </a:moveTo>
                  <a:lnTo>
                    <a:pt x="64474" y="428297"/>
                  </a:lnTo>
                </a:path>
                <a:path w="514985" h="428625">
                  <a:moveTo>
                    <a:pt x="23679" y="206634"/>
                  </a:moveTo>
                  <a:lnTo>
                    <a:pt x="142682" y="330919"/>
                  </a:lnTo>
                </a:path>
              </a:pathLst>
            </a:custGeom>
            <a:ln w="22790">
              <a:solidFill>
                <a:srgbClr val="325E7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534105" y="3935182"/>
            <a:ext cx="4142763" cy="1163967"/>
          </a:xfrm>
          <a:prstGeom prst="rect">
            <a:avLst/>
          </a:prstGeom>
        </p:spPr>
        <p:txBody>
          <a:bodyPr vert="horz" wrap="square" lIns="0" tIns="17062" rIns="0" bIns="0" rtlCol="0">
            <a:spAutoFit/>
          </a:bodyPr>
          <a:lstStyle/>
          <a:p>
            <a:pPr marL="12638">
              <a:spcBef>
                <a:spcPts val="135"/>
              </a:spcBef>
            </a:pPr>
            <a:r>
              <a:rPr sz="1642" spc="114" dirty="0">
                <a:solidFill>
                  <a:srgbClr val="2A404F"/>
                </a:solidFill>
                <a:latin typeface="Microsoft Sans Serif"/>
                <a:cs typeface="Microsoft Sans Serif"/>
              </a:rPr>
              <a:t>Holiday</a:t>
            </a:r>
            <a:r>
              <a:rPr sz="1642" spc="5" dirty="0">
                <a:solidFill>
                  <a:srgbClr val="2A404F"/>
                </a:solidFill>
                <a:latin typeface="Microsoft Sans Serif"/>
                <a:cs typeface="Microsoft Sans Serif"/>
              </a:rPr>
              <a:t> </a:t>
            </a:r>
            <a:r>
              <a:rPr sz="1642" spc="75" dirty="0">
                <a:solidFill>
                  <a:srgbClr val="2A404F"/>
                </a:solidFill>
                <a:latin typeface="Microsoft Sans Serif"/>
                <a:cs typeface="Microsoft Sans Serif"/>
              </a:rPr>
              <a:t>Behavior</a:t>
            </a:r>
            <a:endParaRPr sz="1642">
              <a:latin typeface="Microsoft Sans Serif"/>
              <a:cs typeface="Microsoft Sans Serif"/>
            </a:endParaRPr>
          </a:p>
          <a:p>
            <a:pPr marL="12638" marR="5055">
              <a:lnSpc>
                <a:spcPct val="134300"/>
              </a:lnSpc>
              <a:spcBef>
                <a:spcPts val="462"/>
              </a:spcBef>
            </a:pPr>
            <a:r>
              <a:rPr sz="1343" spc="-25" dirty="0">
                <a:solidFill>
                  <a:srgbClr val="2A404F"/>
                </a:solidFill>
                <a:latin typeface="Tahoma"/>
                <a:cs typeface="Tahoma"/>
              </a:rPr>
              <a:t>Holidays</a:t>
            </a:r>
            <a:r>
              <a:rPr sz="1343" spc="-114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43" spc="-35" dirty="0">
                <a:solidFill>
                  <a:srgbClr val="2A404F"/>
                </a:solidFill>
                <a:latin typeface="Tahoma"/>
                <a:cs typeface="Tahoma"/>
              </a:rPr>
              <a:t>suppress</a:t>
            </a:r>
            <a:r>
              <a:rPr sz="1343" spc="-11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43" spc="-30" dirty="0">
                <a:solidFill>
                  <a:srgbClr val="2A404F"/>
                </a:solidFill>
                <a:latin typeface="Tahoma"/>
                <a:cs typeface="Tahoma"/>
              </a:rPr>
              <a:t>the</a:t>
            </a:r>
            <a:r>
              <a:rPr sz="1343" spc="-114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43" spc="-25" dirty="0">
                <a:solidFill>
                  <a:srgbClr val="2A404F"/>
                </a:solidFill>
                <a:latin typeface="Tahoma"/>
                <a:cs typeface="Tahoma"/>
              </a:rPr>
              <a:t>morning</a:t>
            </a:r>
            <a:r>
              <a:rPr sz="1343" spc="-11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43" spc="-35" dirty="0">
                <a:solidFill>
                  <a:srgbClr val="2A404F"/>
                </a:solidFill>
                <a:latin typeface="Tahoma"/>
                <a:cs typeface="Tahoma"/>
              </a:rPr>
              <a:t>rush</a:t>
            </a:r>
            <a:r>
              <a:rPr sz="1343" spc="-11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43" spc="-25" dirty="0">
                <a:solidFill>
                  <a:srgbClr val="2A404F"/>
                </a:solidFill>
                <a:latin typeface="Tahoma"/>
                <a:cs typeface="Tahoma"/>
              </a:rPr>
              <a:t>hour</a:t>
            </a:r>
            <a:r>
              <a:rPr sz="1343" spc="-114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43" spc="-30" dirty="0">
                <a:solidFill>
                  <a:srgbClr val="2A404F"/>
                </a:solidFill>
                <a:latin typeface="Tahoma"/>
                <a:cs typeface="Tahoma"/>
              </a:rPr>
              <a:t>spike</a:t>
            </a:r>
            <a:r>
              <a:rPr sz="1343" spc="-11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43" spc="-10" dirty="0">
                <a:solidFill>
                  <a:srgbClr val="2A404F"/>
                </a:solidFill>
                <a:latin typeface="Tahoma"/>
                <a:cs typeface="Tahoma"/>
              </a:rPr>
              <a:t>entirely, </a:t>
            </a:r>
            <a:r>
              <a:rPr sz="1343" spc="-25" dirty="0">
                <a:solidFill>
                  <a:srgbClr val="2A404F"/>
                </a:solidFill>
                <a:latin typeface="Tahoma"/>
                <a:cs typeface="Tahoma"/>
              </a:rPr>
              <a:t>shifting</a:t>
            </a:r>
            <a:r>
              <a:rPr sz="1343" spc="-11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43" spc="-30" dirty="0">
                <a:solidFill>
                  <a:srgbClr val="2A404F"/>
                </a:solidFill>
                <a:latin typeface="Tahoma"/>
                <a:cs typeface="Tahoma"/>
              </a:rPr>
              <a:t>demand</a:t>
            </a:r>
            <a:r>
              <a:rPr sz="1343" spc="-11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43" spc="-30" dirty="0">
                <a:solidFill>
                  <a:srgbClr val="2A404F"/>
                </a:solidFill>
                <a:latin typeface="Tahoma"/>
                <a:cs typeface="Tahoma"/>
              </a:rPr>
              <a:t>from</a:t>
            </a:r>
            <a:r>
              <a:rPr sz="1343" spc="-11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43" spc="-30" dirty="0">
                <a:solidFill>
                  <a:srgbClr val="2A404F"/>
                </a:solidFill>
                <a:latin typeface="Tahoma"/>
                <a:cs typeface="Tahoma"/>
              </a:rPr>
              <a:t>business</a:t>
            </a:r>
            <a:r>
              <a:rPr sz="1343" spc="-11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43" spc="-20" dirty="0">
                <a:solidFill>
                  <a:srgbClr val="2A404F"/>
                </a:solidFill>
                <a:latin typeface="Tahoma"/>
                <a:cs typeface="Tahoma"/>
              </a:rPr>
              <a:t>districts</a:t>
            </a:r>
            <a:r>
              <a:rPr sz="1343" spc="-11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43" spc="-20" dirty="0">
                <a:solidFill>
                  <a:srgbClr val="2A404F"/>
                </a:solidFill>
                <a:latin typeface="Tahoma"/>
                <a:cs typeface="Tahoma"/>
              </a:rPr>
              <a:t>to</a:t>
            </a:r>
            <a:r>
              <a:rPr sz="1343" spc="-11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43" spc="-30" dirty="0">
                <a:solidFill>
                  <a:srgbClr val="2A404F"/>
                </a:solidFill>
                <a:latin typeface="Tahoma"/>
                <a:cs typeface="Tahoma"/>
              </a:rPr>
              <a:t>leisure</a:t>
            </a:r>
            <a:r>
              <a:rPr sz="1343" spc="-11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43" spc="-20" dirty="0">
                <a:solidFill>
                  <a:srgbClr val="2A404F"/>
                </a:solidFill>
                <a:latin typeface="Tahoma"/>
                <a:cs typeface="Tahoma"/>
              </a:rPr>
              <a:t>patterns </a:t>
            </a:r>
            <a:r>
              <a:rPr sz="1343" spc="-25" dirty="0">
                <a:solidFill>
                  <a:srgbClr val="2A404F"/>
                </a:solidFill>
                <a:latin typeface="Tahoma"/>
                <a:cs typeface="Tahoma"/>
              </a:rPr>
              <a:t>and</a:t>
            </a:r>
            <a:r>
              <a:rPr sz="1343" spc="-100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43" spc="-30" dirty="0">
                <a:solidFill>
                  <a:srgbClr val="2A404F"/>
                </a:solidFill>
                <a:latin typeface="Tahoma"/>
                <a:cs typeface="Tahoma"/>
              </a:rPr>
              <a:t>recreational</a:t>
            </a:r>
            <a:r>
              <a:rPr sz="1343" spc="-95" dirty="0">
                <a:solidFill>
                  <a:srgbClr val="2A404F"/>
                </a:solidFill>
                <a:latin typeface="Tahoma"/>
                <a:cs typeface="Tahoma"/>
              </a:rPr>
              <a:t> </a:t>
            </a:r>
            <a:r>
              <a:rPr sz="1343" spc="-10" dirty="0">
                <a:solidFill>
                  <a:srgbClr val="2A404F"/>
                </a:solidFill>
                <a:latin typeface="Tahoma"/>
                <a:cs typeface="Tahoma"/>
              </a:rPr>
              <a:t>areas.</a:t>
            </a:r>
            <a:endParaRPr sz="1343">
              <a:latin typeface="Tahoma"/>
              <a:cs typeface="Tahoma"/>
            </a:endParaRPr>
          </a:p>
        </p:txBody>
      </p:sp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444ECA7A-F3E9-4D0A-AF6F-D516A4FA7E7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51835816"/>
              </p:ext>
            </p:extLst>
          </p:nvPr>
        </p:nvGraphicFramePr>
        <p:xfrm>
          <a:off x="662701" y="6348716"/>
          <a:ext cx="10154114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864" y="-2"/>
            <a:ext cx="11630736" cy="9727407"/>
          </a:xfrm>
          <a:custGeom>
            <a:avLst/>
            <a:gdLst/>
            <a:ahLst/>
            <a:cxnLst/>
            <a:rect l="l" t="t" r="r" b="b"/>
            <a:pathLst>
              <a:path w="11430000" h="7543800">
                <a:moveTo>
                  <a:pt x="11430000" y="0"/>
                </a:moveTo>
                <a:lnTo>
                  <a:pt x="0" y="0"/>
                </a:lnTo>
                <a:lnTo>
                  <a:pt x="0" y="7543800"/>
                </a:lnTo>
                <a:lnTo>
                  <a:pt x="11430000" y="75438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FFCF5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864" y="1"/>
            <a:ext cx="4689988" cy="972740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12376" y="451280"/>
            <a:ext cx="10205250" cy="528326"/>
          </a:xfrm>
          <a:prstGeom prst="rect">
            <a:avLst/>
          </a:prstGeom>
        </p:spPr>
        <p:txBody>
          <a:bodyPr vert="horz" wrap="square" lIns="0" tIns="15797" rIns="0" bIns="0" rtlCol="0">
            <a:spAutoFit/>
          </a:bodyPr>
          <a:lstStyle/>
          <a:p>
            <a:pPr marL="4277904">
              <a:spcBef>
                <a:spcPts val="125"/>
              </a:spcBef>
            </a:pPr>
            <a:r>
              <a:rPr spc="130" dirty="0"/>
              <a:t>Strategic</a:t>
            </a:r>
            <a:r>
              <a:rPr spc="15" dirty="0"/>
              <a:t> </a:t>
            </a:r>
            <a:r>
              <a:rPr spc="159" dirty="0"/>
              <a:t>Recommendations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877728" y="1187347"/>
            <a:ext cx="5809094" cy="532219"/>
          </a:xfrm>
          <a:prstGeom prst="rect">
            <a:avLst/>
          </a:prstGeom>
        </p:spPr>
        <p:txBody>
          <a:bodyPr vert="horz" wrap="square" lIns="0" tIns="12638" rIns="0" bIns="0" rtlCol="0">
            <a:spAutoFit/>
          </a:bodyPr>
          <a:lstStyle/>
          <a:p>
            <a:pPr marL="12638" marR="5055">
              <a:lnSpc>
                <a:spcPct val="134300"/>
              </a:lnSpc>
              <a:spcBef>
                <a:spcPts val="100"/>
              </a:spcBef>
            </a:pPr>
            <a:r>
              <a:rPr sz="1343" spc="-45" dirty="0">
                <a:solidFill>
                  <a:srgbClr val="2B404F"/>
                </a:solidFill>
                <a:latin typeface="Tahoma"/>
                <a:cs typeface="Tahoma"/>
              </a:rPr>
              <a:t>The</a:t>
            </a:r>
            <a:r>
              <a:rPr sz="1343" spc="-12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40" dirty="0">
                <a:solidFill>
                  <a:srgbClr val="2B404F"/>
                </a:solidFill>
                <a:latin typeface="Tahoma"/>
                <a:cs typeface="Tahoma"/>
              </a:rPr>
              <a:t>dataset</a:t>
            </a:r>
            <a:r>
              <a:rPr sz="1343" spc="-12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45" dirty="0">
                <a:solidFill>
                  <a:srgbClr val="2B404F"/>
                </a:solidFill>
                <a:latin typeface="Tahoma"/>
                <a:cs typeface="Tahoma"/>
              </a:rPr>
              <a:t>reveals</a:t>
            </a:r>
            <a:r>
              <a:rPr sz="1343" spc="-114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25" dirty="0">
                <a:solidFill>
                  <a:srgbClr val="2B404F"/>
                </a:solidFill>
                <a:latin typeface="Tahoma"/>
                <a:cs typeface="Tahoma"/>
              </a:rPr>
              <a:t>healthy</a:t>
            </a:r>
            <a:r>
              <a:rPr sz="1343" spc="-12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10" dirty="0">
                <a:solidFill>
                  <a:srgbClr val="2B404F"/>
                </a:solidFill>
                <a:latin typeface="Tahoma"/>
                <a:cs typeface="Tahoma"/>
              </a:rPr>
              <a:t>utilization</a:t>
            </a:r>
            <a:r>
              <a:rPr sz="1343" spc="-114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10" dirty="0">
                <a:solidFill>
                  <a:srgbClr val="2B404F"/>
                </a:solidFill>
                <a:latin typeface="Tahoma"/>
                <a:cs typeface="Tahoma"/>
              </a:rPr>
              <a:t>with</a:t>
            </a:r>
            <a:r>
              <a:rPr sz="1343" spc="-12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40" dirty="0">
                <a:solidFill>
                  <a:srgbClr val="2B404F"/>
                </a:solidFill>
                <a:latin typeface="Tahoma"/>
                <a:cs typeface="Tahoma"/>
              </a:rPr>
              <a:t>strong</a:t>
            </a:r>
            <a:r>
              <a:rPr sz="1343" spc="-12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25" dirty="0">
                <a:solidFill>
                  <a:srgbClr val="2B404F"/>
                </a:solidFill>
                <a:latin typeface="Tahoma"/>
                <a:cs typeface="Tahoma"/>
              </a:rPr>
              <a:t>sensitivity</a:t>
            </a:r>
            <a:r>
              <a:rPr sz="1343" spc="-114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20" dirty="0">
                <a:solidFill>
                  <a:srgbClr val="2B404F"/>
                </a:solidFill>
                <a:latin typeface="Tahoma"/>
                <a:cs typeface="Tahoma"/>
              </a:rPr>
              <a:t>to</a:t>
            </a:r>
            <a:r>
              <a:rPr sz="1343" spc="-12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40" dirty="0">
                <a:solidFill>
                  <a:srgbClr val="2B404F"/>
                </a:solidFill>
                <a:latin typeface="Tahoma"/>
                <a:cs typeface="Tahoma"/>
              </a:rPr>
              <a:t>weather</a:t>
            </a:r>
            <a:r>
              <a:rPr sz="1343" spc="-114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30" dirty="0">
                <a:solidFill>
                  <a:srgbClr val="2B404F"/>
                </a:solidFill>
                <a:latin typeface="Tahoma"/>
                <a:cs typeface="Tahoma"/>
              </a:rPr>
              <a:t>and</a:t>
            </a:r>
            <a:r>
              <a:rPr sz="1343" spc="-12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20" dirty="0">
                <a:solidFill>
                  <a:srgbClr val="2B404F"/>
                </a:solidFill>
                <a:latin typeface="Tahoma"/>
                <a:cs typeface="Tahoma"/>
              </a:rPr>
              <a:t>work </a:t>
            </a:r>
            <a:r>
              <a:rPr sz="1343" spc="-30" dirty="0">
                <a:solidFill>
                  <a:srgbClr val="2B404F"/>
                </a:solidFill>
                <a:latin typeface="Tahoma"/>
                <a:cs typeface="Tahoma"/>
              </a:rPr>
              <a:t>schedules.</a:t>
            </a:r>
            <a:r>
              <a:rPr sz="1343" spc="-114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40" dirty="0">
                <a:solidFill>
                  <a:srgbClr val="2B404F"/>
                </a:solidFill>
                <a:latin typeface="Tahoma"/>
                <a:cs typeface="Tahoma"/>
              </a:rPr>
              <a:t>Here's</a:t>
            </a:r>
            <a:r>
              <a:rPr sz="1343" spc="-11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30" dirty="0">
                <a:solidFill>
                  <a:srgbClr val="2B404F"/>
                </a:solidFill>
                <a:latin typeface="Tahoma"/>
                <a:cs typeface="Tahoma"/>
              </a:rPr>
              <a:t>how</a:t>
            </a:r>
            <a:r>
              <a:rPr sz="1343" spc="-11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20" dirty="0">
                <a:solidFill>
                  <a:srgbClr val="2B404F"/>
                </a:solidFill>
                <a:latin typeface="Tahoma"/>
                <a:cs typeface="Tahoma"/>
              </a:rPr>
              <a:t>to</a:t>
            </a:r>
            <a:r>
              <a:rPr sz="1343" spc="-11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25" dirty="0">
                <a:solidFill>
                  <a:srgbClr val="2B404F"/>
                </a:solidFill>
                <a:latin typeface="Tahoma"/>
                <a:cs typeface="Tahoma"/>
              </a:rPr>
              <a:t>optimize</a:t>
            </a:r>
            <a:r>
              <a:rPr sz="1343" spc="-114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343" spc="-10" dirty="0">
                <a:solidFill>
                  <a:srgbClr val="2B404F"/>
                </a:solidFill>
                <a:latin typeface="Tahoma"/>
                <a:cs typeface="Tahoma"/>
              </a:rPr>
              <a:t>operations:</a:t>
            </a:r>
            <a:endParaRPr sz="1343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890366" y="1999977"/>
            <a:ext cx="6215018" cy="2004104"/>
            <a:chOff x="4886325" y="2009775"/>
            <a:chExt cx="5943600" cy="1571625"/>
          </a:xfrm>
        </p:grpSpPr>
        <p:sp>
          <p:nvSpPr>
            <p:cNvPr id="7" name="object 7"/>
            <p:cNvSpPr/>
            <p:nvPr/>
          </p:nvSpPr>
          <p:spPr>
            <a:xfrm>
              <a:off x="4895850" y="2019300"/>
              <a:ext cx="5924550" cy="1552575"/>
            </a:xfrm>
            <a:custGeom>
              <a:avLst/>
              <a:gdLst/>
              <a:ahLst/>
              <a:cxnLst/>
              <a:rect l="l" t="t" r="r" b="b"/>
              <a:pathLst>
                <a:path w="5924550" h="1552575">
                  <a:moveTo>
                    <a:pt x="5915926" y="0"/>
                  </a:moveTo>
                  <a:lnTo>
                    <a:pt x="8623" y="0"/>
                  </a:lnTo>
                  <a:lnTo>
                    <a:pt x="5803" y="1155"/>
                  </a:lnTo>
                  <a:lnTo>
                    <a:pt x="3492" y="3492"/>
                  </a:lnTo>
                  <a:lnTo>
                    <a:pt x="1155" y="5803"/>
                  </a:lnTo>
                  <a:lnTo>
                    <a:pt x="0" y="8623"/>
                  </a:lnTo>
                  <a:lnTo>
                    <a:pt x="0" y="1540662"/>
                  </a:lnTo>
                  <a:lnTo>
                    <a:pt x="0" y="1543951"/>
                  </a:lnTo>
                  <a:lnTo>
                    <a:pt x="1155" y="1546758"/>
                  </a:lnTo>
                  <a:lnTo>
                    <a:pt x="3492" y="1549082"/>
                  </a:lnTo>
                  <a:lnTo>
                    <a:pt x="5803" y="1551419"/>
                  </a:lnTo>
                  <a:lnTo>
                    <a:pt x="8623" y="1552575"/>
                  </a:lnTo>
                  <a:lnTo>
                    <a:pt x="5915926" y="1552575"/>
                  </a:lnTo>
                  <a:lnTo>
                    <a:pt x="5918733" y="1551419"/>
                  </a:lnTo>
                  <a:lnTo>
                    <a:pt x="5923381" y="1546758"/>
                  </a:lnTo>
                  <a:lnTo>
                    <a:pt x="5924550" y="1543951"/>
                  </a:lnTo>
                  <a:lnTo>
                    <a:pt x="5924550" y="8623"/>
                  </a:lnTo>
                  <a:lnTo>
                    <a:pt x="5923381" y="5803"/>
                  </a:lnTo>
                  <a:lnTo>
                    <a:pt x="5918733" y="1155"/>
                  </a:lnTo>
                  <a:lnTo>
                    <a:pt x="5915926" y="0"/>
                  </a:lnTo>
                  <a:close/>
                </a:path>
              </a:pathLst>
            </a:custGeom>
            <a:solidFill>
              <a:srgbClr val="FFFC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895850" y="2019300"/>
              <a:ext cx="5924550" cy="1552575"/>
            </a:xfrm>
            <a:custGeom>
              <a:avLst/>
              <a:gdLst/>
              <a:ahLst/>
              <a:cxnLst/>
              <a:rect l="l" t="t" r="r" b="b"/>
              <a:pathLst>
                <a:path w="5924550" h="1552575">
                  <a:moveTo>
                    <a:pt x="0" y="1540662"/>
                  </a:moveTo>
                  <a:lnTo>
                    <a:pt x="0" y="11899"/>
                  </a:lnTo>
                  <a:lnTo>
                    <a:pt x="0" y="8623"/>
                  </a:lnTo>
                  <a:lnTo>
                    <a:pt x="1155" y="5803"/>
                  </a:lnTo>
                  <a:lnTo>
                    <a:pt x="3492" y="3492"/>
                  </a:lnTo>
                  <a:lnTo>
                    <a:pt x="5803" y="1155"/>
                  </a:lnTo>
                  <a:lnTo>
                    <a:pt x="8623" y="0"/>
                  </a:lnTo>
                  <a:lnTo>
                    <a:pt x="11912" y="0"/>
                  </a:lnTo>
                  <a:lnTo>
                    <a:pt x="5912650" y="0"/>
                  </a:lnTo>
                  <a:lnTo>
                    <a:pt x="5915926" y="0"/>
                  </a:lnTo>
                  <a:lnTo>
                    <a:pt x="5918733" y="1155"/>
                  </a:lnTo>
                  <a:lnTo>
                    <a:pt x="5921057" y="3492"/>
                  </a:lnTo>
                  <a:lnTo>
                    <a:pt x="5923381" y="5803"/>
                  </a:lnTo>
                  <a:lnTo>
                    <a:pt x="5924550" y="8623"/>
                  </a:lnTo>
                  <a:lnTo>
                    <a:pt x="5924550" y="11899"/>
                  </a:lnTo>
                  <a:lnTo>
                    <a:pt x="5924550" y="1540662"/>
                  </a:lnTo>
                  <a:lnTo>
                    <a:pt x="5924550" y="1543951"/>
                  </a:lnTo>
                  <a:lnTo>
                    <a:pt x="5923381" y="1546758"/>
                  </a:lnTo>
                  <a:lnTo>
                    <a:pt x="5921057" y="1549082"/>
                  </a:lnTo>
                  <a:lnTo>
                    <a:pt x="5918733" y="1551419"/>
                  </a:lnTo>
                  <a:lnTo>
                    <a:pt x="5915926" y="1552575"/>
                  </a:lnTo>
                  <a:lnTo>
                    <a:pt x="5912650" y="1552575"/>
                  </a:lnTo>
                  <a:lnTo>
                    <a:pt x="11912" y="1552575"/>
                  </a:lnTo>
                  <a:lnTo>
                    <a:pt x="8623" y="1552575"/>
                  </a:lnTo>
                  <a:lnTo>
                    <a:pt x="5803" y="1551419"/>
                  </a:lnTo>
                  <a:lnTo>
                    <a:pt x="3492" y="1549082"/>
                  </a:lnTo>
                  <a:lnTo>
                    <a:pt x="1155" y="1546758"/>
                  </a:lnTo>
                  <a:lnTo>
                    <a:pt x="0" y="1543951"/>
                  </a:lnTo>
                  <a:lnTo>
                    <a:pt x="0" y="1540662"/>
                  </a:lnTo>
                  <a:close/>
                </a:path>
              </a:pathLst>
            </a:custGeom>
            <a:ln w="19050">
              <a:solidFill>
                <a:srgbClr val="D9D4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032544" y="2383265"/>
            <a:ext cx="682456" cy="943394"/>
          </a:xfrm>
          <a:prstGeom prst="rect">
            <a:avLst/>
          </a:prstGeom>
          <a:solidFill>
            <a:srgbClr val="F3EEE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991" dirty="0">
              <a:latin typeface="Times New Roman"/>
              <a:cs typeface="Times New Roman"/>
            </a:endParaRPr>
          </a:p>
          <a:p>
            <a:pPr>
              <a:spcBef>
                <a:spcPts val="154"/>
              </a:spcBef>
            </a:pPr>
            <a:endParaRPr sz="1991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991" spc="-50" dirty="0">
                <a:solidFill>
                  <a:srgbClr val="2B404F"/>
                </a:solidFill>
                <a:latin typeface="Microsoft Sans Serif"/>
                <a:cs typeface="Microsoft Sans Serif"/>
              </a:rPr>
              <a:t>1</a:t>
            </a:r>
            <a:endParaRPr sz="1991" dirty="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79545" y="2258036"/>
            <a:ext cx="4688728" cy="1177290"/>
          </a:xfrm>
          <a:prstGeom prst="rect">
            <a:avLst/>
          </a:prstGeom>
        </p:spPr>
        <p:txBody>
          <a:bodyPr vert="horz" wrap="square" lIns="0" tIns="17062" rIns="0" bIns="0" rtlCol="0">
            <a:spAutoFit/>
          </a:bodyPr>
          <a:lstStyle/>
          <a:p>
            <a:pPr marL="12638">
              <a:spcBef>
                <a:spcPts val="135"/>
              </a:spcBef>
            </a:pPr>
            <a:r>
              <a:rPr spc="125" dirty="0">
                <a:solidFill>
                  <a:srgbClr val="2B404F"/>
                </a:solidFill>
                <a:latin typeface="Microsoft Sans Serif"/>
                <a:cs typeface="Microsoft Sans Serif"/>
              </a:rPr>
              <a:t>Maintenance</a:t>
            </a:r>
            <a:r>
              <a:rPr spc="20" dirty="0">
                <a:solidFill>
                  <a:srgbClr val="2B404F"/>
                </a:solidFill>
                <a:latin typeface="Microsoft Sans Serif"/>
                <a:cs typeface="Microsoft Sans Serif"/>
              </a:rPr>
              <a:t> </a:t>
            </a:r>
            <a:r>
              <a:rPr spc="55" dirty="0">
                <a:solidFill>
                  <a:srgbClr val="2B404F"/>
                </a:solidFill>
                <a:latin typeface="Microsoft Sans Serif"/>
                <a:cs typeface="Microsoft Sans Serif"/>
              </a:rPr>
              <a:t>Scheduling</a:t>
            </a:r>
            <a:endParaRPr dirty="0">
              <a:latin typeface="Microsoft Sans Serif"/>
              <a:cs typeface="Microsoft Sans Serif"/>
            </a:endParaRPr>
          </a:p>
          <a:p>
            <a:pPr marL="12638" marR="5055">
              <a:lnSpc>
                <a:spcPct val="131900"/>
              </a:lnSpc>
              <a:spcBef>
                <a:spcPts val="502"/>
              </a:spcBef>
            </a:pPr>
            <a:r>
              <a:rPr sz="1400" spc="-30" dirty="0">
                <a:solidFill>
                  <a:srgbClr val="2B404F"/>
                </a:solidFill>
                <a:latin typeface="Tahoma"/>
                <a:cs typeface="Tahoma"/>
              </a:rPr>
              <a:t>Schedule</a:t>
            </a:r>
            <a:r>
              <a:rPr sz="1400" spc="-114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25" dirty="0">
                <a:solidFill>
                  <a:srgbClr val="2B404F"/>
                </a:solidFill>
                <a:latin typeface="Tahoma"/>
                <a:cs typeface="Tahoma"/>
              </a:rPr>
              <a:t>bike</a:t>
            </a:r>
            <a:r>
              <a:rPr sz="1400" spc="-11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35" dirty="0">
                <a:solidFill>
                  <a:srgbClr val="2B404F"/>
                </a:solidFill>
                <a:latin typeface="Tahoma"/>
                <a:cs typeface="Tahoma"/>
              </a:rPr>
              <a:t>maintenance</a:t>
            </a:r>
            <a:r>
              <a:rPr sz="1400" spc="-11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25" dirty="0">
                <a:solidFill>
                  <a:srgbClr val="2B404F"/>
                </a:solidFill>
                <a:latin typeface="Tahoma"/>
                <a:cs typeface="Tahoma"/>
              </a:rPr>
              <a:t>during</a:t>
            </a:r>
            <a:r>
              <a:rPr sz="1400" spc="-114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25" dirty="0">
                <a:solidFill>
                  <a:srgbClr val="2B404F"/>
                </a:solidFill>
                <a:latin typeface="Tahoma"/>
                <a:cs typeface="Tahoma"/>
              </a:rPr>
              <a:t>the</a:t>
            </a:r>
            <a:r>
              <a:rPr sz="1400" spc="-11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25" dirty="0">
                <a:solidFill>
                  <a:srgbClr val="2B404F"/>
                </a:solidFill>
                <a:latin typeface="Tahoma"/>
                <a:cs typeface="Tahoma"/>
              </a:rPr>
              <a:t>low-</a:t>
            </a:r>
            <a:r>
              <a:rPr sz="1400" spc="-55" dirty="0">
                <a:solidFill>
                  <a:srgbClr val="2B404F"/>
                </a:solidFill>
                <a:latin typeface="Tahoma"/>
                <a:cs typeface="Tahoma"/>
              </a:rPr>
              <a:t>usage</a:t>
            </a:r>
            <a:r>
              <a:rPr sz="1400" spc="-11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20" dirty="0">
                <a:solidFill>
                  <a:srgbClr val="2B404F"/>
                </a:solidFill>
                <a:latin typeface="Tahoma"/>
                <a:cs typeface="Tahoma"/>
              </a:rPr>
              <a:t>window</a:t>
            </a:r>
            <a:r>
              <a:rPr sz="1400" spc="-114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30" dirty="0">
                <a:solidFill>
                  <a:srgbClr val="2B404F"/>
                </a:solidFill>
                <a:latin typeface="Tahoma"/>
                <a:cs typeface="Tahoma"/>
              </a:rPr>
              <a:t>of</a:t>
            </a:r>
            <a:r>
              <a:rPr sz="1400" spc="-11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55" dirty="0">
                <a:solidFill>
                  <a:srgbClr val="2B404F"/>
                </a:solidFill>
                <a:latin typeface="Tahoma"/>
                <a:cs typeface="Tahoma"/>
              </a:rPr>
              <a:t>3:00- </a:t>
            </a:r>
            <a:r>
              <a:rPr sz="1400" spc="-95" dirty="0">
                <a:solidFill>
                  <a:srgbClr val="2B404F"/>
                </a:solidFill>
                <a:latin typeface="Tahoma"/>
                <a:cs typeface="Tahoma"/>
              </a:rPr>
              <a:t>5:00</a:t>
            </a:r>
            <a:r>
              <a:rPr sz="1400" spc="-114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80" dirty="0">
                <a:solidFill>
                  <a:srgbClr val="2B404F"/>
                </a:solidFill>
                <a:latin typeface="Tahoma"/>
                <a:cs typeface="Tahoma"/>
              </a:rPr>
              <a:t>AM</a:t>
            </a:r>
            <a:r>
              <a:rPr sz="1400" spc="-114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20" dirty="0">
                <a:solidFill>
                  <a:srgbClr val="2B404F"/>
                </a:solidFill>
                <a:latin typeface="Tahoma"/>
                <a:cs typeface="Tahoma"/>
              </a:rPr>
              <a:t>to</a:t>
            </a:r>
            <a:r>
              <a:rPr sz="1400" spc="-114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20" dirty="0">
                <a:solidFill>
                  <a:srgbClr val="2B404F"/>
                </a:solidFill>
                <a:latin typeface="Tahoma"/>
                <a:cs typeface="Tahoma"/>
              </a:rPr>
              <a:t>minimize</a:t>
            </a:r>
            <a:r>
              <a:rPr sz="1400" spc="-114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35" dirty="0">
                <a:solidFill>
                  <a:srgbClr val="2B404F"/>
                </a:solidFill>
                <a:latin typeface="Tahoma"/>
                <a:cs typeface="Tahoma"/>
              </a:rPr>
              <a:t>service</a:t>
            </a:r>
            <a:r>
              <a:rPr sz="1400" spc="-114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20" dirty="0">
                <a:solidFill>
                  <a:srgbClr val="2B404F"/>
                </a:solidFill>
                <a:latin typeface="Tahoma"/>
                <a:cs typeface="Tahoma"/>
              </a:rPr>
              <a:t>disruption</a:t>
            </a:r>
            <a:r>
              <a:rPr sz="1400" spc="-11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30" dirty="0">
                <a:solidFill>
                  <a:srgbClr val="2B404F"/>
                </a:solidFill>
                <a:latin typeface="Tahoma"/>
                <a:cs typeface="Tahoma"/>
              </a:rPr>
              <a:t>and</a:t>
            </a:r>
            <a:r>
              <a:rPr sz="1400" spc="-114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35" dirty="0">
                <a:solidFill>
                  <a:srgbClr val="2B404F"/>
                </a:solidFill>
                <a:latin typeface="Tahoma"/>
                <a:cs typeface="Tahoma"/>
              </a:rPr>
              <a:t>maximize</a:t>
            </a:r>
            <a:r>
              <a:rPr sz="1400" spc="-114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2B404F"/>
                </a:solidFill>
                <a:latin typeface="Tahoma"/>
                <a:cs typeface="Tahoma"/>
              </a:rPr>
              <a:t>fleet </a:t>
            </a:r>
            <a:r>
              <a:rPr sz="1400" spc="-20" dirty="0">
                <a:solidFill>
                  <a:srgbClr val="2B404F"/>
                </a:solidFill>
                <a:latin typeface="Tahoma"/>
                <a:cs typeface="Tahoma"/>
              </a:rPr>
              <a:t>availability</a:t>
            </a:r>
            <a:r>
              <a:rPr sz="1400" spc="-10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25" dirty="0">
                <a:solidFill>
                  <a:srgbClr val="2B404F"/>
                </a:solidFill>
                <a:latin typeface="Tahoma"/>
                <a:cs typeface="Tahoma"/>
              </a:rPr>
              <a:t>during</a:t>
            </a:r>
            <a:r>
              <a:rPr sz="1400" spc="-10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35" dirty="0">
                <a:solidFill>
                  <a:srgbClr val="2B404F"/>
                </a:solidFill>
                <a:latin typeface="Tahoma"/>
                <a:cs typeface="Tahoma"/>
              </a:rPr>
              <a:t>peak</a:t>
            </a:r>
            <a:r>
              <a:rPr sz="1400" spc="-10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2B404F"/>
                </a:solidFill>
                <a:latin typeface="Tahoma"/>
                <a:cs typeface="Tahoma"/>
              </a:rPr>
              <a:t>hours.</a:t>
            </a:r>
            <a:endParaRPr sz="1400" dirty="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961335" y="4343792"/>
            <a:ext cx="6153911" cy="2084815"/>
            <a:chOff x="4886325" y="3752850"/>
            <a:chExt cx="5943600" cy="1571625"/>
          </a:xfrm>
        </p:grpSpPr>
        <p:sp>
          <p:nvSpPr>
            <p:cNvPr id="12" name="object 12"/>
            <p:cNvSpPr/>
            <p:nvPr/>
          </p:nvSpPr>
          <p:spPr>
            <a:xfrm>
              <a:off x="4895850" y="3762375"/>
              <a:ext cx="5924550" cy="1552575"/>
            </a:xfrm>
            <a:custGeom>
              <a:avLst/>
              <a:gdLst/>
              <a:ahLst/>
              <a:cxnLst/>
              <a:rect l="l" t="t" r="r" b="b"/>
              <a:pathLst>
                <a:path w="5924550" h="1552575">
                  <a:moveTo>
                    <a:pt x="5915926" y="0"/>
                  </a:moveTo>
                  <a:lnTo>
                    <a:pt x="8623" y="0"/>
                  </a:lnTo>
                  <a:lnTo>
                    <a:pt x="5803" y="1155"/>
                  </a:lnTo>
                  <a:lnTo>
                    <a:pt x="3492" y="3492"/>
                  </a:lnTo>
                  <a:lnTo>
                    <a:pt x="1155" y="5803"/>
                  </a:lnTo>
                  <a:lnTo>
                    <a:pt x="0" y="8623"/>
                  </a:lnTo>
                  <a:lnTo>
                    <a:pt x="0" y="1540662"/>
                  </a:lnTo>
                  <a:lnTo>
                    <a:pt x="0" y="1543951"/>
                  </a:lnTo>
                  <a:lnTo>
                    <a:pt x="1155" y="1546758"/>
                  </a:lnTo>
                  <a:lnTo>
                    <a:pt x="5803" y="1551406"/>
                  </a:lnTo>
                  <a:lnTo>
                    <a:pt x="8623" y="1552575"/>
                  </a:lnTo>
                  <a:lnTo>
                    <a:pt x="5915926" y="1552575"/>
                  </a:lnTo>
                  <a:lnTo>
                    <a:pt x="5918733" y="1551406"/>
                  </a:lnTo>
                  <a:lnTo>
                    <a:pt x="5923381" y="1546758"/>
                  </a:lnTo>
                  <a:lnTo>
                    <a:pt x="5924550" y="1543951"/>
                  </a:lnTo>
                  <a:lnTo>
                    <a:pt x="5924550" y="8623"/>
                  </a:lnTo>
                  <a:lnTo>
                    <a:pt x="5923381" y="5803"/>
                  </a:lnTo>
                  <a:lnTo>
                    <a:pt x="5918733" y="1155"/>
                  </a:lnTo>
                  <a:lnTo>
                    <a:pt x="5915926" y="0"/>
                  </a:lnTo>
                  <a:close/>
                </a:path>
              </a:pathLst>
            </a:custGeom>
            <a:solidFill>
              <a:srgbClr val="FFFC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895850" y="3762375"/>
              <a:ext cx="5924550" cy="1552575"/>
            </a:xfrm>
            <a:custGeom>
              <a:avLst/>
              <a:gdLst/>
              <a:ahLst/>
              <a:cxnLst/>
              <a:rect l="l" t="t" r="r" b="b"/>
              <a:pathLst>
                <a:path w="5924550" h="1552575">
                  <a:moveTo>
                    <a:pt x="0" y="1540662"/>
                  </a:moveTo>
                  <a:lnTo>
                    <a:pt x="0" y="11899"/>
                  </a:lnTo>
                  <a:lnTo>
                    <a:pt x="0" y="8623"/>
                  </a:lnTo>
                  <a:lnTo>
                    <a:pt x="1155" y="5803"/>
                  </a:lnTo>
                  <a:lnTo>
                    <a:pt x="3492" y="3492"/>
                  </a:lnTo>
                  <a:lnTo>
                    <a:pt x="5803" y="1155"/>
                  </a:lnTo>
                  <a:lnTo>
                    <a:pt x="8623" y="0"/>
                  </a:lnTo>
                  <a:lnTo>
                    <a:pt x="11912" y="0"/>
                  </a:lnTo>
                  <a:lnTo>
                    <a:pt x="5912650" y="0"/>
                  </a:lnTo>
                  <a:lnTo>
                    <a:pt x="5915926" y="0"/>
                  </a:lnTo>
                  <a:lnTo>
                    <a:pt x="5918733" y="1155"/>
                  </a:lnTo>
                  <a:lnTo>
                    <a:pt x="5921057" y="3492"/>
                  </a:lnTo>
                  <a:lnTo>
                    <a:pt x="5923381" y="5803"/>
                  </a:lnTo>
                  <a:lnTo>
                    <a:pt x="5924550" y="8623"/>
                  </a:lnTo>
                  <a:lnTo>
                    <a:pt x="5924550" y="11899"/>
                  </a:lnTo>
                  <a:lnTo>
                    <a:pt x="5924550" y="1540662"/>
                  </a:lnTo>
                  <a:lnTo>
                    <a:pt x="5924550" y="1543951"/>
                  </a:lnTo>
                  <a:lnTo>
                    <a:pt x="5923381" y="1546758"/>
                  </a:lnTo>
                  <a:lnTo>
                    <a:pt x="5921057" y="1549082"/>
                  </a:lnTo>
                  <a:lnTo>
                    <a:pt x="5918733" y="1551406"/>
                  </a:lnTo>
                  <a:lnTo>
                    <a:pt x="5915926" y="1552575"/>
                  </a:lnTo>
                  <a:lnTo>
                    <a:pt x="5912650" y="1552575"/>
                  </a:lnTo>
                  <a:lnTo>
                    <a:pt x="11912" y="1552575"/>
                  </a:lnTo>
                  <a:lnTo>
                    <a:pt x="8623" y="1552575"/>
                  </a:lnTo>
                  <a:lnTo>
                    <a:pt x="5803" y="1551406"/>
                  </a:lnTo>
                  <a:lnTo>
                    <a:pt x="3492" y="1549082"/>
                  </a:lnTo>
                  <a:lnTo>
                    <a:pt x="1155" y="1546758"/>
                  </a:lnTo>
                  <a:lnTo>
                    <a:pt x="0" y="1543951"/>
                  </a:lnTo>
                  <a:lnTo>
                    <a:pt x="0" y="1540662"/>
                  </a:lnTo>
                  <a:close/>
                </a:path>
              </a:pathLst>
            </a:custGeom>
            <a:ln w="19050">
              <a:solidFill>
                <a:srgbClr val="D9D4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032544" y="4624690"/>
            <a:ext cx="682456" cy="943394"/>
          </a:xfrm>
          <a:prstGeom prst="rect">
            <a:avLst/>
          </a:prstGeom>
          <a:solidFill>
            <a:srgbClr val="F3EEE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991" dirty="0">
              <a:latin typeface="Times New Roman"/>
              <a:cs typeface="Times New Roman"/>
            </a:endParaRPr>
          </a:p>
          <a:p>
            <a:pPr>
              <a:spcBef>
                <a:spcPts val="149"/>
              </a:spcBef>
            </a:pPr>
            <a:endParaRPr sz="1991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991" spc="-50" dirty="0">
                <a:solidFill>
                  <a:srgbClr val="2B404F"/>
                </a:solidFill>
                <a:latin typeface="Microsoft Sans Serif"/>
                <a:cs typeface="Microsoft Sans Serif"/>
              </a:rPr>
              <a:t>2</a:t>
            </a:r>
            <a:endParaRPr sz="1991" dirty="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845124" y="4696903"/>
            <a:ext cx="4863765" cy="1177290"/>
          </a:xfrm>
          <a:prstGeom prst="rect">
            <a:avLst/>
          </a:prstGeom>
        </p:spPr>
        <p:txBody>
          <a:bodyPr vert="horz" wrap="square" lIns="0" tIns="17062" rIns="0" bIns="0" rtlCol="0">
            <a:spAutoFit/>
          </a:bodyPr>
          <a:lstStyle/>
          <a:p>
            <a:pPr marL="12638">
              <a:spcBef>
                <a:spcPts val="135"/>
              </a:spcBef>
            </a:pPr>
            <a:r>
              <a:rPr spc="80" dirty="0">
                <a:solidFill>
                  <a:srgbClr val="2B404F"/>
                </a:solidFill>
                <a:latin typeface="Microsoft Sans Serif"/>
                <a:cs typeface="Microsoft Sans Serif"/>
              </a:rPr>
              <a:t>Targeted</a:t>
            </a:r>
            <a:r>
              <a:rPr spc="20" dirty="0">
                <a:solidFill>
                  <a:srgbClr val="2B404F"/>
                </a:solidFill>
                <a:latin typeface="Microsoft Sans Serif"/>
                <a:cs typeface="Microsoft Sans Serif"/>
              </a:rPr>
              <a:t> </a:t>
            </a:r>
            <a:r>
              <a:rPr spc="149" dirty="0">
                <a:solidFill>
                  <a:srgbClr val="2B404F"/>
                </a:solidFill>
                <a:latin typeface="Microsoft Sans Serif"/>
                <a:cs typeface="Microsoft Sans Serif"/>
              </a:rPr>
              <a:t>Marketing</a:t>
            </a:r>
            <a:endParaRPr dirty="0">
              <a:latin typeface="Microsoft Sans Serif"/>
              <a:cs typeface="Microsoft Sans Serif"/>
            </a:endParaRPr>
          </a:p>
          <a:p>
            <a:pPr marL="12638" marR="5055">
              <a:lnSpc>
                <a:spcPct val="131900"/>
              </a:lnSpc>
              <a:spcBef>
                <a:spcPts val="502"/>
              </a:spcBef>
            </a:pPr>
            <a:r>
              <a:rPr sz="1400" spc="-75" dirty="0">
                <a:solidFill>
                  <a:srgbClr val="2B404F"/>
                </a:solidFill>
                <a:latin typeface="Tahoma"/>
                <a:cs typeface="Tahoma"/>
              </a:rPr>
              <a:t>Target</a:t>
            </a:r>
            <a:r>
              <a:rPr sz="1400" spc="-114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30" dirty="0">
                <a:solidFill>
                  <a:srgbClr val="2B404F"/>
                </a:solidFill>
                <a:latin typeface="Tahoma"/>
                <a:cs typeface="Tahoma"/>
              </a:rPr>
              <a:t>casual</a:t>
            </a:r>
            <a:r>
              <a:rPr sz="1400" spc="-114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40" dirty="0">
                <a:solidFill>
                  <a:srgbClr val="2B404F"/>
                </a:solidFill>
                <a:latin typeface="Tahoma"/>
                <a:cs typeface="Tahoma"/>
              </a:rPr>
              <a:t>users</a:t>
            </a:r>
            <a:r>
              <a:rPr sz="1400" spc="-114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20" dirty="0">
                <a:solidFill>
                  <a:srgbClr val="2B404F"/>
                </a:solidFill>
                <a:latin typeface="Tahoma"/>
                <a:cs typeface="Tahoma"/>
              </a:rPr>
              <a:t>on</a:t>
            </a:r>
            <a:r>
              <a:rPr sz="1400" spc="-114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45" dirty="0">
                <a:solidFill>
                  <a:srgbClr val="2B404F"/>
                </a:solidFill>
                <a:latin typeface="Tahoma"/>
                <a:cs typeface="Tahoma"/>
              </a:rPr>
              <a:t>weekends</a:t>
            </a:r>
            <a:r>
              <a:rPr sz="1400" spc="-11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2B404F"/>
                </a:solidFill>
                <a:latin typeface="Tahoma"/>
                <a:cs typeface="Tahoma"/>
              </a:rPr>
              <a:t>with</a:t>
            </a:r>
            <a:r>
              <a:rPr sz="1400" spc="-114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25" dirty="0">
                <a:solidFill>
                  <a:srgbClr val="2B404F"/>
                </a:solidFill>
                <a:latin typeface="Tahoma"/>
                <a:cs typeface="Tahoma"/>
              </a:rPr>
              <a:t>promotions</a:t>
            </a:r>
            <a:r>
              <a:rPr sz="1400" spc="-114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40" dirty="0">
                <a:solidFill>
                  <a:srgbClr val="2B404F"/>
                </a:solidFill>
                <a:latin typeface="Tahoma"/>
                <a:cs typeface="Tahoma"/>
              </a:rPr>
              <a:t>when</a:t>
            </a:r>
            <a:r>
              <a:rPr sz="1400" spc="-114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25" dirty="0">
                <a:solidFill>
                  <a:srgbClr val="2B404F"/>
                </a:solidFill>
                <a:latin typeface="Tahoma"/>
                <a:cs typeface="Tahoma"/>
              </a:rPr>
              <a:t>the</a:t>
            </a:r>
            <a:r>
              <a:rPr sz="1400" spc="-11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2B404F"/>
                </a:solidFill>
                <a:latin typeface="Tahoma"/>
                <a:cs typeface="Tahoma"/>
              </a:rPr>
              <a:t>forecast </a:t>
            </a:r>
            <a:r>
              <a:rPr sz="1400" spc="-35" dirty="0">
                <a:solidFill>
                  <a:srgbClr val="2B404F"/>
                </a:solidFill>
                <a:latin typeface="Tahoma"/>
                <a:cs typeface="Tahoma"/>
              </a:rPr>
              <a:t>shows</a:t>
            </a:r>
            <a:r>
              <a:rPr sz="1400" spc="-114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30" dirty="0">
                <a:solidFill>
                  <a:srgbClr val="2B404F"/>
                </a:solidFill>
                <a:latin typeface="Tahoma"/>
                <a:cs typeface="Tahoma"/>
              </a:rPr>
              <a:t>clear</a:t>
            </a:r>
            <a:r>
              <a:rPr sz="1400" spc="-114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30" dirty="0">
                <a:solidFill>
                  <a:srgbClr val="2B404F"/>
                </a:solidFill>
                <a:latin typeface="Tahoma"/>
                <a:cs typeface="Tahoma"/>
              </a:rPr>
              <a:t>skies</a:t>
            </a:r>
            <a:r>
              <a:rPr sz="1400" spc="-114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30" dirty="0">
                <a:solidFill>
                  <a:srgbClr val="2B404F"/>
                </a:solidFill>
                <a:latin typeface="Tahoma"/>
                <a:cs typeface="Tahoma"/>
              </a:rPr>
              <a:t>and</a:t>
            </a:r>
            <a:r>
              <a:rPr sz="1400" spc="-114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40" dirty="0">
                <a:solidFill>
                  <a:srgbClr val="2B404F"/>
                </a:solidFill>
                <a:latin typeface="Tahoma"/>
                <a:cs typeface="Tahoma"/>
              </a:rPr>
              <a:t>temperatures</a:t>
            </a:r>
            <a:r>
              <a:rPr sz="1400" spc="-114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40" dirty="0">
                <a:solidFill>
                  <a:srgbClr val="2B404F"/>
                </a:solidFill>
                <a:latin typeface="Tahoma"/>
                <a:cs typeface="Tahoma"/>
              </a:rPr>
              <a:t>above</a:t>
            </a:r>
            <a:r>
              <a:rPr sz="1400" spc="-114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105" dirty="0">
                <a:solidFill>
                  <a:srgbClr val="2B404F"/>
                </a:solidFill>
                <a:latin typeface="Tahoma"/>
                <a:cs typeface="Tahoma"/>
              </a:rPr>
              <a:t>12°C</a:t>
            </a:r>
            <a:r>
              <a:rPr sz="1400" spc="-114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20" dirty="0">
                <a:solidFill>
                  <a:srgbClr val="2B404F"/>
                </a:solidFill>
                <a:latin typeface="Tahoma"/>
                <a:cs typeface="Tahoma"/>
              </a:rPr>
              <a:t>to</a:t>
            </a:r>
            <a:r>
              <a:rPr sz="1400" spc="-114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30" dirty="0">
                <a:solidFill>
                  <a:srgbClr val="2B404F"/>
                </a:solidFill>
                <a:latin typeface="Tahoma"/>
                <a:cs typeface="Tahoma"/>
              </a:rPr>
              <a:t>drive</a:t>
            </a:r>
            <a:r>
              <a:rPr sz="1400" spc="-114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2B404F"/>
                </a:solidFill>
                <a:latin typeface="Tahoma"/>
                <a:cs typeface="Tahoma"/>
              </a:rPr>
              <a:t>leisure usage.</a:t>
            </a:r>
            <a:endParaRPr sz="1400" dirty="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877729" y="6755606"/>
            <a:ext cx="6173698" cy="2110241"/>
            <a:chOff x="4886325" y="5495925"/>
            <a:chExt cx="5943600" cy="1581150"/>
          </a:xfrm>
        </p:grpSpPr>
        <p:sp>
          <p:nvSpPr>
            <p:cNvPr id="17" name="object 17"/>
            <p:cNvSpPr/>
            <p:nvPr/>
          </p:nvSpPr>
          <p:spPr>
            <a:xfrm>
              <a:off x="4895850" y="5505450"/>
              <a:ext cx="5924550" cy="1562100"/>
            </a:xfrm>
            <a:custGeom>
              <a:avLst/>
              <a:gdLst/>
              <a:ahLst/>
              <a:cxnLst/>
              <a:rect l="l" t="t" r="r" b="b"/>
              <a:pathLst>
                <a:path w="5924550" h="1562100">
                  <a:moveTo>
                    <a:pt x="5915926" y="0"/>
                  </a:moveTo>
                  <a:lnTo>
                    <a:pt x="8623" y="0"/>
                  </a:lnTo>
                  <a:lnTo>
                    <a:pt x="5803" y="1155"/>
                  </a:lnTo>
                  <a:lnTo>
                    <a:pt x="3492" y="3492"/>
                  </a:lnTo>
                  <a:lnTo>
                    <a:pt x="1155" y="5803"/>
                  </a:lnTo>
                  <a:lnTo>
                    <a:pt x="0" y="8623"/>
                  </a:lnTo>
                  <a:lnTo>
                    <a:pt x="0" y="1550193"/>
                  </a:lnTo>
                  <a:lnTo>
                    <a:pt x="0" y="1553483"/>
                  </a:lnTo>
                  <a:lnTo>
                    <a:pt x="1155" y="1556285"/>
                  </a:lnTo>
                  <a:lnTo>
                    <a:pt x="5803" y="1560934"/>
                  </a:lnTo>
                  <a:lnTo>
                    <a:pt x="8623" y="1562100"/>
                  </a:lnTo>
                  <a:lnTo>
                    <a:pt x="5915926" y="1562100"/>
                  </a:lnTo>
                  <a:lnTo>
                    <a:pt x="5918733" y="1560934"/>
                  </a:lnTo>
                  <a:lnTo>
                    <a:pt x="5923381" y="1556285"/>
                  </a:lnTo>
                  <a:lnTo>
                    <a:pt x="5924550" y="1553483"/>
                  </a:lnTo>
                  <a:lnTo>
                    <a:pt x="5924550" y="8623"/>
                  </a:lnTo>
                  <a:lnTo>
                    <a:pt x="5923381" y="5803"/>
                  </a:lnTo>
                  <a:lnTo>
                    <a:pt x="5918733" y="1155"/>
                  </a:lnTo>
                  <a:lnTo>
                    <a:pt x="5915926" y="0"/>
                  </a:lnTo>
                  <a:close/>
                </a:path>
              </a:pathLst>
            </a:custGeom>
            <a:solidFill>
              <a:srgbClr val="FFFC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895850" y="5505450"/>
              <a:ext cx="5924550" cy="1562100"/>
            </a:xfrm>
            <a:custGeom>
              <a:avLst/>
              <a:gdLst/>
              <a:ahLst/>
              <a:cxnLst/>
              <a:rect l="l" t="t" r="r" b="b"/>
              <a:pathLst>
                <a:path w="5924550" h="1562100">
                  <a:moveTo>
                    <a:pt x="0" y="1550193"/>
                  </a:moveTo>
                  <a:lnTo>
                    <a:pt x="0" y="11899"/>
                  </a:lnTo>
                  <a:lnTo>
                    <a:pt x="0" y="8623"/>
                  </a:lnTo>
                  <a:lnTo>
                    <a:pt x="1155" y="5803"/>
                  </a:lnTo>
                  <a:lnTo>
                    <a:pt x="3492" y="3492"/>
                  </a:lnTo>
                  <a:lnTo>
                    <a:pt x="5803" y="1155"/>
                  </a:lnTo>
                  <a:lnTo>
                    <a:pt x="8623" y="0"/>
                  </a:lnTo>
                  <a:lnTo>
                    <a:pt x="11912" y="0"/>
                  </a:lnTo>
                  <a:lnTo>
                    <a:pt x="5912650" y="0"/>
                  </a:lnTo>
                  <a:lnTo>
                    <a:pt x="5915926" y="0"/>
                  </a:lnTo>
                  <a:lnTo>
                    <a:pt x="5918733" y="1155"/>
                  </a:lnTo>
                  <a:lnTo>
                    <a:pt x="5921057" y="3492"/>
                  </a:lnTo>
                  <a:lnTo>
                    <a:pt x="5923381" y="5803"/>
                  </a:lnTo>
                  <a:lnTo>
                    <a:pt x="5924550" y="8623"/>
                  </a:lnTo>
                  <a:lnTo>
                    <a:pt x="5924550" y="11899"/>
                  </a:lnTo>
                  <a:lnTo>
                    <a:pt x="5924550" y="1550193"/>
                  </a:lnTo>
                  <a:lnTo>
                    <a:pt x="5924550" y="1553483"/>
                  </a:lnTo>
                  <a:lnTo>
                    <a:pt x="5923381" y="1556285"/>
                  </a:lnTo>
                  <a:lnTo>
                    <a:pt x="5921057" y="1558612"/>
                  </a:lnTo>
                  <a:lnTo>
                    <a:pt x="5918733" y="1560934"/>
                  </a:lnTo>
                  <a:lnTo>
                    <a:pt x="5915926" y="1562100"/>
                  </a:lnTo>
                  <a:lnTo>
                    <a:pt x="5912650" y="1562100"/>
                  </a:lnTo>
                  <a:lnTo>
                    <a:pt x="11912" y="1562100"/>
                  </a:lnTo>
                  <a:lnTo>
                    <a:pt x="8623" y="1562100"/>
                  </a:lnTo>
                  <a:lnTo>
                    <a:pt x="5803" y="1560934"/>
                  </a:lnTo>
                  <a:lnTo>
                    <a:pt x="3492" y="1558612"/>
                  </a:lnTo>
                  <a:lnTo>
                    <a:pt x="1155" y="1556285"/>
                  </a:lnTo>
                  <a:lnTo>
                    <a:pt x="0" y="1553483"/>
                  </a:lnTo>
                  <a:lnTo>
                    <a:pt x="0" y="1550193"/>
                  </a:lnTo>
                  <a:close/>
                </a:path>
              </a:pathLst>
            </a:custGeom>
            <a:ln w="19050">
              <a:solidFill>
                <a:srgbClr val="D9D4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181600" y="7224243"/>
            <a:ext cx="751407" cy="944746"/>
          </a:xfrm>
          <a:prstGeom prst="rect">
            <a:avLst/>
          </a:prstGeom>
          <a:solidFill>
            <a:srgbClr val="F3EEE3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endParaRPr sz="1991" dirty="0">
              <a:latin typeface="Times New Roman"/>
              <a:cs typeface="Times New Roman"/>
            </a:endParaRPr>
          </a:p>
          <a:p>
            <a:pPr algn="ctr">
              <a:spcBef>
                <a:spcPts val="154"/>
              </a:spcBef>
            </a:pPr>
            <a:endParaRPr sz="1991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991" spc="-50" dirty="0">
                <a:solidFill>
                  <a:srgbClr val="2B404F"/>
                </a:solidFill>
                <a:latin typeface="Microsoft Sans Serif"/>
                <a:cs typeface="Microsoft Sans Serif"/>
              </a:rPr>
              <a:t>3</a:t>
            </a:r>
            <a:endParaRPr sz="1991" dirty="0">
              <a:latin typeface="Microsoft Sans Serif"/>
              <a:cs typeface="Microsoft Sans Serif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094516" y="7501633"/>
            <a:ext cx="4794887" cy="1189088"/>
          </a:xfrm>
          <a:prstGeom prst="rect">
            <a:avLst/>
          </a:prstGeom>
        </p:spPr>
        <p:txBody>
          <a:bodyPr vert="horz" wrap="square" lIns="0" tIns="17062" rIns="0" bIns="0" rtlCol="0">
            <a:spAutoFit/>
          </a:bodyPr>
          <a:lstStyle/>
          <a:p>
            <a:pPr marL="12638">
              <a:spcBef>
                <a:spcPts val="135"/>
              </a:spcBef>
            </a:pPr>
            <a:r>
              <a:rPr spc="114" dirty="0">
                <a:solidFill>
                  <a:srgbClr val="2B404F"/>
                </a:solidFill>
                <a:latin typeface="Microsoft Sans Serif"/>
                <a:cs typeface="Microsoft Sans Serif"/>
              </a:rPr>
              <a:t>Holiday</a:t>
            </a:r>
            <a:r>
              <a:rPr spc="15" dirty="0">
                <a:solidFill>
                  <a:srgbClr val="2B404F"/>
                </a:solidFill>
                <a:latin typeface="Microsoft Sans Serif"/>
                <a:cs typeface="Microsoft Sans Serif"/>
              </a:rPr>
              <a:t> </a:t>
            </a:r>
            <a:r>
              <a:rPr spc="50" dirty="0">
                <a:solidFill>
                  <a:srgbClr val="2B404F"/>
                </a:solidFill>
                <a:latin typeface="Microsoft Sans Serif"/>
                <a:cs typeface="Microsoft Sans Serif"/>
              </a:rPr>
              <a:t>Fleet</a:t>
            </a:r>
            <a:r>
              <a:rPr spc="20" dirty="0">
                <a:solidFill>
                  <a:srgbClr val="2B404F"/>
                </a:solidFill>
                <a:latin typeface="Microsoft Sans Serif"/>
                <a:cs typeface="Microsoft Sans Serif"/>
              </a:rPr>
              <a:t> </a:t>
            </a:r>
            <a:r>
              <a:rPr spc="95" dirty="0">
                <a:solidFill>
                  <a:srgbClr val="2B404F"/>
                </a:solidFill>
                <a:latin typeface="Microsoft Sans Serif"/>
                <a:cs typeface="Microsoft Sans Serif"/>
              </a:rPr>
              <a:t>Distribution</a:t>
            </a:r>
            <a:endParaRPr dirty="0">
              <a:latin typeface="Microsoft Sans Serif"/>
              <a:cs typeface="Microsoft Sans Serif"/>
            </a:endParaRPr>
          </a:p>
          <a:p>
            <a:pPr marL="12638" marR="5055">
              <a:lnSpc>
                <a:spcPct val="134300"/>
              </a:lnSpc>
              <a:spcBef>
                <a:spcPts val="462"/>
              </a:spcBef>
            </a:pPr>
            <a:r>
              <a:rPr sz="1400" spc="-45" dirty="0">
                <a:solidFill>
                  <a:srgbClr val="2B404F"/>
                </a:solidFill>
                <a:latin typeface="Tahoma"/>
                <a:cs typeface="Tahoma"/>
              </a:rPr>
              <a:t>Adjust</a:t>
            </a:r>
            <a:r>
              <a:rPr sz="1400" spc="-114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25" dirty="0">
                <a:solidFill>
                  <a:srgbClr val="2B404F"/>
                </a:solidFill>
                <a:latin typeface="Tahoma"/>
                <a:cs typeface="Tahoma"/>
              </a:rPr>
              <a:t>fleet</a:t>
            </a:r>
            <a:r>
              <a:rPr sz="1400" spc="-114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2B404F"/>
                </a:solidFill>
                <a:latin typeface="Tahoma"/>
                <a:cs typeface="Tahoma"/>
              </a:rPr>
              <a:t>distribution</a:t>
            </a:r>
            <a:r>
              <a:rPr sz="1400" spc="-114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20" dirty="0">
                <a:solidFill>
                  <a:srgbClr val="2B404F"/>
                </a:solidFill>
                <a:latin typeface="Tahoma"/>
                <a:cs typeface="Tahoma"/>
              </a:rPr>
              <a:t>on</a:t>
            </a:r>
            <a:r>
              <a:rPr sz="1400" spc="-11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25" dirty="0">
                <a:solidFill>
                  <a:srgbClr val="2B404F"/>
                </a:solidFill>
                <a:latin typeface="Tahoma"/>
                <a:cs typeface="Tahoma"/>
              </a:rPr>
              <a:t>holidays</a:t>
            </a:r>
            <a:r>
              <a:rPr sz="1400" spc="-114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35" dirty="0">
                <a:solidFill>
                  <a:srgbClr val="2B404F"/>
                </a:solidFill>
                <a:latin typeface="Tahoma"/>
                <a:cs typeface="Tahoma"/>
              </a:rPr>
              <a:t>from</a:t>
            </a:r>
            <a:r>
              <a:rPr sz="1400" spc="-114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30" dirty="0">
                <a:solidFill>
                  <a:srgbClr val="2B404F"/>
                </a:solidFill>
                <a:latin typeface="Tahoma"/>
                <a:cs typeface="Tahoma"/>
              </a:rPr>
              <a:t>business</a:t>
            </a:r>
            <a:r>
              <a:rPr sz="1400" spc="-11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25" dirty="0">
                <a:solidFill>
                  <a:srgbClr val="2B404F"/>
                </a:solidFill>
                <a:latin typeface="Tahoma"/>
                <a:cs typeface="Tahoma"/>
              </a:rPr>
              <a:t>districts</a:t>
            </a:r>
            <a:r>
              <a:rPr sz="1400" spc="-114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20" dirty="0">
                <a:solidFill>
                  <a:srgbClr val="2B404F"/>
                </a:solidFill>
                <a:latin typeface="Tahoma"/>
                <a:cs typeface="Tahoma"/>
              </a:rPr>
              <a:t>to</a:t>
            </a:r>
            <a:r>
              <a:rPr sz="1400" spc="-114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2B404F"/>
                </a:solidFill>
                <a:latin typeface="Tahoma"/>
                <a:cs typeface="Tahoma"/>
              </a:rPr>
              <a:t>parks </a:t>
            </a:r>
            <a:r>
              <a:rPr sz="1400" spc="-30" dirty="0">
                <a:solidFill>
                  <a:srgbClr val="2B404F"/>
                </a:solidFill>
                <a:latin typeface="Tahoma"/>
                <a:cs typeface="Tahoma"/>
              </a:rPr>
              <a:t>and</a:t>
            </a:r>
            <a:r>
              <a:rPr sz="1400" spc="-12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30" dirty="0">
                <a:solidFill>
                  <a:srgbClr val="2B404F"/>
                </a:solidFill>
                <a:latin typeface="Tahoma"/>
                <a:cs typeface="Tahoma"/>
              </a:rPr>
              <a:t>leisure</a:t>
            </a:r>
            <a:r>
              <a:rPr sz="1400" spc="-12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50" dirty="0">
                <a:solidFill>
                  <a:srgbClr val="2B404F"/>
                </a:solidFill>
                <a:latin typeface="Tahoma"/>
                <a:cs typeface="Tahoma"/>
              </a:rPr>
              <a:t>areas</a:t>
            </a:r>
            <a:r>
              <a:rPr sz="1400" spc="-12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20" dirty="0">
                <a:solidFill>
                  <a:srgbClr val="2B404F"/>
                </a:solidFill>
                <a:latin typeface="Tahoma"/>
                <a:cs typeface="Tahoma"/>
              </a:rPr>
              <a:t>to</a:t>
            </a:r>
            <a:r>
              <a:rPr sz="1400" spc="-12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30" dirty="0">
                <a:solidFill>
                  <a:srgbClr val="2B404F"/>
                </a:solidFill>
                <a:latin typeface="Tahoma"/>
                <a:cs typeface="Tahoma"/>
              </a:rPr>
              <a:t>match</a:t>
            </a:r>
            <a:r>
              <a:rPr sz="1400" spc="-12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25" dirty="0">
                <a:solidFill>
                  <a:srgbClr val="2B404F"/>
                </a:solidFill>
                <a:latin typeface="Tahoma"/>
                <a:cs typeface="Tahoma"/>
              </a:rPr>
              <a:t>the</a:t>
            </a:r>
            <a:r>
              <a:rPr sz="1400" spc="-12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20" dirty="0">
                <a:solidFill>
                  <a:srgbClr val="2B404F"/>
                </a:solidFill>
                <a:latin typeface="Tahoma"/>
                <a:cs typeface="Tahoma"/>
              </a:rPr>
              <a:t>shift</a:t>
            </a:r>
            <a:r>
              <a:rPr sz="1400" spc="-12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35" dirty="0">
                <a:solidFill>
                  <a:srgbClr val="2B404F"/>
                </a:solidFill>
                <a:latin typeface="Tahoma"/>
                <a:cs typeface="Tahoma"/>
              </a:rPr>
              <a:t>from</a:t>
            </a:r>
            <a:r>
              <a:rPr sz="1400" spc="-12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35" dirty="0">
                <a:solidFill>
                  <a:srgbClr val="2B404F"/>
                </a:solidFill>
                <a:latin typeface="Tahoma"/>
                <a:cs typeface="Tahoma"/>
              </a:rPr>
              <a:t>commuter</a:t>
            </a:r>
            <a:r>
              <a:rPr sz="1400" spc="-12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20" dirty="0">
                <a:solidFill>
                  <a:srgbClr val="2B404F"/>
                </a:solidFill>
                <a:latin typeface="Tahoma"/>
                <a:cs typeface="Tahoma"/>
              </a:rPr>
              <a:t>to</a:t>
            </a:r>
            <a:r>
              <a:rPr sz="1400" spc="-125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2B404F"/>
                </a:solidFill>
                <a:latin typeface="Tahoma"/>
                <a:cs typeface="Tahoma"/>
              </a:rPr>
              <a:t>recreational </a:t>
            </a:r>
            <a:r>
              <a:rPr sz="1400" spc="-30" dirty="0">
                <a:solidFill>
                  <a:srgbClr val="2B404F"/>
                </a:solidFill>
                <a:latin typeface="Tahoma"/>
                <a:cs typeface="Tahoma"/>
              </a:rPr>
              <a:t>demand</a:t>
            </a:r>
            <a:r>
              <a:rPr sz="1400" spc="-120" dirty="0">
                <a:solidFill>
                  <a:srgbClr val="2B404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2B404F"/>
                </a:solidFill>
                <a:latin typeface="Tahoma"/>
                <a:cs typeface="Tahoma"/>
              </a:rPr>
              <a:t>patterns.</a:t>
            </a:r>
            <a:endParaRPr sz="14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1BC7A-6D7C-D67C-6B25-DF1BEBE35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8A3A13-41A1-6076-04FB-74323A43EF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9204A16A-7F81-3028-BA3E-1A94021BFB24}"/>
              </a:ext>
            </a:extLst>
          </p:cNvPr>
          <p:cNvSpPr/>
          <p:nvPr/>
        </p:nvSpPr>
        <p:spPr>
          <a:xfrm>
            <a:off x="27864" y="0"/>
            <a:ext cx="11374272" cy="9575006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FFCF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7A1652-4497-EEB9-2A24-D2BE2D9275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3829" y="152399"/>
            <a:ext cx="7260865" cy="939641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04FB28F-30FE-81C2-3F71-0601BBB72522}"/>
              </a:ext>
            </a:extLst>
          </p:cNvPr>
          <p:cNvSpPr txBox="1"/>
          <p:nvPr/>
        </p:nvSpPr>
        <p:spPr>
          <a:xfrm>
            <a:off x="871718" y="497056"/>
            <a:ext cx="1752600" cy="8402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ook Antiqua" panose="02040602050305030304" pitchFamily="18" charset="0"/>
              </a:rPr>
              <a:t>D</a:t>
            </a:r>
          </a:p>
          <a:p>
            <a:r>
              <a:rPr lang="en-US" sz="6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ook Antiqua" panose="02040602050305030304" pitchFamily="18" charset="0"/>
              </a:rPr>
              <a:t>A</a:t>
            </a:r>
          </a:p>
          <a:p>
            <a:r>
              <a:rPr lang="en-US" sz="6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ook Antiqua" panose="02040602050305030304" pitchFamily="18" charset="0"/>
              </a:rPr>
              <a:t>S</a:t>
            </a:r>
          </a:p>
          <a:p>
            <a:r>
              <a:rPr lang="en-US" sz="6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ook Antiqua" panose="02040602050305030304" pitchFamily="18" charset="0"/>
              </a:rPr>
              <a:t>H</a:t>
            </a:r>
          </a:p>
          <a:p>
            <a:r>
              <a:rPr lang="en-US" sz="6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ook Antiqua" panose="02040602050305030304" pitchFamily="18" charset="0"/>
              </a:rPr>
              <a:t>B</a:t>
            </a:r>
          </a:p>
          <a:p>
            <a:r>
              <a:rPr lang="en-US" sz="6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ook Antiqua" panose="02040602050305030304" pitchFamily="18" charset="0"/>
              </a:rPr>
              <a:t>O</a:t>
            </a:r>
          </a:p>
          <a:p>
            <a:r>
              <a:rPr lang="en-US" sz="6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ook Antiqua" panose="02040602050305030304" pitchFamily="18" charset="0"/>
              </a:rPr>
              <a:t>A</a:t>
            </a:r>
          </a:p>
          <a:p>
            <a:r>
              <a:rPr lang="en-US" sz="6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ook Antiqua" panose="02040602050305030304" pitchFamily="18" charset="0"/>
              </a:rPr>
              <a:t>R</a:t>
            </a:r>
          </a:p>
          <a:p>
            <a:r>
              <a:rPr lang="en-US" sz="6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ook Antiqua" panose="02040602050305030304" pitchFamily="18" charset="0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1095951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D00E9-D60D-AB50-CB46-0B029ECDD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8E4CFC-8F8A-B874-CBD9-22AEF48947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F3EDF786-2997-EC49-4F1D-259C358EFC0F}"/>
              </a:ext>
            </a:extLst>
          </p:cNvPr>
          <p:cNvSpPr/>
          <p:nvPr/>
        </p:nvSpPr>
        <p:spPr>
          <a:xfrm>
            <a:off x="27864" y="0"/>
            <a:ext cx="11374272" cy="9575006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FFC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81F068-6F6B-7A14-DB3A-A34137C398A4}"/>
              </a:ext>
            </a:extLst>
          </p:cNvPr>
          <p:cNvSpPr txBox="1"/>
          <p:nvPr/>
        </p:nvSpPr>
        <p:spPr>
          <a:xfrm>
            <a:off x="2514600" y="451812"/>
            <a:ext cx="6324600" cy="76944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CONCLUSION</a:t>
            </a:r>
            <a:endParaRPr lang="en-IN" sz="440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B53500-7581-42E0-F249-51C8E38486D4}"/>
              </a:ext>
            </a:extLst>
          </p:cNvPr>
          <p:cNvSpPr txBox="1"/>
          <p:nvPr/>
        </p:nvSpPr>
        <p:spPr>
          <a:xfrm>
            <a:off x="1371599" y="2266354"/>
            <a:ext cx="947102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2" indent="-457200" algn="l" rtl="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presented data provides a clear overview of performance metrics.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insights help identify strengths and improvement areas.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 representation enhances understanding and communication.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analysis supports informed, strategic decision-making.</a:t>
            </a:r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9966351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9A89D-7362-BCC5-A88B-2C3D274A5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A2542-3FE0-3B56-6FB6-2FD90E1718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FB85580A-8A95-EE0F-F8B5-914ACC7DBB07}"/>
              </a:ext>
            </a:extLst>
          </p:cNvPr>
          <p:cNvSpPr/>
          <p:nvPr/>
        </p:nvSpPr>
        <p:spPr>
          <a:xfrm>
            <a:off x="0" y="0"/>
            <a:ext cx="10944936" cy="8210153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FFCF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50" name="Picture 2" descr="Animated Thank You PowerPoint Template - SlideBazaar">
            <a:extLst>
              <a:ext uri="{FF2B5EF4-FFF2-40B4-BE49-F238E27FC236}">
                <a16:creationId xmlns:a16="http://schemas.microsoft.com/office/drawing/2014/main" id="{7BAA15E7-EE62-5C08-06AF-155BB0D324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6507"/>
            <a:ext cx="11430000" cy="791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45446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</TotalTime>
  <Words>768</Words>
  <Application>Microsoft Office PowerPoint</Application>
  <PresentationFormat>Custom</PresentationFormat>
  <Paragraphs>124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Book Antiqua</vt:lpstr>
      <vt:lpstr>Calibri</vt:lpstr>
      <vt:lpstr>Microsoft Sans Serif</vt:lpstr>
      <vt:lpstr>Tahoma</vt:lpstr>
      <vt:lpstr>Times New Roman</vt:lpstr>
      <vt:lpstr>Wingdings</vt:lpstr>
      <vt:lpstr>Office Theme</vt:lpstr>
      <vt:lpstr>Bike Sharing Demand Analysis</vt:lpstr>
      <vt:lpstr>Understanding Our Data</vt:lpstr>
      <vt:lpstr>Weekday Commuter Patterns</vt:lpstr>
      <vt:lpstr>Weekend Leisure Patterns</vt:lpstr>
      <vt:lpstr>Weather's Powerful Impact</vt:lpstr>
      <vt:lpstr>Temperature &amp; Environmental Factors</vt:lpstr>
      <vt:lpstr>User Segmentation Insights</vt:lpstr>
      <vt:lpstr>The Holiday Effect Monday, January 17, 2011</vt:lpstr>
      <vt:lpstr>Key Findings Summary</vt:lpstr>
      <vt:lpstr>Strategic Recommendations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Palvinder Singh</cp:lastModifiedBy>
  <cp:revision>4</cp:revision>
  <dcterms:created xsi:type="dcterms:W3CDTF">2026-01-20T12:19:24Z</dcterms:created>
  <dcterms:modified xsi:type="dcterms:W3CDTF">2026-01-20T13:38:08Z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2026-01-20T00:00:00Z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2026-01-20T00:00:00Z</vt:filetime>
  </property>
  <property fmtid="{D5CDD505-2E9C-101B-9397-08002B2CF9AE}" pid="5" name="Producer">
    <vt:lpwstr>3-Heights(TM) PDF Security Shell 4.8.25.2 (http://www.pdf-tools.com)</vt:lpwstr>
  </property>
</Properties>
</file>